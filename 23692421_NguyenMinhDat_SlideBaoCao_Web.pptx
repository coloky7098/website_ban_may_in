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rial Bold" charset="1" panose="020B0704020202020204"/>
      <p:regular r:id="rId24"/>
    </p:embeddedFont>
    <p:embeddedFont>
      <p:font typeface="Arial" charset="1" panose="020B060402020202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38" Target="notesSlides/notesSlide14.xml" Type="http://schemas.openxmlformats.org/officeDocument/2006/relationships/notesSlide"/><Relationship Id="rId39" Target="notesSlides/notesSlide15.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jpe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jpeg" Type="http://schemas.openxmlformats.org/officeDocument/2006/relationships/image"/><Relationship Id="rId4"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jpe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jpeg" Type="http://schemas.openxmlformats.org/officeDocument/2006/relationships/image"/><Relationship Id="rId4"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jpeg" Type="http://schemas.openxmlformats.org/officeDocument/2006/relationships/image"/><Relationship Id="rId4"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jpeg" Type="http://schemas.openxmlformats.org/officeDocument/2006/relationships/image"/><Relationship Id="rId4"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jpe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0" y="0"/>
            <a:ext cx="4389120" cy="10287000"/>
            <a:chOff x="0" y="0"/>
            <a:chExt cx="5852160" cy="13716000"/>
          </a:xfrm>
        </p:grpSpPr>
        <p:sp>
          <p:nvSpPr>
            <p:cNvPr name="Freeform 3" id="3" descr="/mnt/data/pptx_unzip/ppt/media/image-1-1.png"/>
            <p:cNvSpPr/>
            <p:nvPr/>
          </p:nvSpPr>
          <p:spPr>
            <a:xfrm flipH="false" flipV="false" rot="0">
              <a:off x="0" y="0"/>
              <a:ext cx="5852160" cy="13716000"/>
            </a:xfrm>
            <a:custGeom>
              <a:avLst/>
              <a:gdLst/>
              <a:ahLst/>
              <a:cxnLst/>
              <a:rect r="r" b="b" t="t" l="l"/>
              <a:pathLst>
                <a:path h="13716000" w="5852160">
                  <a:moveTo>
                    <a:pt x="0" y="0"/>
                  </a:moveTo>
                  <a:lnTo>
                    <a:pt x="5852160" y="0"/>
                  </a:lnTo>
                  <a:lnTo>
                    <a:pt x="5852160" y="13716000"/>
                  </a:lnTo>
                  <a:lnTo>
                    <a:pt x="0" y="13716000"/>
                  </a:lnTo>
                  <a:lnTo>
                    <a:pt x="0" y="0"/>
                  </a:lnTo>
                  <a:close/>
                </a:path>
              </a:pathLst>
            </a:custGeom>
            <a:blipFill>
              <a:blip r:embed="rId3"/>
              <a:stretch>
                <a:fillRect l="-28125" t="0" r="-28125" b="0"/>
              </a:stretch>
            </a:blipFill>
          </p:spPr>
        </p:sp>
      </p:grpSp>
      <p:grpSp>
        <p:nvGrpSpPr>
          <p:cNvPr name="Group 4" id="4"/>
          <p:cNvGrpSpPr/>
          <p:nvPr/>
        </p:nvGrpSpPr>
        <p:grpSpPr>
          <a:xfrm rot="0">
            <a:off x="1234440" y="3648456"/>
            <a:ext cx="1577340" cy="1783080"/>
            <a:chOff x="0" y="0"/>
            <a:chExt cx="2103120" cy="2377440"/>
          </a:xfrm>
        </p:grpSpPr>
        <p:sp>
          <p:nvSpPr>
            <p:cNvPr name="Freeform 5" id="5" descr="/mnt/data/pptx_unzip/ppt/media/image-1-2.png"/>
            <p:cNvSpPr/>
            <p:nvPr/>
          </p:nvSpPr>
          <p:spPr>
            <a:xfrm flipH="false" flipV="false" rot="0">
              <a:off x="0" y="0"/>
              <a:ext cx="2103120" cy="2377440"/>
            </a:xfrm>
            <a:custGeom>
              <a:avLst/>
              <a:gdLst/>
              <a:ahLst/>
              <a:cxnLst/>
              <a:rect r="r" b="b" t="t" l="l"/>
              <a:pathLst>
                <a:path h="2377440" w="2103120">
                  <a:moveTo>
                    <a:pt x="0" y="0"/>
                  </a:moveTo>
                  <a:lnTo>
                    <a:pt x="2103120" y="0"/>
                  </a:lnTo>
                  <a:lnTo>
                    <a:pt x="2103120" y="2377440"/>
                  </a:lnTo>
                  <a:lnTo>
                    <a:pt x="0" y="2377440"/>
                  </a:lnTo>
                  <a:lnTo>
                    <a:pt x="0" y="0"/>
                  </a:lnTo>
                  <a:close/>
                </a:path>
              </a:pathLst>
            </a:custGeom>
            <a:blipFill>
              <a:blip r:embed="rId4"/>
              <a:stretch>
                <a:fillRect l="-163" t="0" r="-163" b="0"/>
              </a:stretch>
            </a:blipFill>
          </p:spPr>
        </p:sp>
      </p:grpSp>
      <p:grpSp>
        <p:nvGrpSpPr>
          <p:cNvPr name="Group 6" id="6"/>
          <p:cNvGrpSpPr/>
          <p:nvPr/>
        </p:nvGrpSpPr>
        <p:grpSpPr>
          <a:xfrm rot="0">
            <a:off x="5486400" y="1440180"/>
            <a:ext cx="11795760" cy="1419671"/>
            <a:chOff x="0" y="0"/>
            <a:chExt cx="15727680" cy="1892895"/>
          </a:xfrm>
        </p:grpSpPr>
        <p:sp>
          <p:nvSpPr>
            <p:cNvPr name="Freeform 7" id="7"/>
            <p:cNvSpPr/>
            <p:nvPr/>
          </p:nvSpPr>
          <p:spPr>
            <a:xfrm flipH="false" flipV="false" rot="0">
              <a:off x="0" y="0"/>
              <a:ext cx="15727680" cy="1892895"/>
            </a:xfrm>
            <a:custGeom>
              <a:avLst/>
              <a:gdLst/>
              <a:ahLst/>
              <a:cxnLst/>
              <a:rect r="r" b="b" t="t" l="l"/>
              <a:pathLst>
                <a:path h="1892895" w="15727680">
                  <a:moveTo>
                    <a:pt x="0" y="0"/>
                  </a:moveTo>
                  <a:lnTo>
                    <a:pt x="15727680" y="0"/>
                  </a:lnTo>
                  <a:lnTo>
                    <a:pt x="15727680" y="1892895"/>
                  </a:lnTo>
                  <a:lnTo>
                    <a:pt x="0" y="1892895"/>
                  </a:lnTo>
                  <a:close/>
                </a:path>
              </a:pathLst>
            </a:custGeom>
            <a:blipFill>
              <a:blip r:embed="rId5">
                <a:alphaModFix amt="0"/>
              </a:blip>
              <a:stretch>
                <a:fillRect l="0" t="-147405" r="0" b="-76389"/>
              </a:stretch>
            </a:blipFill>
          </p:spPr>
        </p:sp>
        <p:sp>
          <p:nvSpPr>
            <p:cNvPr name="TextBox 8" id="8"/>
            <p:cNvSpPr txBox="true"/>
            <p:nvPr/>
          </p:nvSpPr>
          <p:spPr>
            <a:xfrm>
              <a:off x="0" y="-9525"/>
              <a:ext cx="15727680" cy="1902420"/>
            </a:xfrm>
            <a:prstGeom prst="rect">
              <a:avLst/>
            </a:prstGeom>
          </p:spPr>
          <p:txBody>
            <a:bodyPr anchor="ctr" rtlCol="false" tIns="0" lIns="0" bIns="0" rIns="0"/>
            <a:lstStyle/>
            <a:p>
              <a:pPr algn="l">
                <a:lnSpc>
                  <a:spcPts val="4799"/>
                </a:lnSpc>
              </a:pPr>
              <a:r>
                <a:rPr lang="en-US" sz="3999" b="true">
                  <a:solidFill>
                    <a:srgbClr val="1B5F39"/>
                  </a:solidFill>
                  <a:latin typeface="Arial Bold"/>
                  <a:ea typeface="Arial Bold"/>
                  <a:cs typeface="Arial Bold"/>
                  <a:sym typeface="Arial Bold"/>
                </a:rPr>
                <a:t>TRƯỜNG ĐẠI HỌC CÔNG NGHIỆP TP.HCM · KHOA CNTT</a:t>
              </a:r>
            </a:p>
          </p:txBody>
        </p:sp>
      </p:grpSp>
      <p:grpSp>
        <p:nvGrpSpPr>
          <p:cNvPr name="Group 9" id="9"/>
          <p:cNvGrpSpPr/>
          <p:nvPr/>
        </p:nvGrpSpPr>
        <p:grpSpPr>
          <a:xfrm rot="0">
            <a:off x="5486400" y="3638870"/>
            <a:ext cx="11795760" cy="1440180"/>
            <a:chOff x="0" y="0"/>
            <a:chExt cx="15727680" cy="1920240"/>
          </a:xfrm>
        </p:grpSpPr>
        <p:sp>
          <p:nvSpPr>
            <p:cNvPr name="Freeform 10" id="10"/>
            <p:cNvSpPr/>
            <p:nvPr/>
          </p:nvSpPr>
          <p:spPr>
            <a:xfrm flipH="false" flipV="false" rot="0">
              <a:off x="0" y="0"/>
              <a:ext cx="15727680" cy="1920240"/>
            </a:xfrm>
            <a:custGeom>
              <a:avLst/>
              <a:gdLst/>
              <a:ahLst/>
              <a:cxnLst/>
              <a:rect r="r" b="b" t="t" l="l"/>
              <a:pathLst>
                <a:path h="1920240" w="15727680">
                  <a:moveTo>
                    <a:pt x="0" y="0"/>
                  </a:moveTo>
                  <a:lnTo>
                    <a:pt x="15727680" y="0"/>
                  </a:lnTo>
                  <a:lnTo>
                    <a:pt x="15727680" y="1920240"/>
                  </a:lnTo>
                  <a:lnTo>
                    <a:pt x="0" y="1920240"/>
                  </a:lnTo>
                  <a:close/>
                </a:path>
              </a:pathLst>
            </a:custGeom>
            <a:blipFill>
              <a:blip r:embed="rId5">
                <a:alphaModFix amt="0"/>
              </a:blip>
              <a:stretch>
                <a:fillRect l="0" t="-109591" r="0" b="-109591"/>
              </a:stretch>
            </a:blipFill>
          </p:spPr>
        </p:sp>
        <p:sp>
          <p:nvSpPr>
            <p:cNvPr name="TextBox 11" id="11"/>
            <p:cNvSpPr txBox="true"/>
            <p:nvPr/>
          </p:nvSpPr>
          <p:spPr>
            <a:xfrm>
              <a:off x="0" y="-28575"/>
              <a:ext cx="15727680" cy="1948815"/>
            </a:xfrm>
            <a:prstGeom prst="rect">
              <a:avLst/>
            </a:prstGeom>
          </p:spPr>
          <p:txBody>
            <a:bodyPr anchor="ctr" rtlCol="false" tIns="0" lIns="0" bIns="0" rIns="0"/>
            <a:lstStyle/>
            <a:p>
              <a:pPr algn="l">
                <a:lnSpc>
                  <a:spcPts val="6120"/>
                </a:lnSpc>
              </a:pPr>
              <a:r>
                <a:rPr lang="en-US" sz="5100" b="true">
                  <a:solidFill>
                    <a:srgbClr val="243E36"/>
                  </a:solidFill>
                  <a:latin typeface="Arial Bold"/>
                  <a:ea typeface="Arial Bold"/>
                  <a:cs typeface="Arial Bold"/>
                  <a:sym typeface="Arial Bold"/>
                </a:rPr>
                <a:t>BÁO CÁO ĐỒ ÁN</a:t>
              </a:r>
            </a:p>
            <a:p>
              <a:pPr algn="l">
                <a:lnSpc>
                  <a:spcPts val="6120"/>
                </a:lnSpc>
              </a:pPr>
              <a:r>
                <a:rPr lang="en-US" sz="5100" b="true">
                  <a:solidFill>
                    <a:srgbClr val="243E36"/>
                  </a:solidFill>
                  <a:latin typeface="Arial Bold"/>
                  <a:ea typeface="Arial Bold"/>
                  <a:cs typeface="Arial Bold"/>
                  <a:sym typeface="Arial Bold"/>
                </a:rPr>
                <a:t>Hệ Thống và Công Nghệ Web</a:t>
              </a:r>
            </a:p>
          </p:txBody>
        </p:sp>
      </p:grpSp>
      <p:grpSp>
        <p:nvGrpSpPr>
          <p:cNvPr name="Group 12" id="12"/>
          <p:cNvGrpSpPr/>
          <p:nvPr/>
        </p:nvGrpSpPr>
        <p:grpSpPr>
          <a:xfrm rot="0">
            <a:off x="5486400" y="5858069"/>
            <a:ext cx="10972800" cy="480060"/>
            <a:chOff x="0" y="0"/>
            <a:chExt cx="14630400" cy="640080"/>
          </a:xfrm>
        </p:grpSpPr>
        <p:sp>
          <p:nvSpPr>
            <p:cNvPr name="Freeform 13" id="1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5">
                <a:alphaModFix amt="0"/>
              </a:blip>
              <a:stretch>
                <a:fillRect l="0" t="-395372" r="0" b="-395372"/>
              </a:stretch>
            </a:blipFill>
          </p:spPr>
        </p:sp>
        <p:sp>
          <p:nvSpPr>
            <p:cNvPr name="TextBox 14" id="14"/>
            <p:cNvSpPr txBox="true"/>
            <p:nvPr/>
          </p:nvSpPr>
          <p:spPr>
            <a:xfrm>
              <a:off x="0" y="-19050"/>
              <a:ext cx="14630400" cy="659130"/>
            </a:xfrm>
            <a:prstGeom prst="rect">
              <a:avLst/>
            </a:prstGeom>
          </p:spPr>
          <p:txBody>
            <a:bodyPr anchor="ctr" rtlCol="false" tIns="0" lIns="0" bIns="0" rIns="0"/>
            <a:lstStyle/>
            <a:p>
              <a:pPr algn="l">
                <a:lnSpc>
                  <a:spcPts val="3240"/>
                </a:lnSpc>
              </a:pPr>
              <a:r>
                <a:rPr lang="en-US" sz="2700">
                  <a:solidFill>
                    <a:srgbClr val="283A33"/>
                  </a:solidFill>
                  <a:latin typeface="Arial"/>
                  <a:ea typeface="Arial"/>
                  <a:cs typeface="Arial"/>
                  <a:sym typeface="Arial"/>
                </a:rPr>
                <a:t>Website bán máy in, máy scan · Vision-Print VN</a:t>
              </a:r>
            </a:p>
          </p:txBody>
        </p:sp>
      </p:grpSp>
      <p:grpSp>
        <p:nvGrpSpPr>
          <p:cNvPr name="Group 15" id="15"/>
          <p:cNvGrpSpPr/>
          <p:nvPr/>
        </p:nvGrpSpPr>
        <p:grpSpPr>
          <a:xfrm rot="0">
            <a:off x="5486400" y="7242048"/>
            <a:ext cx="10972800" cy="754380"/>
            <a:chOff x="0" y="0"/>
            <a:chExt cx="14630400" cy="1005840"/>
          </a:xfrm>
        </p:grpSpPr>
        <p:sp>
          <p:nvSpPr>
            <p:cNvPr name="Freeform 16" id="16"/>
            <p:cNvSpPr/>
            <p:nvPr/>
          </p:nvSpPr>
          <p:spPr>
            <a:xfrm flipH="false" flipV="false" rot="0">
              <a:off x="0" y="0"/>
              <a:ext cx="14630400" cy="1005840"/>
            </a:xfrm>
            <a:custGeom>
              <a:avLst/>
              <a:gdLst/>
              <a:ahLst/>
              <a:cxnLst/>
              <a:rect r="r" b="b" t="t" l="l"/>
              <a:pathLst>
                <a:path h="1005840" w="14630400">
                  <a:moveTo>
                    <a:pt x="0" y="0"/>
                  </a:moveTo>
                  <a:lnTo>
                    <a:pt x="14630400" y="0"/>
                  </a:lnTo>
                  <a:lnTo>
                    <a:pt x="14630400" y="1005840"/>
                  </a:lnTo>
                  <a:lnTo>
                    <a:pt x="0" y="1005840"/>
                  </a:lnTo>
                  <a:close/>
                </a:path>
              </a:pathLst>
            </a:custGeom>
            <a:blipFill>
              <a:blip r:embed="rId5">
                <a:alphaModFix amt="0"/>
              </a:blip>
              <a:stretch>
                <a:fillRect l="0" t="-233418" r="0" b="-233418"/>
              </a:stretch>
            </a:blipFill>
          </p:spPr>
        </p:sp>
        <p:sp>
          <p:nvSpPr>
            <p:cNvPr name="TextBox 17" id="17"/>
            <p:cNvSpPr txBox="true"/>
            <p:nvPr/>
          </p:nvSpPr>
          <p:spPr>
            <a:xfrm>
              <a:off x="0" y="-9525"/>
              <a:ext cx="14630400" cy="1015365"/>
            </a:xfrm>
            <a:prstGeom prst="rect">
              <a:avLst/>
            </a:prstGeom>
          </p:spPr>
          <p:txBody>
            <a:bodyPr anchor="ctr" rtlCol="false" tIns="0" lIns="0" bIns="0" rIns="0"/>
            <a:lstStyle/>
            <a:p>
              <a:pPr algn="l">
                <a:lnSpc>
                  <a:spcPts val="2430"/>
                </a:lnSpc>
              </a:pPr>
              <a:r>
                <a:rPr lang="en-US" sz="2025">
                  <a:solidFill>
                    <a:srgbClr val="66756D"/>
                  </a:solidFill>
                  <a:latin typeface="Arial"/>
                  <a:ea typeface="Arial"/>
                  <a:cs typeface="Arial"/>
                  <a:sym typeface="Arial"/>
                </a:rPr>
                <a:t>Nhóm thực hiện: Nguyễn Minh Đạt · MSSV: 23692421 · Lớp: DHKHMT19BTT</a:t>
              </a:r>
            </a:p>
            <a:p>
              <a:pPr algn="l">
                <a:lnSpc>
                  <a:spcPts val="2430"/>
                </a:lnSpc>
              </a:pPr>
              <a:r>
                <a:rPr lang="en-US" sz="2025">
                  <a:solidFill>
                    <a:srgbClr val="66756D"/>
                  </a:solidFill>
                  <a:latin typeface="Arial"/>
                  <a:ea typeface="Arial"/>
                  <a:cs typeface="Arial"/>
                  <a:sym typeface="Arial"/>
                </a:rPr>
                <a:t>TP.HCM, 31/03/2026</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31545" y="406024"/>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1. Giới thiệu chung</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Tổng quan đề tài</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02</a:t>
              </a:r>
            </a:p>
          </p:txBody>
        </p:sp>
      </p:grpSp>
      <p:grpSp>
        <p:nvGrpSpPr>
          <p:cNvPr name="Group 21" id="21"/>
          <p:cNvGrpSpPr/>
          <p:nvPr/>
        </p:nvGrpSpPr>
        <p:grpSpPr>
          <a:xfrm rot="0">
            <a:off x="1028700" y="2304288"/>
            <a:ext cx="5829300" cy="6583680"/>
            <a:chOff x="0" y="0"/>
            <a:chExt cx="7772400" cy="8778240"/>
          </a:xfrm>
        </p:grpSpPr>
        <p:sp>
          <p:nvSpPr>
            <p:cNvPr name="Freeform 22" id="22" descr="/mnt/data/pptx_unzip/ppt/media/image-2-1.png"/>
            <p:cNvSpPr/>
            <p:nvPr/>
          </p:nvSpPr>
          <p:spPr>
            <a:xfrm flipH="false" flipV="false" rot="0">
              <a:off x="0" y="0"/>
              <a:ext cx="7772400" cy="8778240"/>
            </a:xfrm>
            <a:custGeom>
              <a:avLst/>
              <a:gdLst/>
              <a:ahLst/>
              <a:cxnLst/>
              <a:rect r="r" b="b" t="t" l="l"/>
              <a:pathLst>
                <a:path h="8778240" w="7772400">
                  <a:moveTo>
                    <a:pt x="0" y="0"/>
                  </a:moveTo>
                  <a:lnTo>
                    <a:pt x="7772400" y="0"/>
                  </a:lnTo>
                  <a:lnTo>
                    <a:pt x="7772400" y="8778240"/>
                  </a:lnTo>
                  <a:lnTo>
                    <a:pt x="0" y="8778240"/>
                  </a:lnTo>
                  <a:lnTo>
                    <a:pt x="0" y="0"/>
                  </a:lnTo>
                  <a:close/>
                </a:path>
              </a:pathLst>
            </a:custGeom>
            <a:blipFill>
              <a:blip r:embed="rId4"/>
              <a:stretch>
                <a:fillRect l="-6572" t="0" r="-6573" b="0"/>
              </a:stretch>
            </a:blipFill>
          </p:spPr>
        </p:sp>
      </p:grpSp>
      <p:grpSp>
        <p:nvGrpSpPr>
          <p:cNvPr name="Group 23" id="23"/>
          <p:cNvGrpSpPr/>
          <p:nvPr/>
        </p:nvGrpSpPr>
        <p:grpSpPr>
          <a:xfrm rot="0">
            <a:off x="1019175" y="2294763"/>
            <a:ext cx="5848350" cy="6602730"/>
            <a:chOff x="0" y="0"/>
            <a:chExt cx="7797800" cy="8803640"/>
          </a:xfrm>
        </p:grpSpPr>
        <p:sp>
          <p:nvSpPr>
            <p:cNvPr name="Freeform 24" id="24"/>
            <p:cNvSpPr/>
            <p:nvPr/>
          </p:nvSpPr>
          <p:spPr>
            <a:xfrm flipH="false" flipV="false" rot="0">
              <a:off x="0" y="0"/>
              <a:ext cx="7797800" cy="8803640"/>
            </a:xfrm>
            <a:custGeom>
              <a:avLst/>
              <a:gdLst/>
              <a:ahLst/>
              <a:cxnLst/>
              <a:rect r="r" b="b" t="t" l="l"/>
              <a:pathLst>
                <a:path h="8803640" w="7797800">
                  <a:moveTo>
                    <a:pt x="12700" y="0"/>
                  </a:moveTo>
                  <a:lnTo>
                    <a:pt x="7785100" y="0"/>
                  </a:lnTo>
                  <a:cubicBezTo>
                    <a:pt x="7792085" y="0"/>
                    <a:pt x="7797800" y="5715"/>
                    <a:pt x="7797800" y="12700"/>
                  </a:cubicBezTo>
                  <a:lnTo>
                    <a:pt x="7797800" y="8790940"/>
                  </a:lnTo>
                  <a:cubicBezTo>
                    <a:pt x="7797800" y="8797925"/>
                    <a:pt x="7792085" y="8803640"/>
                    <a:pt x="7785100" y="8803640"/>
                  </a:cubicBezTo>
                  <a:lnTo>
                    <a:pt x="12700" y="8803640"/>
                  </a:lnTo>
                  <a:cubicBezTo>
                    <a:pt x="5715" y="8803640"/>
                    <a:pt x="0" y="8797925"/>
                    <a:pt x="0" y="8790940"/>
                  </a:cubicBezTo>
                  <a:lnTo>
                    <a:pt x="0" y="12700"/>
                  </a:lnTo>
                  <a:cubicBezTo>
                    <a:pt x="0" y="5715"/>
                    <a:pt x="5715" y="0"/>
                    <a:pt x="12700" y="0"/>
                  </a:cubicBezTo>
                  <a:moveTo>
                    <a:pt x="12700" y="25400"/>
                  </a:moveTo>
                  <a:lnTo>
                    <a:pt x="12700" y="12700"/>
                  </a:lnTo>
                  <a:lnTo>
                    <a:pt x="25400" y="12700"/>
                  </a:lnTo>
                  <a:lnTo>
                    <a:pt x="25400" y="8790940"/>
                  </a:lnTo>
                  <a:lnTo>
                    <a:pt x="12700" y="8790940"/>
                  </a:lnTo>
                  <a:lnTo>
                    <a:pt x="12700" y="8778240"/>
                  </a:lnTo>
                  <a:lnTo>
                    <a:pt x="7785100" y="8778240"/>
                  </a:lnTo>
                  <a:lnTo>
                    <a:pt x="7785100" y="8790940"/>
                  </a:lnTo>
                  <a:lnTo>
                    <a:pt x="7772400" y="8790940"/>
                  </a:lnTo>
                  <a:lnTo>
                    <a:pt x="7772400" y="12700"/>
                  </a:lnTo>
                  <a:lnTo>
                    <a:pt x="7785100" y="12700"/>
                  </a:lnTo>
                  <a:lnTo>
                    <a:pt x="7785100" y="25400"/>
                  </a:lnTo>
                  <a:lnTo>
                    <a:pt x="12700" y="25400"/>
                  </a:lnTo>
                  <a:close/>
                </a:path>
              </a:pathLst>
            </a:custGeom>
            <a:solidFill>
              <a:srgbClr val="DDE8E1"/>
            </a:solidFill>
          </p:spPr>
        </p:sp>
      </p:grpSp>
      <p:sp>
        <p:nvSpPr>
          <p:cNvPr name="TextBox 25" id="25"/>
          <p:cNvSpPr txBox="true"/>
          <p:nvPr/>
        </p:nvSpPr>
        <p:spPr>
          <a:xfrm rot="0">
            <a:off x="7465695" y="2285238"/>
            <a:ext cx="9257281" cy="1657350"/>
          </a:xfrm>
          <a:prstGeom prst="rect">
            <a:avLst/>
          </a:prstGeom>
        </p:spPr>
        <p:txBody>
          <a:bodyPr anchor="t" rtlCol="false" tIns="0" lIns="0" bIns="0" rIns="0">
            <a:spAutoFit/>
          </a:bodyPr>
          <a:lstStyle/>
          <a:p>
            <a:pPr algn="l">
              <a:lnSpc>
                <a:spcPts val="3240"/>
              </a:lnSpc>
            </a:pPr>
            <a:r>
              <a:rPr lang="en-US" sz="2700">
                <a:solidFill>
                  <a:srgbClr val="283A33"/>
                </a:solidFill>
                <a:latin typeface="Arial"/>
                <a:ea typeface="Arial"/>
                <a:cs typeface="Arial"/>
                <a:sym typeface="Arial"/>
              </a:rPr>
              <a:t>Nhóm lựa chọn đề tài website bán máy in, máy scan vì đây là dạng website thương mại điện tử có luồng nghiệp vụ rõ ràng: giới thiệu sản phẩm, xem chi tiết, thêm vào giỏ hàng và thanh toán.</a:t>
            </a:r>
          </a:p>
        </p:txBody>
      </p:sp>
      <p:grpSp>
        <p:nvGrpSpPr>
          <p:cNvPr name="Group 26" id="26"/>
          <p:cNvGrpSpPr/>
          <p:nvPr/>
        </p:nvGrpSpPr>
        <p:grpSpPr>
          <a:xfrm rot="0">
            <a:off x="7465695" y="4105275"/>
            <a:ext cx="4065270" cy="2007870"/>
            <a:chOff x="0" y="0"/>
            <a:chExt cx="5420360" cy="2677160"/>
          </a:xfrm>
        </p:grpSpPr>
        <p:sp>
          <p:nvSpPr>
            <p:cNvPr name="Freeform 27" id="27"/>
            <p:cNvSpPr/>
            <p:nvPr/>
          </p:nvSpPr>
          <p:spPr>
            <a:xfrm flipH="false" flipV="false" rot="0">
              <a:off x="12700" y="12700"/>
              <a:ext cx="5394960" cy="2651760"/>
            </a:xfrm>
            <a:custGeom>
              <a:avLst/>
              <a:gdLst/>
              <a:ahLst/>
              <a:cxnLst/>
              <a:rect r="r" b="b" t="t" l="l"/>
              <a:pathLst>
                <a:path h="2651760" w="5394960">
                  <a:moveTo>
                    <a:pt x="0" y="0"/>
                  </a:moveTo>
                  <a:lnTo>
                    <a:pt x="5394960" y="0"/>
                  </a:lnTo>
                  <a:lnTo>
                    <a:pt x="5394960" y="2651760"/>
                  </a:lnTo>
                  <a:lnTo>
                    <a:pt x="0" y="2651760"/>
                  </a:lnTo>
                  <a:close/>
                </a:path>
              </a:pathLst>
            </a:custGeom>
            <a:solidFill>
              <a:srgbClr val="FFFDF8"/>
            </a:solidFill>
          </p:spPr>
        </p:sp>
        <p:sp>
          <p:nvSpPr>
            <p:cNvPr name="Freeform 28" id="28"/>
            <p:cNvSpPr/>
            <p:nvPr/>
          </p:nvSpPr>
          <p:spPr>
            <a:xfrm flipH="false" flipV="false" rot="0">
              <a:off x="0" y="0"/>
              <a:ext cx="5420360" cy="2677160"/>
            </a:xfrm>
            <a:custGeom>
              <a:avLst/>
              <a:gdLst/>
              <a:ahLst/>
              <a:cxnLst/>
              <a:rect r="r" b="b" t="t" l="l"/>
              <a:pathLst>
                <a:path h="2677160" w="5420360">
                  <a:moveTo>
                    <a:pt x="12700" y="0"/>
                  </a:moveTo>
                  <a:lnTo>
                    <a:pt x="5407660" y="0"/>
                  </a:lnTo>
                  <a:cubicBezTo>
                    <a:pt x="5414645" y="0"/>
                    <a:pt x="5420360" y="5715"/>
                    <a:pt x="5420360" y="12700"/>
                  </a:cubicBezTo>
                  <a:lnTo>
                    <a:pt x="5420360" y="2664460"/>
                  </a:lnTo>
                  <a:cubicBezTo>
                    <a:pt x="5420360" y="2671445"/>
                    <a:pt x="5414645" y="2677160"/>
                    <a:pt x="5407660" y="2677160"/>
                  </a:cubicBezTo>
                  <a:lnTo>
                    <a:pt x="12700" y="2677160"/>
                  </a:lnTo>
                  <a:cubicBezTo>
                    <a:pt x="5715" y="2677160"/>
                    <a:pt x="0" y="2671445"/>
                    <a:pt x="0" y="2664460"/>
                  </a:cubicBezTo>
                  <a:lnTo>
                    <a:pt x="0" y="12700"/>
                  </a:lnTo>
                  <a:cubicBezTo>
                    <a:pt x="0" y="5715"/>
                    <a:pt x="5715" y="0"/>
                    <a:pt x="12700" y="0"/>
                  </a:cubicBezTo>
                  <a:moveTo>
                    <a:pt x="12700" y="25400"/>
                  </a:moveTo>
                  <a:lnTo>
                    <a:pt x="12700" y="12700"/>
                  </a:lnTo>
                  <a:lnTo>
                    <a:pt x="25400" y="12700"/>
                  </a:lnTo>
                  <a:lnTo>
                    <a:pt x="25400" y="2664460"/>
                  </a:lnTo>
                  <a:lnTo>
                    <a:pt x="12700" y="2664460"/>
                  </a:lnTo>
                  <a:lnTo>
                    <a:pt x="12700" y="2651760"/>
                  </a:lnTo>
                  <a:lnTo>
                    <a:pt x="5407660" y="2651760"/>
                  </a:lnTo>
                  <a:lnTo>
                    <a:pt x="5407660" y="2664460"/>
                  </a:lnTo>
                  <a:lnTo>
                    <a:pt x="5394960" y="2664460"/>
                  </a:lnTo>
                  <a:lnTo>
                    <a:pt x="5394960" y="12700"/>
                  </a:lnTo>
                  <a:lnTo>
                    <a:pt x="5407660" y="12700"/>
                  </a:lnTo>
                  <a:lnTo>
                    <a:pt x="5407660" y="25400"/>
                  </a:lnTo>
                  <a:lnTo>
                    <a:pt x="12700" y="25400"/>
                  </a:lnTo>
                  <a:close/>
                </a:path>
              </a:pathLst>
            </a:custGeom>
            <a:solidFill>
              <a:srgbClr val="DDE8E1"/>
            </a:solidFill>
          </p:spPr>
        </p:sp>
        <p:sp>
          <p:nvSpPr>
            <p:cNvPr name="TextBox 29" id="29"/>
            <p:cNvSpPr txBox="true"/>
            <p:nvPr/>
          </p:nvSpPr>
          <p:spPr>
            <a:xfrm>
              <a:off x="0" y="-9525"/>
              <a:ext cx="5420360" cy="268668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Đối tượng sử dụng</a:t>
              </a:r>
            </a:p>
            <a:p>
              <a:pPr algn="l">
                <a:lnSpc>
                  <a:spcPts val="2250"/>
                </a:lnSpc>
              </a:pPr>
              <a:r>
                <a:rPr lang="en-US" sz="1875">
                  <a:solidFill>
                    <a:srgbClr val="283A33"/>
                  </a:solidFill>
                  <a:latin typeface="Arial"/>
                  <a:ea typeface="Arial"/>
                  <a:cs typeface="Arial"/>
                  <a:sym typeface="Arial"/>
                </a:rPr>
                <a:t>Khách hàng cá nhân, văn phòng nhỏ và doanh nghiệp cần thiết bị in ấn / scan / photocopy.</a:t>
              </a:r>
            </a:p>
          </p:txBody>
        </p:sp>
      </p:grpSp>
      <p:grpSp>
        <p:nvGrpSpPr>
          <p:cNvPr name="Group 30" id="30"/>
          <p:cNvGrpSpPr/>
          <p:nvPr/>
        </p:nvGrpSpPr>
        <p:grpSpPr>
          <a:xfrm rot="0">
            <a:off x="11991975" y="4105275"/>
            <a:ext cx="4133850" cy="2007870"/>
            <a:chOff x="0" y="0"/>
            <a:chExt cx="5511800" cy="2677160"/>
          </a:xfrm>
        </p:grpSpPr>
        <p:sp>
          <p:nvSpPr>
            <p:cNvPr name="Freeform 31" id="31"/>
            <p:cNvSpPr/>
            <p:nvPr/>
          </p:nvSpPr>
          <p:spPr>
            <a:xfrm flipH="false" flipV="false" rot="0">
              <a:off x="12700" y="12700"/>
              <a:ext cx="5486400" cy="2651760"/>
            </a:xfrm>
            <a:custGeom>
              <a:avLst/>
              <a:gdLst/>
              <a:ahLst/>
              <a:cxnLst/>
              <a:rect r="r" b="b" t="t" l="l"/>
              <a:pathLst>
                <a:path h="2651760" w="5486400">
                  <a:moveTo>
                    <a:pt x="0" y="0"/>
                  </a:moveTo>
                  <a:lnTo>
                    <a:pt x="5486400" y="0"/>
                  </a:lnTo>
                  <a:lnTo>
                    <a:pt x="5486400" y="2651760"/>
                  </a:lnTo>
                  <a:lnTo>
                    <a:pt x="0" y="2651760"/>
                  </a:lnTo>
                  <a:close/>
                </a:path>
              </a:pathLst>
            </a:custGeom>
            <a:solidFill>
              <a:srgbClr val="FFFDF8"/>
            </a:solidFill>
          </p:spPr>
        </p:sp>
        <p:sp>
          <p:nvSpPr>
            <p:cNvPr name="Freeform 32" id="32"/>
            <p:cNvSpPr/>
            <p:nvPr/>
          </p:nvSpPr>
          <p:spPr>
            <a:xfrm flipH="false" flipV="false" rot="0">
              <a:off x="0" y="0"/>
              <a:ext cx="5511800" cy="2677160"/>
            </a:xfrm>
            <a:custGeom>
              <a:avLst/>
              <a:gdLst/>
              <a:ahLst/>
              <a:cxnLst/>
              <a:rect r="r" b="b" t="t" l="l"/>
              <a:pathLst>
                <a:path h="2677160" w="5511800">
                  <a:moveTo>
                    <a:pt x="12700" y="0"/>
                  </a:moveTo>
                  <a:lnTo>
                    <a:pt x="5499100" y="0"/>
                  </a:lnTo>
                  <a:cubicBezTo>
                    <a:pt x="5506085" y="0"/>
                    <a:pt x="5511800" y="5715"/>
                    <a:pt x="5511800" y="12700"/>
                  </a:cubicBezTo>
                  <a:lnTo>
                    <a:pt x="5511800" y="2664460"/>
                  </a:lnTo>
                  <a:cubicBezTo>
                    <a:pt x="5511800" y="2671445"/>
                    <a:pt x="5506085" y="2677160"/>
                    <a:pt x="5499100" y="2677160"/>
                  </a:cubicBezTo>
                  <a:lnTo>
                    <a:pt x="12700" y="2677160"/>
                  </a:lnTo>
                  <a:cubicBezTo>
                    <a:pt x="5715" y="2677160"/>
                    <a:pt x="0" y="2671445"/>
                    <a:pt x="0" y="2664460"/>
                  </a:cubicBezTo>
                  <a:lnTo>
                    <a:pt x="0" y="12700"/>
                  </a:lnTo>
                  <a:cubicBezTo>
                    <a:pt x="0" y="5715"/>
                    <a:pt x="5715" y="0"/>
                    <a:pt x="12700" y="0"/>
                  </a:cubicBezTo>
                  <a:moveTo>
                    <a:pt x="12700" y="25400"/>
                  </a:moveTo>
                  <a:lnTo>
                    <a:pt x="12700" y="12700"/>
                  </a:lnTo>
                  <a:lnTo>
                    <a:pt x="25400" y="12700"/>
                  </a:lnTo>
                  <a:lnTo>
                    <a:pt x="25400" y="2664460"/>
                  </a:lnTo>
                  <a:lnTo>
                    <a:pt x="12700" y="2664460"/>
                  </a:lnTo>
                  <a:lnTo>
                    <a:pt x="12700" y="2651760"/>
                  </a:lnTo>
                  <a:lnTo>
                    <a:pt x="5499100" y="2651760"/>
                  </a:lnTo>
                  <a:lnTo>
                    <a:pt x="5499100" y="2664460"/>
                  </a:lnTo>
                  <a:lnTo>
                    <a:pt x="5486400" y="2664460"/>
                  </a:lnTo>
                  <a:lnTo>
                    <a:pt x="5486400" y="12700"/>
                  </a:lnTo>
                  <a:lnTo>
                    <a:pt x="5499100" y="12700"/>
                  </a:lnTo>
                  <a:lnTo>
                    <a:pt x="5499100" y="25400"/>
                  </a:lnTo>
                  <a:lnTo>
                    <a:pt x="12700" y="25400"/>
                  </a:lnTo>
                  <a:close/>
                </a:path>
              </a:pathLst>
            </a:custGeom>
            <a:solidFill>
              <a:srgbClr val="DDE8E1"/>
            </a:solidFill>
          </p:spPr>
        </p:sp>
        <p:sp>
          <p:nvSpPr>
            <p:cNvPr name="TextBox 33" id="33"/>
            <p:cNvSpPr txBox="true"/>
            <p:nvPr/>
          </p:nvSpPr>
          <p:spPr>
            <a:xfrm>
              <a:off x="0" y="-9525"/>
              <a:ext cx="5511800" cy="268668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Tính chất môn học</a:t>
              </a:r>
            </a:p>
            <a:p>
              <a:pPr algn="l">
                <a:lnSpc>
                  <a:spcPts val="2250"/>
                </a:lnSpc>
              </a:pPr>
              <a:r>
                <a:rPr lang="en-US" sz="1875">
                  <a:solidFill>
                    <a:srgbClr val="283A33"/>
                  </a:solidFill>
                  <a:latin typeface="Arial"/>
                  <a:ea typeface="Arial"/>
                  <a:cs typeface="Arial"/>
                  <a:sym typeface="Arial"/>
                </a:rPr>
                <a:t>Tập trung vào front-end, bố cục giao diện, luồng trang và trải nghiệm người dùng.</a:t>
              </a:r>
            </a:p>
          </p:txBody>
        </p:sp>
      </p:grpSp>
      <p:grpSp>
        <p:nvGrpSpPr>
          <p:cNvPr name="Group 34" id="34"/>
          <p:cNvGrpSpPr/>
          <p:nvPr/>
        </p:nvGrpSpPr>
        <p:grpSpPr>
          <a:xfrm rot="0">
            <a:off x="7465695" y="6505575"/>
            <a:ext cx="8660130" cy="1870710"/>
            <a:chOff x="0" y="0"/>
            <a:chExt cx="11546840" cy="2494280"/>
          </a:xfrm>
        </p:grpSpPr>
        <p:sp>
          <p:nvSpPr>
            <p:cNvPr name="Freeform 35" id="35"/>
            <p:cNvSpPr/>
            <p:nvPr/>
          </p:nvSpPr>
          <p:spPr>
            <a:xfrm flipH="false" flipV="false" rot="0">
              <a:off x="12700" y="12700"/>
              <a:ext cx="11521440" cy="2468880"/>
            </a:xfrm>
            <a:custGeom>
              <a:avLst/>
              <a:gdLst/>
              <a:ahLst/>
              <a:cxnLst/>
              <a:rect r="r" b="b" t="t" l="l"/>
              <a:pathLst>
                <a:path h="2468880" w="11521440">
                  <a:moveTo>
                    <a:pt x="0" y="0"/>
                  </a:moveTo>
                  <a:lnTo>
                    <a:pt x="11521440" y="0"/>
                  </a:lnTo>
                  <a:lnTo>
                    <a:pt x="11521440" y="2468880"/>
                  </a:lnTo>
                  <a:lnTo>
                    <a:pt x="0" y="2468880"/>
                  </a:lnTo>
                  <a:close/>
                </a:path>
              </a:pathLst>
            </a:custGeom>
            <a:solidFill>
              <a:srgbClr val="FFFDF8"/>
            </a:solidFill>
          </p:spPr>
        </p:sp>
        <p:sp>
          <p:nvSpPr>
            <p:cNvPr name="Freeform 36" id="36"/>
            <p:cNvSpPr/>
            <p:nvPr/>
          </p:nvSpPr>
          <p:spPr>
            <a:xfrm flipH="false" flipV="false" rot="0">
              <a:off x="0" y="0"/>
              <a:ext cx="11546840" cy="2494280"/>
            </a:xfrm>
            <a:custGeom>
              <a:avLst/>
              <a:gdLst/>
              <a:ahLst/>
              <a:cxnLst/>
              <a:rect r="r" b="b" t="t" l="l"/>
              <a:pathLst>
                <a:path h="2494280" w="11546840">
                  <a:moveTo>
                    <a:pt x="12700" y="0"/>
                  </a:moveTo>
                  <a:lnTo>
                    <a:pt x="11534140" y="0"/>
                  </a:lnTo>
                  <a:cubicBezTo>
                    <a:pt x="11541125" y="0"/>
                    <a:pt x="11546840" y="5715"/>
                    <a:pt x="11546840" y="12700"/>
                  </a:cubicBezTo>
                  <a:lnTo>
                    <a:pt x="11546840" y="2481580"/>
                  </a:lnTo>
                  <a:cubicBezTo>
                    <a:pt x="11546840" y="2488565"/>
                    <a:pt x="11541125" y="2494280"/>
                    <a:pt x="11534140" y="2494280"/>
                  </a:cubicBezTo>
                  <a:lnTo>
                    <a:pt x="12700" y="2494280"/>
                  </a:lnTo>
                  <a:cubicBezTo>
                    <a:pt x="5715" y="2494280"/>
                    <a:pt x="0" y="2488565"/>
                    <a:pt x="0" y="2481580"/>
                  </a:cubicBezTo>
                  <a:lnTo>
                    <a:pt x="0" y="12700"/>
                  </a:lnTo>
                  <a:cubicBezTo>
                    <a:pt x="0" y="5715"/>
                    <a:pt x="5715" y="0"/>
                    <a:pt x="12700" y="0"/>
                  </a:cubicBezTo>
                  <a:moveTo>
                    <a:pt x="12700" y="25400"/>
                  </a:moveTo>
                  <a:lnTo>
                    <a:pt x="12700" y="12700"/>
                  </a:lnTo>
                  <a:lnTo>
                    <a:pt x="25400" y="12700"/>
                  </a:lnTo>
                  <a:lnTo>
                    <a:pt x="25400" y="2481580"/>
                  </a:lnTo>
                  <a:lnTo>
                    <a:pt x="12700" y="2481580"/>
                  </a:lnTo>
                  <a:lnTo>
                    <a:pt x="12700" y="2468880"/>
                  </a:lnTo>
                  <a:lnTo>
                    <a:pt x="11534140" y="2468880"/>
                  </a:lnTo>
                  <a:lnTo>
                    <a:pt x="11534140" y="2481580"/>
                  </a:lnTo>
                  <a:lnTo>
                    <a:pt x="11521440" y="2481580"/>
                  </a:lnTo>
                  <a:lnTo>
                    <a:pt x="11521440" y="12700"/>
                  </a:lnTo>
                  <a:lnTo>
                    <a:pt x="11534140" y="12700"/>
                  </a:lnTo>
                  <a:lnTo>
                    <a:pt x="11534140" y="25400"/>
                  </a:lnTo>
                  <a:lnTo>
                    <a:pt x="12700" y="25400"/>
                  </a:lnTo>
                  <a:close/>
                </a:path>
              </a:pathLst>
            </a:custGeom>
            <a:solidFill>
              <a:srgbClr val="DDE8E1"/>
            </a:solidFill>
          </p:spPr>
        </p:sp>
        <p:sp>
          <p:nvSpPr>
            <p:cNvPr name="TextBox 37" id="37"/>
            <p:cNvSpPr txBox="true"/>
            <p:nvPr/>
          </p:nvSpPr>
          <p:spPr>
            <a:xfrm>
              <a:off x="0" y="-9525"/>
              <a:ext cx="11546840" cy="250380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Sản phẩm đầu ra</a:t>
              </a:r>
            </a:p>
            <a:p>
              <a:pPr algn="l">
                <a:lnSpc>
                  <a:spcPts val="2250"/>
                </a:lnSpc>
              </a:pPr>
              <a:r>
                <a:rPr lang="en-US" sz="1875">
                  <a:solidFill>
                    <a:srgbClr val="283A33"/>
                  </a:solidFill>
                  <a:latin typeface="Arial"/>
                  <a:ea typeface="Arial"/>
                  <a:cs typeface="Arial"/>
                  <a:sym typeface="Arial"/>
                </a:rPr>
                <a:t>Một website mô phỏng có các trang chính: trang chủ, sản phẩm, chi tiết, giỏ hàng, thanh toán, đăng nhập và cho thuê.</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1. Giới thiệu chung</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Mục tiêu và phạm vi thực hiện</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03</a:t>
              </a:r>
            </a:p>
          </p:txBody>
        </p:sp>
      </p:grpSp>
      <p:grpSp>
        <p:nvGrpSpPr>
          <p:cNvPr name="Group 21" id="21"/>
          <p:cNvGrpSpPr/>
          <p:nvPr/>
        </p:nvGrpSpPr>
        <p:grpSpPr>
          <a:xfrm rot="0">
            <a:off x="1019175" y="2431923"/>
            <a:ext cx="5025390" cy="2830830"/>
            <a:chOff x="0" y="0"/>
            <a:chExt cx="6700520" cy="3774440"/>
          </a:xfrm>
        </p:grpSpPr>
        <p:sp>
          <p:nvSpPr>
            <p:cNvPr name="Freeform 22" id="22"/>
            <p:cNvSpPr/>
            <p:nvPr/>
          </p:nvSpPr>
          <p:spPr>
            <a:xfrm flipH="false" flipV="false" rot="0">
              <a:off x="12700" y="12700"/>
              <a:ext cx="6675120" cy="3749040"/>
            </a:xfrm>
            <a:custGeom>
              <a:avLst/>
              <a:gdLst/>
              <a:ahLst/>
              <a:cxnLst/>
              <a:rect r="r" b="b" t="t" l="l"/>
              <a:pathLst>
                <a:path h="3749040" w="6675120">
                  <a:moveTo>
                    <a:pt x="0" y="0"/>
                  </a:moveTo>
                  <a:lnTo>
                    <a:pt x="6675120" y="0"/>
                  </a:lnTo>
                  <a:lnTo>
                    <a:pt x="6675120" y="3749040"/>
                  </a:lnTo>
                  <a:lnTo>
                    <a:pt x="0" y="3749040"/>
                  </a:lnTo>
                  <a:close/>
                </a:path>
              </a:pathLst>
            </a:custGeom>
            <a:solidFill>
              <a:srgbClr val="FFFDF8"/>
            </a:solidFill>
          </p:spPr>
        </p:sp>
        <p:sp>
          <p:nvSpPr>
            <p:cNvPr name="Freeform 23" id="23"/>
            <p:cNvSpPr/>
            <p:nvPr/>
          </p:nvSpPr>
          <p:spPr>
            <a:xfrm flipH="false" flipV="false" rot="0">
              <a:off x="0" y="0"/>
              <a:ext cx="6700520" cy="3774440"/>
            </a:xfrm>
            <a:custGeom>
              <a:avLst/>
              <a:gdLst/>
              <a:ahLst/>
              <a:cxnLst/>
              <a:rect r="r" b="b" t="t" l="l"/>
              <a:pathLst>
                <a:path h="3774440" w="6700520">
                  <a:moveTo>
                    <a:pt x="12700" y="0"/>
                  </a:moveTo>
                  <a:lnTo>
                    <a:pt x="6687820" y="0"/>
                  </a:lnTo>
                  <a:cubicBezTo>
                    <a:pt x="6694805" y="0"/>
                    <a:pt x="6700520" y="5715"/>
                    <a:pt x="6700520" y="12700"/>
                  </a:cubicBezTo>
                  <a:lnTo>
                    <a:pt x="6700520" y="3761740"/>
                  </a:lnTo>
                  <a:cubicBezTo>
                    <a:pt x="6700520" y="3768725"/>
                    <a:pt x="6694805" y="3774440"/>
                    <a:pt x="6687820" y="3774440"/>
                  </a:cubicBezTo>
                  <a:lnTo>
                    <a:pt x="12700" y="3774440"/>
                  </a:lnTo>
                  <a:cubicBezTo>
                    <a:pt x="5715" y="3774440"/>
                    <a:pt x="0" y="3768725"/>
                    <a:pt x="0" y="3761740"/>
                  </a:cubicBezTo>
                  <a:lnTo>
                    <a:pt x="0" y="12700"/>
                  </a:lnTo>
                  <a:cubicBezTo>
                    <a:pt x="0" y="5715"/>
                    <a:pt x="5715" y="0"/>
                    <a:pt x="12700" y="0"/>
                  </a:cubicBezTo>
                  <a:moveTo>
                    <a:pt x="12700" y="25400"/>
                  </a:moveTo>
                  <a:lnTo>
                    <a:pt x="12700" y="12700"/>
                  </a:lnTo>
                  <a:lnTo>
                    <a:pt x="25400" y="12700"/>
                  </a:lnTo>
                  <a:lnTo>
                    <a:pt x="25400" y="3761740"/>
                  </a:lnTo>
                  <a:lnTo>
                    <a:pt x="12700" y="3761740"/>
                  </a:lnTo>
                  <a:lnTo>
                    <a:pt x="12700" y="3749040"/>
                  </a:lnTo>
                  <a:lnTo>
                    <a:pt x="6687820" y="3749040"/>
                  </a:lnTo>
                  <a:lnTo>
                    <a:pt x="6687820" y="3761740"/>
                  </a:lnTo>
                  <a:lnTo>
                    <a:pt x="6675120" y="3761740"/>
                  </a:lnTo>
                  <a:lnTo>
                    <a:pt x="6675120" y="12700"/>
                  </a:lnTo>
                  <a:lnTo>
                    <a:pt x="6687820" y="12700"/>
                  </a:lnTo>
                  <a:lnTo>
                    <a:pt x="6687820" y="25400"/>
                  </a:lnTo>
                  <a:lnTo>
                    <a:pt x="12700" y="25400"/>
                  </a:lnTo>
                  <a:close/>
                </a:path>
              </a:pathLst>
            </a:custGeom>
            <a:solidFill>
              <a:srgbClr val="DDE8E1"/>
            </a:solidFill>
          </p:spPr>
        </p:sp>
        <p:sp>
          <p:nvSpPr>
            <p:cNvPr name="TextBox 24" id="24"/>
            <p:cNvSpPr txBox="true"/>
            <p:nvPr/>
          </p:nvSpPr>
          <p:spPr>
            <a:xfrm>
              <a:off x="0" y="-9525"/>
              <a:ext cx="6700520" cy="378396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Mục tiêu 1</a:t>
              </a:r>
            </a:p>
            <a:p>
              <a:pPr algn="l">
                <a:lnSpc>
                  <a:spcPts val="2879"/>
                </a:lnSpc>
              </a:pPr>
              <a:r>
                <a:rPr lang="en-US" sz="2400" b="true">
                  <a:solidFill>
                    <a:srgbClr val="1B5F39"/>
                  </a:solidFill>
                  <a:latin typeface="Arial Bold"/>
                  <a:ea typeface="Arial Bold"/>
                  <a:cs typeface="Arial Bold"/>
                  <a:sym typeface="Arial Bold"/>
                </a:rPr>
                <a:t>Trình bày sản phẩm rõ ràng</a:t>
              </a:r>
            </a:p>
            <a:p>
              <a:pPr algn="l">
                <a:lnSpc>
                  <a:spcPts val="2376"/>
                </a:lnSpc>
              </a:pPr>
              <a:r>
                <a:rPr lang="en-US" sz="1980">
                  <a:solidFill>
                    <a:srgbClr val="283A33"/>
                  </a:solidFill>
                  <a:latin typeface="Arial"/>
                  <a:ea typeface="Arial"/>
                  <a:cs typeface="Arial"/>
                  <a:sym typeface="Arial"/>
                </a:rPr>
                <a:t>Thiết kế giao diện để người dùng dễ xem danh mục, giá, thông số và trạng thái sản phẩm.</a:t>
              </a:r>
            </a:p>
          </p:txBody>
        </p:sp>
      </p:grpSp>
      <p:grpSp>
        <p:nvGrpSpPr>
          <p:cNvPr name="Group 25" id="25"/>
          <p:cNvGrpSpPr/>
          <p:nvPr/>
        </p:nvGrpSpPr>
        <p:grpSpPr>
          <a:xfrm rot="0">
            <a:off x="6642735" y="2431923"/>
            <a:ext cx="5025390" cy="2830830"/>
            <a:chOff x="0" y="0"/>
            <a:chExt cx="6700520" cy="3774440"/>
          </a:xfrm>
        </p:grpSpPr>
        <p:sp>
          <p:nvSpPr>
            <p:cNvPr name="Freeform 26" id="26"/>
            <p:cNvSpPr/>
            <p:nvPr/>
          </p:nvSpPr>
          <p:spPr>
            <a:xfrm flipH="false" flipV="false" rot="0">
              <a:off x="12700" y="12700"/>
              <a:ext cx="6675120" cy="3749040"/>
            </a:xfrm>
            <a:custGeom>
              <a:avLst/>
              <a:gdLst/>
              <a:ahLst/>
              <a:cxnLst/>
              <a:rect r="r" b="b" t="t" l="l"/>
              <a:pathLst>
                <a:path h="3749040" w="6675120">
                  <a:moveTo>
                    <a:pt x="0" y="0"/>
                  </a:moveTo>
                  <a:lnTo>
                    <a:pt x="6675120" y="0"/>
                  </a:lnTo>
                  <a:lnTo>
                    <a:pt x="6675120" y="3749040"/>
                  </a:lnTo>
                  <a:lnTo>
                    <a:pt x="0" y="3749040"/>
                  </a:lnTo>
                  <a:close/>
                </a:path>
              </a:pathLst>
            </a:custGeom>
            <a:solidFill>
              <a:srgbClr val="FFFDF8"/>
            </a:solidFill>
          </p:spPr>
        </p:sp>
        <p:sp>
          <p:nvSpPr>
            <p:cNvPr name="Freeform 27" id="27"/>
            <p:cNvSpPr/>
            <p:nvPr/>
          </p:nvSpPr>
          <p:spPr>
            <a:xfrm flipH="false" flipV="false" rot="0">
              <a:off x="0" y="0"/>
              <a:ext cx="6700520" cy="3774440"/>
            </a:xfrm>
            <a:custGeom>
              <a:avLst/>
              <a:gdLst/>
              <a:ahLst/>
              <a:cxnLst/>
              <a:rect r="r" b="b" t="t" l="l"/>
              <a:pathLst>
                <a:path h="3774440" w="6700520">
                  <a:moveTo>
                    <a:pt x="12700" y="0"/>
                  </a:moveTo>
                  <a:lnTo>
                    <a:pt x="6687820" y="0"/>
                  </a:lnTo>
                  <a:cubicBezTo>
                    <a:pt x="6694805" y="0"/>
                    <a:pt x="6700520" y="5715"/>
                    <a:pt x="6700520" y="12700"/>
                  </a:cubicBezTo>
                  <a:lnTo>
                    <a:pt x="6700520" y="3761740"/>
                  </a:lnTo>
                  <a:cubicBezTo>
                    <a:pt x="6700520" y="3768725"/>
                    <a:pt x="6694805" y="3774440"/>
                    <a:pt x="6687820" y="3774440"/>
                  </a:cubicBezTo>
                  <a:lnTo>
                    <a:pt x="12700" y="3774440"/>
                  </a:lnTo>
                  <a:cubicBezTo>
                    <a:pt x="5715" y="3774440"/>
                    <a:pt x="0" y="3768725"/>
                    <a:pt x="0" y="3761740"/>
                  </a:cubicBezTo>
                  <a:lnTo>
                    <a:pt x="0" y="12700"/>
                  </a:lnTo>
                  <a:cubicBezTo>
                    <a:pt x="0" y="5715"/>
                    <a:pt x="5715" y="0"/>
                    <a:pt x="12700" y="0"/>
                  </a:cubicBezTo>
                  <a:moveTo>
                    <a:pt x="12700" y="25400"/>
                  </a:moveTo>
                  <a:lnTo>
                    <a:pt x="12700" y="12700"/>
                  </a:lnTo>
                  <a:lnTo>
                    <a:pt x="25400" y="12700"/>
                  </a:lnTo>
                  <a:lnTo>
                    <a:pt x="25400" y="3761740"/>
                  </a:lnTo>
                  <a:lnTo>
                    <a:pt x="12700" y="3761740"/>
                  </a:lnTo>
                  <a:lnTo>
                    <a:pt x="12700" y="3749040"/>
                  </a:lnTo>
                  <a:lnTo>
                    <a:pt x="6687820" y="3749040"/>
                  </a:lnTo>
                  <a:lnTo>
                    <a:pt x="6687820" y="3761740"/>
                  </a:lnTo>
                  <a:lnTo>
                    <a:pt x="6675120" y="3761740"/>
                  </a:lnTo>
                  <a:lnTo>
                    <a:pt x="6675120" y="12700"/>
                  </a:lnTo>
                  <a:lnTo>
                    <a:pt x="6687820" y="12700"/>
                  </a:lnTo>
                  <a:lnTo>
                    <a:pt x="6687820" y="25400"/>
                  </a:lnTo>
                  <a:lnTo>
                    <a:pt x="12700" y="25400"/>
                  </a:lnTo>
                  <a:close/>
                </a:path>
              </a:pathLst>
            </a:custGeom>
            <a:solidFill>
              <a:srgbClr val="DDE8E1"/>
            </a:solidFill>
          </p:spPr>
        </p:sp>
        <p:sp>
          <p:nvSpPr>
            <p:cNvPr name="TextBox 28" id="28"/>
            <p:cNvSpPr txBox="true"/>
            <p:nvPr/>
          </p:nvSpPr>
          <p:spPr>
            <a:xfrm>
              <a:off x="0" y="-9525"/>
              <a:ext cx="6700520" cy="378396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Mục tiêu 2</a:t>
              </a:r>
            </a:p>
            <a:p>
              <a:pPr algn="l">
                <a:lnSpc>
                  <a:spcPts val="2879"/>
                </a:lnSpc>
              </a:pPr>
              <a:r>
                <a:rPr lang="en-US" sz="2400" b="true">
                  <a:solidFill>
                    <a:srgbClr val="1B5F39"/>
                  </a:solidFill>
                  <a:latin typeface="Arial Bold"/>
                  <a:ea typeface="Arial Bold"/>
                  <a:cs typeface="Arial Bold"/>
                  <a:sym typeface="Arial Bold"/>
                </a:rPr>
                <a:t>Mô phỏng luồng mua hàng</a:t>
              </a:r>
            </a:p>
            <a:p>
              <a:pPr algn="l">
                <a:lnSpc>
                  <a:spcPts val="2376"/>
                </a:lnSpc>
              </a:pPr>
              <a:r>
                <a:rPr lang="en-US" sz="1980">
                  <a:solidFill>
                    <a:srgbClr val="283A33"/>
                  </a:solidFill>
                  <a:latin typeface="Arial"/>
                  <a:ea typeface="Arial"/>
                  <a:cs typeface="Arial"/>
                  <a:sym typeface="Arial"/>
                </a:rPr>
                <a:t>Cho phép người dùng đi từ xem sản phẩm → chi tiết → giỏ hàng → nhập thông tin → chọn thanh toán.</a:t>
              </a:r>
            </a:p>
          </p:txBody>
        </p:sp>
      </p:grpSp>
      <p:grpSp>
        <p:nvGrpSpPr>
          <p:cNvPr name="Group 29" id="29"/>
          <p:cNvGrpSpPr/>
          <p:nvPr/>
        </p:nvGrpSpPr>
        <p:grpSpPr>
          <a:xfrm rot="0">
            <a:off x="12266295" y="2431923"/>
            <a:ext cx="5025390" cy="2830830"/>
            <a:chOff x="0" y="0"/>
            <a:chExt cx="6700520" cy="3774440"/>
          </a:xfrm>
        </p:grpSpPr>
        <p:sp>
          <p:nvSpPr>
            <p:cNvPr name="Freeform 30" id="30"/>
            <p:cNvSpPr/>
            <p:nvPr/>
          </p:nvSpPr>
          <p:spPr>
            <a:xfrm flipH="false" flipV="false" rot="0">
              <a:off x="12700" y="12700"/>
              <a:ext cx="6675120" cy="3749040"/>
            </a:xfrm>
            <a:custGeom>
              <a:avLst/>
              <a:gdLst/>
              <a:ahLst/>
              <a:cxnLst/>
              <a:rect r="r" b="b" t="t" l="l"/>
              <a:pathLst>
                <a:path h="3749040" w="6675120">
                  <a:moveTo>
                    <a:pt x="0" y="0"/>
                  </a:moveTo>
                  <a:lnTo>
                    <a:pt x="6675120" y="0"/>
                  </a:lnTo>
                  <a:lnTo>
                    <a:pt x="6675120" y="3749040"/>
                  </a:lnTo>
                  <a:lnTo>
                    <a:pt x="0" y="3749040"/>
                  </a:lnTo>
                  <a:close/>
                </a:path>
              </a:pathLst>
            </a:custGeom>
            <a:solidFill>
              <a:srgbClr val="FFFDF8"/>
            </a:solidFill>
          </p:spPr>
        </p:sp>
        <p:sp>
          <p:nvSpPr>
            <p:cNvPr name="Freeform 31" id="31"/>
            <p:cNvSpPr/>
            <p:nvPr/>
          </p:nvSpPr>
          <p:spPr>
            <a:xfrm flipH="false" flipV="false" rot="0">
              <a:off x="0" y="0"/>
              <a:ext cx="6700520" cy="3774440"/>
            </a:xfrm>
            <a:custGeom>
              <a:avLst/>
              <a:gdLst/>
              <a:ahLst/>
              <a:cxnLst/>
              <a:rect r="r" b="b" t="t" l="l"/>
              <a:pathLst>
                <a:path h="3774440" w="6700520">
                  <a:moveTo>
                    <a:pt x="12700" y="0"/>
                  </a:moveTo>
                  <a:lnTo>
                    <a:pt x="6687820" y="0"/>
                  </a:lnTo>
                  <a:cubicBezTo>
                    <a:pt x="6694805" y="0"/>
                    <a:pt x="6700520" y="5715"/>
                    <a:pt x="6700520" y="12700"/>
                  </a:cubicBezTo>
                  <a:lnTo>
                    <a:pt x="6700520" y="3761740"/>
                  </a:lnTo>
                  <a:cubicBezTo>
                    <a:pt x="6700520" y="3768725"/>
                    <a:pt x="6694805" y="3774440"/>
                    <a:pt x="6687820" y="3774440"/>
                  </a:cubicBezTo>
                  <a:lnTo>
                    <a:pt x="12700" y="3774440"/>
                  </a:lnTo>
                  <a:cubicBezTo>
                    <a:pt x="5715" y="3774440"/>
                    <a:pt x="0" y="3768725"/>
                    <a:pt x="0" y="3761740"/>
                  </a:cubicBezTo>
                  <a:lnTo>
                    <a:pt x="0" y="12700"/>
                  </a:lnTo>
                  <a:cubicBezTo>
                    <a:pt x="0" y="5715"/>
                    <a:pt x="5715" y="0"/>
                    <a:pt x="12700" y="0"/>
                  </a:cubicBezTo>
                  <a:moveTo>
                    <a:pt x="12700" y="25400"/>
                  </a:moveTo>
                  <a:lnTo>
                    <a:pt x="12700" y="12700"/>
                  </a:lnTo>
                  <a:lnTo>
                    <a:pt x="25400" y="12700"/>
                  </a:lnTo>
                  <a:lnTo>
                    <a:pt x="25400" y="3761740"/>
                  </a:lnTo>
                  <a:lnTo>
                    <a:pt x="12700" y="3761740"/>
                  </a:lnTo>
                  <a:lnTo>
                    <a:pt x="12700" y="3749040"/>
                  </a:lnTo>
                  <a:lnTo>
                    <a:pt x="6687820" y="3749040"/>
                  </a:lnTo>
                  <a:lnTo>
                    <a:pt x="6687820" y="3761740"/>
                  </a:lnTo>
                  <a:lnTo>
                    <a:pt x="6675120" y="3761740"/>
                  </a:lnTo>
                  <a:lnTo>
                    <a:pt x="6675120" y="12700"/>
                  </a:lnTo>
                  <a:lnTo>
                    <a:pt x="6687820" y="12700"/>
                  </a:lnTo>
                  <a:lnTo>
                    <a:pt x="6687820" y="25400"/>
                  </a:lnTo>
                  <a:lnTo>
                    <a:pt x="12700" y="25400"/>
                  </a:lnTo>
                  <a:close/>
                </a:path>
              </a:pathLst>
            </a:custGeom>
            <a:solidFill>
              <a:srgbClr val="DDE8E1"/>
            </a:solidFill>
          </p:spPr>
        </p:sp>
        <p:sp>
          <p:nvSpPr>
            <p:cNvPr name="TextBox 32" id="32"/>
            <p:cNvSpPr txBox="true"/>
            <p:nvPr/>
          </p:nvSpPr>
          <p:spPr>
            <a:xfrm>
              <a:off x="0" y="-9525"/>
              <a:ext cx="6700520" cy="378396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Mục tiêu 3</a:t>
              </a:r>
            </a:p>
            <a:p>
              <a:pPr algn="l">
                <a:lnSpc>
                  <a:spcPts val="2879"/>
                </a:lnSpc>
              </a:pPr>
              <a:r>
                <a:rPr lang="en-US" sz="2400" b="true">
                  <a:solidFill>
                    <a:srgbClr val="1B5F39"/>
                  </a:solidFill>
                  <a:latin typeface="Arial Bold"/>
                  <a:ea typeface="Arial Bold"/>
                  <a:cs typeface="Arial Bold"/>
                  <a:sym typeface="Arial Bold"/>
                </a:rPr>
                <a:t>Rèn luyện kỹ năng web</a:t>
              </a:r>
            </a:p>
            <a:p>
              <a:pPr algn="l">
                <a:lnSpc>
                  <a:spcPts val="2376"/>
                </a:lnSpc>
              </a:pPr>
              <a:r>
                <a:rPr lang="en-US" sz="1980">
                  <a:solidFill>
                    <a:srgbClr val="283A33"/>
                  </a:solidFill>
                  <a:latin typeface="Arial"/>
                  <a:ea typeface="Arial"/>
                  <a:cs typeface="Arial"/>
                  <a:sym typeface="Arial"/>
                </a:rPr>
                <a:t>Vận dụng HTML, CSS, Bootstrap và JavaScript để xây dựng giao diện có cấu trúc và tương tác cơ bản.</a:t>
              </a:r>
            </a:p>
          </p:txBody>
        </p:sp>
      </p:grpSp>
      <p:sp>
        <p:nvSpPr>
          <p:cNvPr name="TextBox 33" id="33"/>
          <p:cNvSpPr txBox="true"/>
          <p:nvPr/>
        </p:nvSpPr>
        <p:spPr>
          <a:xfrm rot="0">
            <a:off x="1166365" y="6005703"/>
            <a:ext cx="6034021" cy="838200"/>
          </a:xfrm>
          <a:prstGeom prst="rect">
            <a:avLst/>
          </a:prstGeom>
        </p:spPr>
        <p:txBody>
          <a:bodyPr anchor="t" rtlCol="false" tIns="0" lIns="0" bIns="0" rIns="0">
            <a:spAutoFit/>
          </a:bodyPr>
          <a:lstStyle/>
          <a:p>
            <a:pPr algn="just">
              <a:lnSpc>
                <a:spcPts val="3240"/>
              </a:lnSpc>
            </a:pPr>
            <a:r>
              <a:rPr lang="en-US" sz="2700" b="true">
                <a:solidFill>
                  <a:srgbClr val="243E36"/>
                </a:solidFill>
                <a:latin typeface="Arial Bold"/>
                <a:ea typeface="Arial Bold"/>
                <a:cs typeface="Arial Bold"/>
                <a:sym typeface="Arial Bold"/>
              </a:rPr>
              <a:t>Phạm vi nhóm xác định trong báo cáo</a:t>
            </a:r>
          </a:p>
        </p:txBody>
      </p:sp>
      <p:sp>
        <p:nvSpPr>
          <p:cNvPr name="TextBox 34" id="34"/>
          <p:cNvSpPr txBox="true"/>
          <p:nvPr/>
        </p:nvSpPr>
        <p:spPr>
          <a:xfrm rot="0">
            <a:off x="1303530" y="7116664"/>
            <a:ext cx="15498061" cy="1448686"/>
          </a:xfrm>
          <a:prstGeom prst="rect">
            <a:avLst/>
          </a:prstGeom>
        </p:spPr>
        <p:txBody>
          <a:bodyPr anchor="t" rtlCol="false" tIns="0" lIns="0" bIns="0" rIns="0">
            <a:spAutoFit/>
          </a:bodyPr>
          <a:lstStyle/>
          <a:p>
            <a:pPr algn="l">
              <a:lnSpc>
                <a:spcPts val="3060"/>
              </a:lnSpc>
            </a:pPr>
            <a:r>
              <a:rPr lang="en-US" sz="2550">
                <a:solidFill>
                  <a:srgbClr val="283A33"/>
                </a:solidFill>
                <a:latin typeface="Arial"/>
                <a:ea typeface="Arial"/>
                <a:cs typeface="Arial"/>
                <a:sym typeface="Arial"/>
              </a:rPr>
              <a:t>• Website ở mức front-end mô phỏng, phù hợp yêu cầu môn học.</a:t>
            </a:r>
          </a:p>
          <a:p>
            <a:pPr algn="l">
              <a:lnSpc>
                <a:spcPts val="3060"/>
              </a:lnSpc>
            </a:pPr>
            <a:r>
              <a:rPr lang="en-US" sz="2550">
                <a:solidFill>
                  <a:srgbClr val="283A33"/>
                </a:solidFill>
                <a:latin typeface="Arial"/>
                <a:ea typeface="Arial"/>
                <a:cs typeface="Arial"/>
                <a:sym typeface="Arial"/>
              </a:rPr>
              <a:t>• Chưa triển khai backend, cơ sở dữ liệu hay thanh toán thật.</a:t>
            </a:r>
          </a:p>
          <a:p>
            <a:pPr algn="l">
              <a:lnSpc>
                <a:spcPts val="3060"/>
              </a:lnSpc>
            </a:pPr>
            <a:r>
              <a:rPr lang="en-US" sz="2550">
                <a:solidFill>
                  <a:srgbClr val="283A33"/>
                </a:solidFill>
                <a:latin typeface="Arial"/>
                <a:ea typeface="Arial"/>
                <a:cs typeface="Arial"/>
                <a:sym typeface="Arial"/>
              </a:rPr>
              <a:t>• Ưu tiên trình bày luồng chức năng và tính nhất quán giao diện.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1. Giới thiệu chung</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Tên website và nhóm nội dung chính</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04</a:t>
              </a:r>
            </a:p>
          </p:txBody>
        </p:sp>
      </p:grpSp>
      <p:grpSp>
        <p:nvGrpSpPr>
          <p:cNvPr name="Group 21" id="21"/>
          <p:cNvGrpSpPr/>
          <p:nvPr/>
        </p:nvGrpSpPr>
        <p:grpSpPr>
          <a:xfrm rot="0">
            <a:off x="1028700" y="2400300"/>
            <a:ext cx="7406640" cy="754380"/>
            <a:chOff x="0" y="0"/>
            <a:chExt cx="9875520" cy="1005840"/>
          </a:xfrm>
        </p:grpSpPr>
        <p:sp>
          <p:nvSpPr>
            <p:cNvPr name="Freeform 22" id="22"/>
            <p:cNvSpPr/>
            <p:nvPr/>
          </p:nvSpPr>
          <p:spPr>
            <a:xfrm flipH="false" flipV="false" rot="0">
              <a:off x="0" y="0"/>
              <a:ext cx="9875520" cy="1005840"/>
            </a:xfrm>
            <a:custGeom>
              <a:avLst/>
              <a:gdLst/>
              <a:ahLst/>
              <a:cxnLst/>
              <a:rect r="r" b="b" t="t" l="l"/>
              <a:pathLst>
                <a:path h="1005840" w="9875520">
                  <a:moveTo>
                    <a:pt x="0" y="0"/>
                  </a:moveTo>
                  <a:lnTo>
                    <a:pt x="9875520" y="0"/>
                  </a:lnTo>
                  <a:lnTo>
                    <a:pt x="9875520" y="1005840"/>
                  </a:lnTo>
                  <a:lnTo>
                    <a:pt x="0" y="1005840"/>
                  </a:lnTo>
                  <a:close/>
                </a:path>
              </a:pathLst>
            </a:custGeom>
            <a:blipFill>
              <a:blip r:embed="rId3">
                <a:alphaModFix amt="0"/>
              </a:blip>
              <a:stretch>
                <a:fillRect l="0" t="-141307" r="0" b="-141307"/>
              </a:stretch>
            </a:blipFill>
          </p:spPr>
        </p:sp>
        <p:sp>
          <p:nvSpPr>
            <p:cNvPr name="TextBox 23" id="23"/>
            <p:cNvSpPr txBox="true"/>
            <p:nvPr/>
          </p:nvSpPr>
          <p:spPr>
            <a:xfrm>
              <a:off x="0" y="-28575"/>
              <a:ext cx="9875520" cy="1034415"/>
            </a:xfrm>
            <a:prstGeom prst="rect">
              <a:avLst/>
            </a:prstGeom>
          </p:spPr>
          <p:txBody>
            <a:bodyPr anchor="ctr" rtlCol="false" tIns="0" lIns="0" bIns="0" rIns="0"/>
            <a:lstStyle/>
            <a:p>
              <a:pPr algn="l">
                <a:lnSpc>
                  <a:spcPts val="6480"/>
                </a:lnSpc>
              </a:pPr>
              <a:r>
                <a:rPr lang="en-US" sz="5400" b="true">
                  <a:solidFill>
                    <a:srgbClr val="1B5F39"/>
                  </a:solidFill>
                  <a:latin typeface="Arial Bold"/>
                  <a:ea typeface="Arial Bold"/>
                  <a:cs typeface="Arial Bold"/>
                  <a:sym typeface="Arial Bold"/>
                </a:rPr>
                <a:t>Vision-Print VN</a:t>
              </a:r>
            </a:p>
          </p:txBody>
        </p:sp>
      </p:grpSp>
      <p:sp>
        <p:nvSpPr>
          <p:cNvPr name="TextBox 24" id="24"/>
          <p:cNvSpPr txBox="true"/>
          <p:nvPr/>
        </p:nvSpPr>
        <p:spPr>
          <a:xfrm rot="0">
            <a:off x="1070353" y="3410455"/>
            <a:ext cx="7679941" cy="1115311"/>
          </a:xfrm>
          <a:prstGeom prst="rect">
            <a:avLst/>
          </a:prstGeom>
        </p:spPr>
        <p:txBody>
          <a:bodyPr anchor="t" rtlCol="false" tIns="0" lIns="0" bIns="0" rIns="0">
            <a:spAutoFit/>
          </a:bodyPr>
          <a:lstStyle/>
          <a:p>
            <a:pPr algn="l">
              <a:lnSpc>
                <a:spcPts val="3240"/>
              </a:lnSpc>
            </a:pPr>
            <a:r>
              <a:rPr lang="en-US" sz="2700">
                <a:solidFill>
                  <a:srgbClr val="283A33"/>
                </a:solidFill>
                <a:latin typeface="Arial"/>
                <a:ea typeface="Arial"/>
                <a:cs typeface="Arial"/>
                <a:sym typeface="Arial"/>
              </a:rPr>
              <a:t>Website mô phỏng một đơn vị cung cấp giải pháp in ấn văn phòng. Nhóm nội dung được chia theo cách người dùng thường thao tác khi mua hàng trực tuyến.</a:t>
            </a:r>
          </a:p>
        </p:txBody>
      </p:sp>
      <p:grpSp>
        <p:nvGrpSpPr>
          <p:cNvPr name="Group 25" id="25"/>
          <p:cNvGrpSpPr/>
          <p:nvPr/>
        </p:nvGrpSpPr>
        <p:grpSpPr>
          <a:xfrm rot="0">
            <a:off x="9317355" y="2253615"/>
            <a:ext cx="3653790" cy="1733550"/>
            <a:chOff x="0" y="0"/>
            <a:chExt cx="4871720" cy="2311400"/>
          </a:xfrm>
        </p:grpSpPr>
        <p:sp>
          <p:nvSpPr>
            <p:cNvPr name="Freeform 26" id="26"/>
            <p:cNvSpPr/>
            <p:nvPr/>
          </p:nvSpPr>
          <p:spPr>
            <a:xfrm flipH="false" flipV="false" rot="0">
              <a:off x="12700" y="12700"/>
              <a:ext cx="4846320" cy="2286000"/>
            </a:xfrm>
            <a:custGeom>
              <a:avLst/>
              <a:gdLst/>
              <a:ahLst/>
              <a:cxnLst/>
              <a:rect r="r" b="b" t="t" l="l"/>
              <a:pathLst>
                <a:path h="2286000" w="4846320">
                  <a:moveTo>
                    <a:pt x="0" y="0"/>
                  </a:moveTo>
                  <a:lnTo>
                    <a:pt x="4846320" y="0"/>
                  </a:lnTo>
                  <a:lnTo>
                    <a:pt x="4846320" y="2286000"/>
                  </a:lnTo>
                  <a:lnTo>
                    <a:pt x="0" y="2286000"/>
                  </a:lnTo>
                  <a:close/>
                </a:path>
              </a:pathLst>
            </a:custGeom>
            <a:solidFill>
              <a:srgbClr val="FFFDF8"/>
            </a:solidFill>
          </p:spPr>
        </p:sp>
        <p:sp>
          <p:nvSpPr>
            <p:cNvPr name="Freeform 27" id="27"/>
            <p:cNvSpPr/>
            <p:nvPr/>
          </p:nvSpPr>
          <p:spPr>
            <a:xfrm flipH="false" flipV="false" rot="0">
              <a:off x="0" y="0"/>
              <a:ext cx="4871720" cy="2311400"/>
            </a:xfrm>
            <a:custGeom>
              <a:avLst/>
              <a:gdLst/>
              <a:ahLst/>
              <a:cxnLst/>
              <a:rect r="r" b="b" t="t" l="l"/>
              <a:pathLst>
                <a:path h="2311400" w="4871720">
                  <a:moveTo>
                    <a:pt x="12700" y="0"/>
                  </a:moveTo>
                  <a:lnTo>
                    <a:pt x="4859020" y="0"/>
                  </a:lnTo>
                  <a:cubicBezTo>
                    <a:pt x="4866005" y="0"/>
                    <a:pt x="4871720" y="5715"/>
                    <a:pt x="4871720" y="12700"/>
                  </a:cubicBezTo>
                  <a:lnTo>
                    <a:pt x="4871720" y="2298700"/>
                  </a:lnTo>
                  <a:cubicBezTo>
                    <a:pt x="4871720" y="2305685"/>
                    <a:pt x="4866005" y="2311400"/>
                    <a:pt x="4859020" y="2311400"/>
                  </a:cubicBezTo>
                  <a:lnTo>
                    <a:pt x="12700" y="2311400"/>
                  </a:lnTo>
                  <a:cubicBezTo>
                    <a:pt x="5715" y="2311400"/>
                    <a:pt x="0" y="2305685"/>
                    <a:pt x="0" y="2298700"/>
                  </a:cubicBezTo>
                  <a:lnTo>
                    <a:pt x="0" y="12700"/>
                  </a:lnTo>
                  <a:cubicBezTo>
                    <a:pt x="0" y="5715"/>
                    <a:pt x="5715" y="0"/>
                    <a:pt x="12700" y="0"/>
                  </a:cubicBezTo>
                  <a:moveTo>
                    <a:pt x="12700" y="25400"/>
                  </a:moveTo>
                  <a:lnTo>
                    <a:pt x="12700" y="12700"/>
                  </a:lnTo>
                  <a:lnTo>
                    <a:pt x="25400" y="12700"/>
                  </a:lnTo>
                  <a:lnTo>
                    <a:pt x="25400" y="2298700"/>
                  </a:lnTo>
                  <a:lnTo>
                    <a:pt x="12700" y="2298700"/>
                  </a:lnTo>
                  <a:lnTo>
                    <a:pt x="12700" y="2286000"/>
                  </a:lnTo>
                  <a:lnTo>
                    <a:pt x="4859020" y="2286000"/>
                  </a:lnTo>
                  <a:lnTo>
                    <a:pt x="4859020" y="2298700"/>
                  </a:lnTo>
                  <a:lnTo>
                    <a:pt x="4846320" y="2298700"/>
                  </a:lnTo>
                  <a:lnTo>
                    <a:pt x="4846320" y="12700"/>
                  </a:lnTo>
                  <a:lnTo>
                    <a:pt x="4859020" y="12700"/>
                  </a:lnTo>
                  <a:lnTo>
                    <a:pt x="4859020" y="25400"/>
                  </a:lnTo>
                  <a:lnTo>
                    <a:pt x="12700" y="25400"/>
                  </a:lnTo>
                  <a:close/>
                </a:path>
              </a:pathLst>
            </a:custGeom>
            <a:solidFill>
              <a:srgbClr val="DDE8E1"/>
            </a:solidFill>
          </p:spPr>
        </p:sp>
        <p:sp>
          <p:nvSpPr>
            <p:cNvPr name="TextBox 28" id="28"/>
            <p:cNvSpPr txBox="true"/>
            <p:nvPr/>
          </p:nvSpPr>
          <p:spPr>
            <a:xfrm>
              <a:off x="0" y="-9525"/>
              <a:ext cx="4871720" cy="232092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Giới thiệu</a:t>
              </a:r>
            </a:p>
            <a:p>
              <a:pPr algn="l">
                <a:lnSpc>
                  <a:spcPts val="2250"/>
                </a:lnSpc>
              </a:pPr>
              <a:r>
                <a:rPr lang="en-US" sz="1875">
                  <a:solidFill>
                    <a:srgbClr val="283A33"/>
                  </a:solidFill>
                  <a:latin typeface="Arial"/>
                  <a:ea typeface="Arial"/>
                  <a:cs typeface="Arial"/>
                  <a:sym typeface="Arial"/>
                </a:rPr>
                <a:t>Thông tin thương hiệu, lĩnh vực hoạt động, lợi thế dịch vụ và thông tin liên hệ.</a:t>
              </a:r>
            </a:p>
          </p:txBody>
        </p:sp>
      </p:grpSp>
      <p:grpSp>
        <p:nvGrpSpPr>
          <p:cNvPr name="Group 29" id="29"/>
          <p:cNvGrpSpPr/>
          <p:nvPr/>
        </p:nvGrpSpPr>
        <p:grpSpPr>
          <a:xfrm rot="0">
            <a:off x="13363575" y="2253615"/>
            <a:ext cx="3653790" cy="1733550"/>
            <a:chOff x="0" y="0"/>
            <a:chExt cx="4871720" cy="2311400"/>
          </a:xfrm>
        </p:grpSpPr>
        <p:sp>
          <p:nvSpPr>
            <p:cNvPr name="Freeform 30" id="30"/>
            <p:cNvSpPr/>
            <p:nvPr/>
          </p:nvSpPr>
          <p:spPr>
            <a:xfrm flipH="false" flipV="false" rot="0">
              <a:off x="12700" y="12700"/>
              <a:ext cx="4846320" cy="2286000"/>
            </a:xfrm>
            <a:custGeom>
              <a:avLst/>
              <a:gdLst/>
              <a:ahLst/>
              <a:cxnLst/>
              <a:rect r="r" b="b" t="t" l="l"/>
              <a:pathLst>
                <a:path h="2286000" w="4846320">
                  <a:moveTo>
                    <a:pt x="0" y="0"/>
                  </a:moveTo>
                  <a:lnTo>
                    <a:pt x="4846320" y="0"/>
                  </a:lnTo>
                  <a:lnTo>
                    <a:pt x="4846320" y="2286000"/>
                  </a:lnTo>
                  <a:lnTo>
                    <a:pt x="0" y="2286000"/>
                  </a:lnTo>
                  <a:close/>
                </a:path>
              </a:pathLst>
            </a:custGeom>
            <a:solidFill>
              <a:srgbClr val="FFFDF8"/>
            </a:solidFill>
          </p:spPr>
        </p:sp>
        <p:sp>
          <p:nvSpPr>
            <p:cNvPr name="Freeform 31" id="31"/>
            <p:cNvSpPr/>
            <p:nvPr/>
          </p:nvSpPr>
          <p:spPr>
            <a:xfrm flipH="false" flipV="false" rot="0">
              <a:off x="0" y="0"/>
              <a:ext cx="4871720" cy="2311400"/>
            </a:xfrm>
            <a:custGeom>
              <a:avLst/>
              <a:gdLst/>
              <a:ahLst/>
              <a:cxnLst/>
              <a:rect r="r" b="b" t="t" l="l"/>
              <a:pathLst>
                <a:path h="2311400" w="4871720">
                  <a:moveTo>
                    <a:pt x="12700" y="0"/>
                  </a:moveTo>
                  <a:lnTo>
                    <a:pt x="4859020" y="0"/>
                  </a:lnTo>
                  <a:cubicBezTo>
                    <a:pt x="4866005" y="0"/>
                    <a:pt x="4871720" y="5715"/>
                    <a:pt x="4871720" y="12700"/>
                  </a:cubicBezTo>
                  <a:lnTo>
                    <a:pt x="4871720" y="2298700"/>
                  </a:lnTo>
                  <a:cubicBezTo>
                    <a:pt x="4871720" y="2305685"/>
                    <a:pt x="4866005" y="2311400"/>
                    <a:pt x="4859020" y="2311400"/>
                  </a:cubicBezTo>
                  <a:lnTo>
                    <a:pt x="12700" y="2311400"/>
                  </a:lnTo>
                  <a:cubicBezTo>
                    <a:pt x="5715" y="2311400"/>
                    <a:pt x="0" y="2305685"/>
                    <a:pt x="0" y="2298700"/>
                  </a:cubicBezTo>
                  <a:lnTo>
                    <a:pt x="0" y="12700"/>
                  </a:lnTo>
                  <a:cubicBezTo>
                    <a:pt x="0" y="5715"/>
                    <a:pt x="5715" y="0"/>
                    <a:pt x="12700" y="0"/>
                  </a:cubicBezTo>
                  <a:moveTo>
                    <a:pt x="12700" y="25400"/>
                  </a:moveTo>
                  <a:lnTo>
                    <a:pt x="12700" y="12700"/>
                  </a:lnTo>
                  <a:lnTo>
                    <a:pt x="25400" y="12700"/>
                  </a:lnTo>
                  <a:lnTo>
                    <a:pt x="25400" y="2298700"/>
                  </a:lnTo>
                  <a:lnTo>
                    <a:pt x="12700" y="2298700"/>
                  </a:lnTo>
                  <a:lnTo>
                    <a:pt x="12700" y="2286000"/>
                  </a:lnTo>
                  <a:lnTo>
                    <a:pt x="4859020" y="2286000"/>
                  </a:lnTo>
                  <a:lnTo>
                    <a:pt x="4859020" y="2298700"/>
                  </a:lnTo>
                  <a:lnTo>
                    <a:pt x="4846320" y="2298700"/>
                  </a:lnTo>
                  <a:lnTo>
                    <a:pt x="4846320" y="12700"/>
                  </a:lnTo>
                  <a:lnTo>
                    <a:pt x="4859020" y="12700"/>
                  </a:lnTo>
                  <a:lnTo>
                    <a:pt x="4859020" y="25400"/>
                  </a:lnTo>
                  <a:lnTo>
                    <a:pt x="12700" y="25400"/>
                  </a:lnTo>
                  <a:close/>
                </a:path>
              </a:pathLst>
            </a:custGeom>
            <a:solidFill>
              <a:srgbClr val="DDE8E1"/>
            </a:solidFill>
          </p:spPr>
        </p:sp>
        <p:sp>
          <p:nvSpPr>
            <p:cNvPr name="TextBox 32" id="32"/>
            <p:cNvSpPr txBox="true"/>
            <p:nvPr/>
          </p:nvSpPr>
          <p:spPr>
            <a:xfrm>
              <a:off x="0" y="-9525"/>
              <a:ext cx="4871720" cy="232092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Sản phẩm</a:t>
              </a:r>
            </a:p>
            <a:p>
              <a:pPr algn="l">
                <a:lnSpc>
                  <a:spcPts val="2250"/>
                </a:lnSpc>
              </a:pPr>
              <a:r>
                <a:rPr lang="en-US" sz="1875">
                  <a:solidFill>
                    <a:srgbClr val="283A33"/>
                  </a:solidFill>
                  <a:latin typeface="Arial"/>
                  <a:ea typeface="Arial"/>
                  <a:cs typeface="Arial"/>
                  <a:sym typeface="Arial"/>
                </a:rPr>
                <a:t>Danh mục máy in, máy scan, photocopy; hỗ trợ xem và so sánh nhanh.</a:t>
              </a:r>
            </a:p>
          </p:txBody>
        </p:sp>
      </p:grpSp>
      <p:grpSp>
        <p:nvGrpSpPr>
          <p:cNvPr name="Group 33" id="33"/>
          <p:cNvGrpSpPr/>
          <p:nvPr/>
        </p:nvGrpSpPr>
        <p:grpSpPr>
          <a:xfrm rot="0">
            <a:off x="9317355" y="4448175"/>
            <a:ext cx="3653790" cy="1733550"/>
            <a:chOff x="0" y="0"/>
            <a:chExt cx="4871720" cy="2311400"/>
          </a:xfrm>
        </p:grpSpPr>
        <p:sp>
          <p:nvSpPr>
            <p:cNvPr name="Freeform 34" id="34"/>
            <p:cNvSpPr/>
            <p:nvPr/>
          </p:nvSpPr>
          <p:spPr>
            <a:xfrm flipH="false" flipV="false" rot="0">
              <a:off x="12700" y="12700"/>
              <a:ext cx="4846320" cy="2286000"/>
            </a:xfrm>
            <a:custGeom>
              <a:avLst/>
              <a:gdLst/>
              <a:ahLst/>
              <a:cxnLst/>
              <a:rect r="r" b="b" t="t" l="l"/>
              <a:pathLst>
                <a:path h="2286000" w="4846320">
                  <a:moveTo>
                    <a:pt x="0" y="0"/>
                  </a:moveTo>
                  <a:lnTo>
                    <a:pt x="4846320" y="0"/>
                  </a:lnTo>
                  <a:lnTo>
                    <a:pt x="4846320" y="2286000"/>
                  </a:lnTo>
                  <a:lnTo>
                    <a:pt x="0" y="2286000"/>
                  </a:lnTo>
                  <a:close/>
                </a:path>
              </a:pathLst>
            </a:custGeom>
            <a:solidFill>
              <a:srgbClr val="FFFDF8"/>
            </a:solidFill>
          </p:spPr>
        </p:sp>
        <p:sp>
          <p:nvSpPr>
            <p:cNvPr name="Freeform 35" id="35"/>
            <p:cNvSpPr/>
            <p:nvPr/>
          </p:nvSpPr>
          <p:spPr>
            <a:xfrm flipH="false" flipV="false" rot="0">
              <a:off x="0" y="0"/>
              <a:ext cx="4871720" cy="2311400"/>
            </a:xfrm>
            <a:custGeom>
              <a:avLst/>
              <a:gdLst/>
              <a:ahLst/>
              <a:cxnLst/>
              <a:rect r="r" b="b" t="t" l="l"/>
              <a:pathLst>
                <a:path h="2311400" w="4871720">
                  <a:moveTo>
                    <a:pt x="12700" y="0"/>
                  </a:moveTo>
                  <a:lnTo>
                    <a:pt x="4859020" y="0"/>
                  </a:lnTo>
                  <a:cubicBezTo>
                    <a:pt x="4866005" y="0"/>
                    <a:pt x="4871720" y="5715"/>
                    <a:pt x="4871720" y="12700"/>
                  </a:cubicBezTo>
                  <a:lnTo>
                    <a:pt x="4871720" y="2298700"/>
                  </a:lnTo>
                  <a:cubicBezTo>
                    <a:pt x="4871720" y="2305685"/>
                    <a:pt x="4866005" y="2311400"/>
                    <a:pt x="4859020" y="2311400"/>
                  </a:cubicBezTo>
                  <a:lnTo>
                    <a:pt x="12700" y="2311400"/>
                  </a:lnTo>
                  <a:cubicBezTo>
                    <a:pt x="5715" y="2311400"/>
                    <a:pt x="0" y="2305685"/>
                    <a:pt x="0" y="2298700"/>
                  </a:cubicBezTo>
                  <a:lnTo>
                    <a:pt x="0" y="12700"/>
                  </a:lnTo>
                  <a:cubicBezTo>
                    <a:pt x="0" y="5715"/>
                    <a:pt x="5715" y="0"/>
                    <a:pt x="12700" y="0"/>
                  </a:cubicBezTo>
                  <a:moveTo>
                    <a:pt x="12700" y="25400"/>
                  </a:moveTo>
                  <a:lnTo>
                    <a:pt x="12700" y="12700"/>
                  </a:lnTo>
                  <a:lnTo>
                    <a:pt x="25400" y="12700"/>
                  </a:lnTo>
                  <a:lnTo>
                    <a:pt x="25400" y="2298700"/>
                  </a:lnTo>
                  <a:lnTo>
                    <a:pt x="12700" y="2298700"/>
                  </a:lnTo>
                  <a:lnTo>
                    <a:pt x="12700" y="2286000"/>
                  </a:lnTo>
                  <a:lnTo>
                    <a:pt x="4859020" y="2286000"/>
                  </a:lnTo>
                  <a:lnTo>
                    <a:pt x="4859020" y="2298700"/>
                  </a:lnTo>
                  <a:lnTo>
                    <a:pt x="4846320" y="2298700"/>
                  </a:lnTo>
                  <a:lnTo>
                    <a:pt x="4846320" y="12700"/>
                  </a:lnTo>
                  <a:lnTo>
                    <a:pt x="4859020" y="12700"/>
                  </a:lnTo>
                  <a:lnTo>
                    <a:pt x="4859020" y="25400"/>
                  </a:lnTo>
                  <a:lnTo>
                    <a:pt x="12700" y="25400"/>
                  </a:lnTo>
                  <a:close/>
                </a:path>
              </a:pathLst>
            </a:custGeom>
            <a:solidFill>
              <a:srgbClr val="DDE8E1"/>
            </a:solidFill>
          </p:spPr>
        </p:sp>
        <p:sp>
          <p:nvSpPr>
            <p:cNvPr name="TextBox 36" id="36"/>
            <p:cNvSpPr txBox="true"/>
            <p:nvPr/>
          </p:nvSpPr>
          <p:spPr>
            <a:xfrm>
              <a:off x="0" y="-9525"/>
              <a:ext cx="4871720" cy="232092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Chi tiết</a:t>
              </a:r>
            </a:p>
            <a:p>
              <a:pPr algn="l">
                <a:lnSpc>
                  <a:spcPts val="2250"/>
                </a:lnSpc>
              </a:pPr>
              <a:r>
                <a:rPr lang="en-US" sz="1875">
                  <a:solidFill>
                    <a:srgbClr val="283A33"/>
                  </a:solidFill>
                  <a:latin typeface="Arial"/>
                  <a:ea typeface="Arial"/>
                  <a:cs typeface="Arial"/>
                  <a:sym typeface="Arial"/>
                </a:rPr>
                <a:t>Ảnh sản phẩm, giá, mô tả, thông số kỹ thuật và nút hành động.</a:t>
              </a:r>
            </a:p>
          </p:txBody>
        </p:sp>
      </p:grpSp>
      <p:grpSp>
        <p:nvGrpSpPr>
          <p:cNvPr name="Group 37" id="37"/>
          <p:cNvGrpSpPr/>
          <p:nvPr/>
        </p:nvGrpSpPr>
        <p:grpSpPr>
          <a:xfrm rot="0">
            <a:off x="13363575" y="4448175"/>
            <a:ext cx="3653790" cy="1733550"/>
            <a:chOff x="0" y="0"/>
            <a:chExt cx="4871720" cy="2311400"/>
          </a:xfrm>
        </p:grpSpPr>
        <p:sp>
          <p:nvSpPr>
            <p:cNvPr name="Freeform 38" id="38"/>
            <p:cNvSpPr/>
            <p:nvPr/>
          </p:nvSpPr>
          <p:spPr>
            <a:xfrm flipH="false" flipV="false" rot="0">
              <a:off x="12700" y="12700"/>
              <a:ext cx="4846320" cy="2286000"/>
            </a:xfrm>
            <a:custGeom>
              <a:avLst/>
              <a:gdLst/>
              <a:ahLst/>
              <a:cxnLst/>
              <a:rect r="r" b="b" t="t" l="l"/>
              <a:pathLst>
                <a:path h="2286000" w="4846320">
                  <a:moveTo>
                    <a:pt x="0" y="0"/>
                  </a:moveTo>
                  <a:lnTo>
                    <a:pt x="4846320" y="0"/>
                  </a:lnTo>
                  <a:lnTo>
                    <a:pt x="4846320" y="2286000"/>
                  </a:lnTo>
                  <a:lnTo>
                    <a:pt x="0" y="2286000"/>
                  </a:lnTo>
                  <a:close/>
                </a:path>
              </a:pathLst>
            </a:custGeom>
            <a:solidFill>
              <a:srgbClr val="FFFDF8"/>
            </a:solidFill>
          </p:spPr>
        </p:sp>
        <p:sp>
          <p:nvSpPr>
            <p:cNvPr name="Freeform 39" id="39"/>
            <p:cNvSpPr/>
            <p:nvPr/>
          </p:nvSpPr>
          <p:spPr>
            <a:xfrm flipH="false" flipV="false" rot="0">
              <a:off x="0" y="0"/>
              <a:ext cx="4871720" cy="2311400"/>
            </a:xfrm>
            <a:custGeom>
              <a:avLst/>
              <a:gdLst/>
              <a:ahLst/>
              <a:cxnLst/>
              <a:rect r="r" b="b" t="t" l="l"/>
              <a:pathLst>
                <a:path h="2311400" w="4871720">
                  <a:moveTo>
                    <a:pt x="12700" y="0"/>
                  </a:moveTo>
                  <a:lnTo>
                    <a:pt x="4859020" y="0"/>
                  </a:lnTo>
                  <a:cubicBezTo>
                    <a:pt x="4866005" y="0"/>
                    <a:pt x="4871720" y="5715"/>
                    <a:pt x="4871720" y="12700"/>
                  </a:cubicBezTo>
                  <a:lnTo>
                    <a:pt x="4871720" y="2298700"/>
                  </a:lnTo>
                  <a:cubicBezTo>
                    <a:pt x="4871720" y="2305685"/>
                    <a:pt x="4866005" y="2311400"/>
                    <a:pt x="4859020" y="2311400"/>
                  </a:cubicBezTo>
                  <a:lnTo>
                    <a:pt x="12700" y="2311400"/>
                  </a:lnTo>
                  <a:cubicBezTo>
                    <a:pt x="5715" y="2311400"/>
                    <a:pt x="0" y="2305685"/>
                    <a:pt x="0" y="2298700"/>
                  </a:cubicBezTo>
                  <a:lnTo>
                    <a:pt x="0" y="12700"/>
                  </a:lnTo>
                  <a:cubicBezTo>
                    <a:pt x="0" y="5715"/>
                    <a:pt x="5715" y="0"/>
                    <a:pt x="12700" y="0"/>
                  </a:cubicBezTo>
                  <a:moveTo>
                    <a:pt x="12700" y="25400"/>
                  </a:moveTo>
                  <a:lnTo>
                    <a:pt x="12700" y="12700"/>
                  </a:lnTo>
                  <a:lnTo>
                    <a:pt x="25400" y="12700"/>
                  </a:lnTo>
                  <a:lnTo>
                    <a:pt x="25400" y="2298700"/>
                  </a:lnTo>
                  <a:lnTo>
                    <a:pt x="12700" y="2298700"/>
                  </a:lnTo>
                  <a:lnTo>
                    <a:pt x="12700" y="2286000"/>
                  </a:lnTo>
                  <a:lnTo>
                    <a:pt x="4859020" y="2286000"/>
                  </a:lnTo>
                  <a:lnTo>
                    <a:pt x="4859020" y="2298700"/>
                  </a:lnTo>
                  <a:lnTo>
                    <a:pt x="4846320" y="2298700"/>
                  </a:lnTo>
                  <a:lnTo>
                    <a:pt x="4846320" y="12700"/>
                  </a:lnTo>
                  <a:lnTo>
                    <a:pt x="4859020" y="12700"/>
                  </a:lnTo>
                  <a:lnTo>
                    <a:pt x="4859020" y="25400"/>
                  </a:lnTo>
                  <a:lnTo>
                    <a:pt x="12700" y="25400"/>
                  </a:lnTo>
                  <a:close/>
                </a:path>
              </a:pathLst>
            </a:custGeom>
            <a:solidFill>
              <a:srgbClr val="DDE8E1"/>
            </a:solidFill>
          </p:spPr>
        </p:sp>
        <p:sp>
          <p:nvSpPr>
            <p:cNvPr name="TextBox 40" id="40"/>
            <p:cNvSpPr txBox="true"/>
            <p:nvPr/>
          </p:nvSpPr>
          <p:spPr>
            <a:xfrm>
              <a:off x="0" y="-9525"/>
              <a:ext cx="4871720" cy="232092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Giỏ hàng</a:t>
              </a:r>
            </a:p>
            <a:p>
              <a:pPr algn="l">
                <a:lnSpc>
                  <a:spcPts val="2250"/>
                </a:lnSpc>
              </a:pPr>
              <a:r>
                <a:rPr lang="en-US" sz="1875">
                  <a:solidFill>
                    <a:srgbClr val="283A33"/>
                  </a:solidFill>
                  <a:latin typeface="Arial"/>
                  <a:ea typeface="Arial"/>
                  <a:cs typeface="Arial"/>
                  <a:sym typeface="Arial"/>
                </a:rPr>
                <a:t>Kiểm tra sản phẩm, số lượng, mã giảm giá và tổng tiền.</a:t>
              </a:r>
            </a:p>
          </p:txBody>
        </p:sp>
      </p:grpSp>
      <p:grpSp>
        <p:nvGrpSpPr>
          <p:cNvPr name="Group 41" id="41"/>
          <p:cNvGrpSpPr/>
          <p:nvPr/>
        </p:nvGrpSpPr>
        <p:grpSpPr>
          <a:xfrm rot="0">
            <a:off x="9317355" y="6642735"/>
            <a:ext cx="7700010" cy="1733550"/>
            <a:chOff x="0" y="0"/>
            <a:chExt cx="10266680" cy="2311400"/>
          </a:xfrm>
        </p:grpSpPr>
        <p:sp>
          <p:nvSpPr>
            <p:cNvPr name="Freeform 42" id="42"/>
            <p:cNvSpPr/>
            <p:nvPr/>
          </p:nvSpPr>
          <p:spPr>
            <a:xfrm flipH="false" flipV="false" rot="0">
              <a:off x="12700" y="12700"/>
              <a:ext cx="10241280" cy="2286000"/>
            </a:xfrm>
            <a:custGeom>
              <a:avLst/>
              <a:gdLst/>
              <a:ahLst/>
              <a:cxnLst/>
              <a:rect r="r" b="b" t="t" l="l"/>
              <a:pathLst>
                <a:path h="2286000" w="10241280">
                  <a:moveTo>
                    <a:pt x="0" y="0"/>
                  </a:moveTo>
                  <a:lnTo>
                    <a:pt x="10241280" y="0"/>
                  </a:lnTo>
                  <a:lnTo>
                    <a:pt x="10241280" y="2286000"/>
                  </a:lnTo>
                  <a:lnTo>
                    <a:pt x="0" y="2286000"/>
                  </a:lnTo>
                  <a:close/>
                </a:path>
              </a:pathLst>
            </a:custGeom>
            <a:solidFill>
              <a:srgbClr val="FFFDF8"/>
            </a:solidFill>
          </p:spPr>
        </p:sp>
        <p:sp>
          <p:nvSpPr>
            <p:cNvPr name="Freeform 43" id="43"/>
            <p:cNvSpPr/>
            <p:nvPr/>
          </p:nvSpPr>
          <p:spPr>
            <a:xfrm flipH="false" flipV="false" rot="0">
              <a:off x="0" y="0"/>
              <a:ext cx="10266680" cy="2311400"/>
            </a:xfrm>
            <a:custGeom>
              <a:avLst/>
              <a:gdLst/>
              <a:ahLst/>
              <a:cxnLst/>
              <a:rect r="r" b="b" t="t" l="l"/>
              <a:pathLst>
                <a:path h="2311400" w="10266680">
                  <a:moveTo>
                    <a:pt x="12700" y="0"/>
                  </a:moveTo>
                  <a:lnTo>
                    <a:pt x="10253980" y="0"/>
                  </a:lnTo>
                  <a:cubicBezTo>
                    <a:pt x="10260965" y="0"/>
                    <a:pt x="10266680" y="5715"/>
                    <a:pt x="10266680" y="12700"/>
                  </a:cubicBezTo>
                  <a:lnTo>
                    <a:pt x="10266680" y="2298700"/>
                  </a:lnTo>
                  <a:cubicBezTo>
                    <a:pt x="10266680" y="2305685"/>
                    <a:pt x="10260965" y="2311400"/>
                    <a:pt x="10253980" y="2311400"/>
                  </a:cubicBezTo>
                  <a:lnTo>
                    <a:pt x="12700" y="2311400"/>
                  </a:lnTo>
                  <a:cubicBezTo>
                    <a:pt x="5715" y="2311400"/>
                    <a:pt x="0" y="2305685"/>
                    <a:pt x="0" y="2298700"/>
                  </a:cubicBezTo>
                  <a:lnTo>
                    <a:pt x="0" y="12700"/>
                  </a:lnTo>
                  <a:cubicBezTo>
                    <a:pt x="0" y="5715"/>
                    <a:pt x="5715" y="0"/>
                    <a:pt x="12700" y="0"/>
                  </a:cubicBezTo>
                  <a:moveTo>
                    <a:pt x="12700" y="25400"/>
                  </a:moveTo>
                  <a:lnTo>
                    <a:pt x="12700" y="12700"/>
                  </a:lnTo>
                  <a:lnTo>
                    <a:pt x="25400" y="12700"/>
                  </a:lnTo>
                  <a:lnTo>
                    <a:pt x="25400" y="2298700"/>
                  </a:lnTo>
                  <a:lnTo>
                    <a:pt x="12700" y="2298700"/>
                  </a:lnTo>
                  <a:lnTo>
                    <a:pt x="12700" y="2286000"/>
                  </a:lnTo>
                  <a:lnTo>
                    <a:pt x="10253980" y="2286000"/>
                  </a:lnTo>
                  <a:lnTo>
                    <a:pt x="10253980" y="2298700"/>
                  </a:lnTo>
                  <a:lnTo>
                    <a:pt x="10241280" y="2298700"/>
                  </a:lnTo>
                  <a:lnTo>
                    <a:pt x="10241280" y="12700"/>
                  </a:lnTo>
                  <a:lnTo>
                    <a:pt x="10253980" y="12700"/>
                  </a:lnTo>
                  <a:lnTo>
                    <a:pt x="10253980" y="25400"/>
                  </a:lnTo>
                  <a:lnTo>
                    <a:pt x="12700" y="25400"/>
                  </a:lnTo>
                  <a:close/>
                </a:path>
              </a:pathLst>
            </a:custGeom>
            <a:solidFill>
              <a:srgbClr val="DDE8E1"/>
            </a:solidFill>
          </p:spPr>
        </p:sp>
        <p:sp>
          <p:nvSpPr>
            <p:cNvPr name="TextBox 44" id="44"/>
            <p:cNvSpPr txBox="true"/>
            <p:nvPr/>
          </p:nvSpPr>
          <p:spPr>
            <a:xfrm>
              <a:off x="0" y="-9525"/>
              <a:ext cx="10266680" cy="232092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Thanh toán</a:t>
              </a:r>
            </a:p>
            <a:p>
              <a:pPr algn="l">
                <a:lnSpc>
                  <a:spcPts val="2250"/>
                </a:lnSpc>
              </a:pPr>
              <a:r>
                <a:rPr lang="en-US" sz="1875">
                  <a:solidFill>
                    <a:srgbClr val="283A33"/>
                  </a:solidFill>
                  <a:latin typeface="Arial"/>
                  <a:ea typeface="Arial"/>
                  <a:cs typeface="Arial"/>
                  <a:sym typeface="Arial"/>
                </a:rPr>
                <a:t>Nhập thông tin khách hàng, chọn giao hàng và phương thức thanh toán.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2. Phân tích chức năng</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Cấu trúc website và luồng người dùng</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05</a:t>
              </a:r>
            </a:p>
          </p:txBody>
        </p:sp>
      </p:grpSp>
      <p:grpSp>
        <p:nvGrpSpPr>
          <p:cNvPr name="Group 21" id="21"/>
          <p:cNvGrpSpPr/>
          <p:nvPr/>
        </p:nvGrpSpPr>
        <p:grpSpPr>
          <a:xfrm rot="0">
            <a:off x="3555873" y="5307330"/>
            <a:ext cx="892302" cy="41910"/>
            <a:chOff x="0" y="0"/>
            <a:chExt cx="1189736" cy="55880"/>
          </a:xfrm>
        </p:grpSpPr>
        <p:sp>
          <p:nvSpPr>
            <p:cNvPr name="Freeform 22" id="22"/>
            <p:cNvSpPr/>
            <p:nvPr/>
          </p:nvSpPr>
          <p:spPr>
            <a:xfrm flipH="false" flipV="false" rot="0">
              <a:off x="27940" y="0"/>
              <a:ext cx="1133856" cy="55880"/>
            </a:xfrm>
            <a:custGeom>
              <a:avLst/>
              <a:gdLst/>
              <a:ahLst/>
              <a:cxnLst/>
              <a:rect r="r" b="b" t="t" l="l"/>
              <a:pathLst>
                <a:path h="55880" w="1133856">
                  <a:moveTo>
                    <a:pt x="0" y="0"/>
                  </a:moveTo>
                  <a:lnTo>
                    <a:pt x="1133856" y="0"/>
                  </a:lnTo>
                  <a:lnTo>
                    <a:pt x="1133856" y="55880"/>
                  </a:lnTo>
                  <a:lnTo>
                    <a:pt x="0" y="55880"/>
                  </a:lnTo>
                  <a:close/>
                </a:path>
              </a:pathLst>
            </a:custGeom>
            <a:solidFill>
              <a:srgbClr val="1B5F39"/>
            </a:solidFill>
          </p:spPr>
        </p:sp>
      </p:grpSp>
      <p:grpSp>
        <p:nvGrpSpPr>
          <p:cNvPr name="Group 23" id="23"/>
          <p:cNvGrpSpPr/>
          <p:nvPr/>
        </p:nvGrpSpPr>
        <p:grpSpPr>
          <a:xfrm rot="0">
            <a:off x="6710553" y="5307330"/>
            <a:ext cx="892302" cy="41910"/>
            <a:chOff x="0" y="0"/>
            <a:chExt cx="1189736" cy="55880"/>
          </a:xfrm>
        </p:grpSpPr>
        <p:sp>
          <p:nvSpPr>
            <p:cNvPr name="Freeform 24" id="24"/>
            <p:cNvSpPr/>
            <p:nvPr/>
          </p:nvSpPr>
          <p:spPr>
            <a:xfrm flipH="false" flipV="false" rot="0">
              <a:off x="27940" y="0"/>
              <a:ext cx="1133856" cy="55880"/>
            </a:xfrm>
            <a:custGeom>
              <a:avLst/>
              <a:gdLst/>
              <a:ahLst/>
              <a:cxnLst/>
              <a:rect r="r" b="b" t="t" l="l"/>
              <a:pathLst>
                <a:path h="55880" w="1133856">
                  <a:moveTo>
                    <a:pt x="0" y="0"/>
                  </a:moveTo>
                  <a:lnTo>
                    <a:pt x="1133856" y="0"/>
                  </a:lnTo>
                  <a:lnTo>
                    <a:pt x="1133856" y="55880"/>
                  </a:lnTo>
                  <a:lnTo>
                    <a:pt x="0" y="55880"/>
                  </a:lnTo>
                  <a:close/>
                </a:path>
              </a:pathLst>
            </a:custGeom>
            <a:solidFill>
              <a:srgbClr val="1B5F39"/>
            </a:solidFill>
          </p:spPr>
        </p:sp>
      </p:grpSp>
      <p:grpSp>
        <p:nvGrpSpPr>
          <p:cNvPr name="Group 25" id="25"/>
          <p:cNvGrpSpPr/>
          <p:nvPr/>
        </p:nvGrpSpPr>
        <p:grpSpPr>
          <a:xfrm rot="0">
            <a:off x="9865233" y="5328285"/>
            <a:ext cx="892302" cy="41910"/>
            <a:chOff x="0" y="0"/>
            <a:chExt cx="1189736" cy="55880"/>
          </a:xfrm>
        </p:grpSpPr>
        <p:sp>
          <p:nvSpPr>
            <p:cNvPr name="Freeform 26" id="26"/>
            <p:cNvSpPr/>
            <p:nvPr/>
          </p:nvSpPr>
          <p:spPr>
            <a:xfrm flipH="false" flipV="false" rot="0">
              <a:off x="27940" y="0"/>
              <a:ext cx="1133856" cy="55880"/>
            </a:xfrm>
            <a:custGeom>
              <a:avLst/>
              <a:gdLst/>
              <a:ahLst/>
              <a:cxnLst/>
              <a:rect r="r" b="b" t="t" l="l"/>
              <a:pathLst>
                <a:path h="55880" w="1133856">
                  <a:moveTo>
                    <a:pt x="0" y="0"/>
                  </a:moveTo>
                  <a:lnTo>
                    <a:pt x="1133856" y="0"/>
                  </a:lnTo>
                  <a:lnTo>
                    <a:pt x="1133856" y="55880"/>
                  </a:lnTo>
                  <a:lnTo>
                    <a:pt x="0" y="55880"/>
                  </a:lnTo>
                  <a:close/>
                </a:path>
              </a:pathLst>
            </a:custGeom>
            <a:solidFill>
              <a:srgbClr val="1B5F39"/>
            </a:solidFill>
          </p:spPr>
        </p:sp>
      </p:grpSp>
      <p:grpSp>
        <p:nvGrpSpPr>
          <p:cNvPr name="Group 27" id="27"/>
          <p:cNvGrpSpPr/>
          <p:nvPr/>
        </p:nvGrpSpPr>
        <p:grpSpPr>
          <a:xfrm rot="0">
            <a:off x="13019913" y="5307330"/>
            <a:ext cx="892302" cy="41910"/>
            <a:chOff x="0" y="0"/>
            <a:chExt cx="1189736" cy="55880"/>
          </a:xfrm>
        </p:grpSpPr>
        <p:sp>
          <p:nvSpPr>
            <p:cNvPr name="Freeform 28" id="28"/>
            <p:cNvSpPr/>
            <p:nvPr/>
          </p:nvSpPr>
          <p:spPr>
            <a:xfrm flipH="false" flipV="false" rot="0">
              <a:off x="27940" y="0"/>
              <a:ext cx="1133856" cy="55880"/>
            </a:xfrm>
            <a:custGeom>
              <a:avLst/>
              <a:gdLst/>
              <a:ahLst/>
              <a:cxnLst/>
              <a:rect r="r" b="b" t="t" l="l"/>
              <a:pathLst>
                <a:path h="55880" w="1133856">
                  <a:moveTo>
                    <a:pt x="0" y="0"/>
                  </a:moveTo>
                  <a:lnTo>
                    <a:pt x="1133856" y="0"/>
                  </a:lnTo>
                  <a:lnTo>
                    <a:pt x="1133856" y="55880"/>
                  </a:lnTo>
                  <a:lnTo>
                    <a:pt x="0" y="55880"/>
                  </a:lnTo>
                  <a:close/>
                </a:path>
              </a:pathLst>
            </a:custGeom>
            <a:solidFill>
              <a:srgbClr val="1B5F39"/>
            </a:solidFill>
          </p:spPr>
        </p:sp>
      </p:grpSp>
      <p:grpSp>
        <p:nvGrpSpPr>
          <p:cNvPr name="Group 29" id="29"/>
          <p:cNvGrpSpPr/>
          <p:nvPr/>
        </p:nvGrpSpPr>
        <p:grpSpPr>
          <a:xfrm rot="0">
            <a:off x="1293495" y="4448175"/>
            <a:ext cx="2556510" cy="1802130"/>
            <a:chOff x="0" y="0"/>
            <a:chExt cx="3408680" cy="2402840"/>
          </a:xfrm>
        </p:grpSpPr>
        <p:sp>
          <p:nvSpPr>
            <p:cNvPr name="Freeform 30" id="30"/>
            <p:cNvSpPr/>
            <p:nvPr/>
          </p:nvSpPr>
          <p:spPr>
            <a:xfrm flipH="false" flipV="false" rot="0">
              <a:off x="12700" y="12700"/>
              <a:ext cx="3383280" cy="2377440"/>
            </a:xfrm>
            <a:custGeom>
              <a:avLst/>
              <a:gdLst/>
              <a:ahLst/>
              <a:cxnLst/>
              <a:rect r="r" b="b" t="t" l="l"/>
              <a:pathLst>
                <a:path h="2377440" w="3383280">
                  <a:moveTo>
                    <a:pt x="0" y="0"/>
                  </a:moveTo>
                  <a:lnTo>
                    <a:pt x="3383280" y="0"/>
                  </a:lnTo>
                  <a:lnTo>
                    <a:pt x="3383280" y="2377440"/>
                  </a:lnTo>
                  <a:lnTo>
                    <a:pt x="0" y="2377440"/>
                  </a:lnTo>
                  <a:close/>
                </a:path>
              </a:pathLst>
            </a:custGeom>
            <a:solidFill>
              <a:srgbClr val="E8F2EC"/>
            </a:solidFill>
          </p:spPr>
        </p:sp>
        <p:sp>
          <p:nvSpPr>
            <p:cNvPr name="Freeform 31" id="31"/>
            <p:cNvSpPr/>
            <p:nvPr/>
          </p:nvSpPr>
          <p:spPr>
            <a:xfrm flipH="false" flipV="false" rot="0">
              <a:off x="0" y="0"/>
              <a:ext cx="3408680" cy="2402840"/>
            </a:xfrm>
            <a:custGeom>
              <a:avLst/>
              <a:gdLst/>
              <a:ahLst/>
              <a:cxnLst/>
              <a:rect r="r" b="b" t="t" l="l"/>
              <a:pathLst>
                <a:path h="2402840" w="3408680">
                  <a:moveTo>
                    <a:pt x="12700" y="0"/>
                  </a:moveTo>
                  <a:lnTo>
                    <a:pt x="3395980" y="0"/>
                  </a:lnTo>
                  <a:cubicBezTo>
                    <a:pt x="3402965" y="0"/>
                    <a:pt x="3408680" y="5715"/>
                    <a:pt x="3408680" y="12700"/>
                  </a:cubicBezTo>
                  <a:lnTo>
                    <a:pt x="3408680" y="2390140"/>
                  </a:lnTo>
                  <a:cubicBezTo>
                    <a:pt x="3408680" y="2397125"/>
                    <a:pt x="3402965" y="2402840"/>
                    <a:pt x="339598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3395980" y="2377440"/>
                  </a:lnTo>
                  <a:lnTo>
                    <a:pt x="3395980" y="2390140"/>
                  </a:lnTo>
                  <a:lnTo>
                    <a:pt x="3383280" y="2390140"/>
                  </a:lnTo>
                  <a:lnTo>
                    <a:pt x="3383280" y="12700"/>
                  </a:lnTo>
                  <a:lnTo>
                    <a:pt x="3395980" y="12700"/>
                  </a:lnTo>
                  <a:lnTo>
                    <a:pt x="3395980" y="25400"/>
                  </a:lnTo>
                  <a:lnTo>
                    <a:pt x="12700" y="25400"/>
                  </a:lnTo>
                  <a:close/>
                </a:path>
              </a:pathLst>
            </a:custGeom>
            <a:solidFill>
              <a:srgbClr val="DDE8E1"/>
            </a:solidFill>
          </p:spPr>
        </p:sp>
        <p:sp>
          <p:nvSpPr>
            <p:cNvPr name="TextBox 32" id="32"/>
            <p:cNvSpPr txBox="true"/>
            <p:nvPr/>
          </p:nvSpPr>
          <p:spPr>
            <a:xfrm>
              <a:off x="0" y="-19050"/>
              <a:ext cx="3408680" cy="2421890"/>
            </a:xfrm>
            <a:prstGeom prst="rect">
              <a:avLst/>
            </a:prstGeom>
          </p:spPr>
          <p:txBody>
            <a:bodyPr anchor="ctr" rtlCol="false" tIns="50800" lIns="50800" bIns="50800" rIns="50800"/>
            <a:lstStyle/>
            <a:p>
              <a:pPr algn="l">
                <a:lnSpc>
                  <a:spcPts val="2700"/>
                </a:lnSpc>
              </a:pPr>
              <a:r>
                <a:rPr lang="en-US" sz="2250" b="true">
                  <a:solidFill>
                    <a:srgbClr val="1B5F39"/>
                  </a:solidFill>
                  <a:latin typeface="Arial Bold"/>
                  <a:ea typeface="Arial Bold"/>
                  <a:cs typeface="Arial Bold"/>
                  <a:sym typeface="Arial Bold"/>
                </a:rPr>
                <a:t>Trang chủ</a:t>
              </a:r>
            </a:p>
            <a:p>
              <a:pPr algn="l">
                <a:lnSpc>
                  <a:spcPts val="2070"/>
                </a:lnSpc>
              </a:pPr>
              <a:r>
                <a:rPr lang="en-US" sz="1725">
                  <a:solidFill>
                    <a:srgbClr val="283A33"/>
                  </a:solidFill>
                  <a:latin typeface="Arial"/>
                  <a:ea typeface="Arial"/>
                  <a:cs typeface="Arial"/>
                  <a:sym typeface="Arial"/>
                </a:rPr>
                <a:t>Nhận diện thương hiệu</a:t>
              </a:r>
            </a:p>
            <a:p>
              <a:pPr algn="l">
                <a:lnSpc>
                  <a:spcPts val="2070"/>
                </a:lnSpc>
              </a:pPr>
              <a:r>
                <a:rPr lang="en-US" sz="1725">
                  <a:solidFill>
                    <a:srgbClr val="283A33"/>
                  </a:solidFill>
                  <a:latin typeface="Arial"/>
                  <a:ea typeface="Arial"/>
                  <a:cs typeface="Arial"/>
                  <a:sym typeface="Arial"/>
                </a:rPr>
                <a:t>+ sản phẩm nổi bật</a:t>
              </a:r>
            </a:p>
          </p:txBody>
        </p:sp>
      </p:grpSp>
      <p:grpSp>
        <p:nvGrpSpPr>
          <p:cNvPr name="Group 33" id="33"/>
          <p:cNvGrpSpPr/>
          <p:nvPr/>
        </p:nvGrpSpPr>
        <p:grpSpPr>
          <a:xfrm rot="0">
            <a:off x="4448175" y="4448175"/>
            <a:ext cx="2556510" cy="1802130"/>
            <a:chOff x="0" y="0"/>
            <a:chExt cx="3408680" cy="2402840"/>
          </a:xfrm>
        </p:grpSpPr>
        <p:sp>
          <p:nvSpPr>
            <p:cNvPr name="Freeform 34" id="34"/>
            <p:cNvSpPr/>
            <p:nvPr/>
          </p:nvSpPr>
          <p:spPr>
            <a:xfrm flipH="false" flipV="false" rot="0">
              <a:off x="12700" y="12700"/>
              <a:ext cx="3383280" cy="2377440"/>
            </a:xfrm>
            <a:custGeom>
              <a:avLst/>
              <a:gdLst/>
              <a:ahLst/>
              <a:cxnLst/>
              <a:rect r="r" b="b" t="t" l="l"/>
              <a:pathLst>
                <a:path h="2377440" w="3383280">
                  <a:moveTo>
                    <a:pt x="0" y="0"/>
                  </a:moveTo>
                  <a:lnTo>
                    <a:pt x="3383280" y="0"/>
                  </a:lnTo>
                  <a:lnTo>
                    <a:pt x="3383280" y="2377440"/>
                  </a:lnTo>
                  <a:lnTo>
                    <a:pt x="0" y="2377440"/>
                  </a:lnTo>
                  <a:close/>
                </a:path>
              </a:pathLst>
            </a:custGeom>
            <a:solidFill>
              <a:srgbClr val="FFFDF8"/>
            </a:solidFill>
          </p:spPr>
        </p:sp>
        <p:sp>
          <p:nvSpPr>
            <p:cNvPr name="Freeform 35" id="35"/>
            <p:cNvSpPr/>
            <p:nvPr/>
          </p:nvSpPr>
          <p:spPr>
            <a:xfrm flipH="false" flipV="false" rot="0">
              <a:off x="0" y="0"/>
              <a:ext cx="3408680" cy="2402840"/>
            </a:xfrm>
            <a:custGeom>
              <a:avLst/>
              <a:gdLst/>
              <a:ahLst/>
              <a:cxnLst/>
              <a:rect r="r" b="b" t="t" l="l"/>
              <a:pathLst>
                <a:path h="2402840" w="3408680">
                  <a:moveTo>
                    <a:pt x="12700" y="0"/>
                  </a:moveTo>
                  <a:lnTo>
                    <a:pt x="3395980" y="0"/>
                  </a:lnTo>
                  <a:cubicBezTo>
                    <a:pt x="3402965" y="0"/>
                    <a:pt x="3408680" y="5715"/>
                    <a:pt x="3408680" y="12700"/>
                  </a:cubicBezTo>
                  <a:lnTo>
                    <a:pt x="3408680" y="2390140"/>
                  </a:lnTo>
                  <a:cubicBezTo>
                    <a:pt x="3408680" y="2397125"/>
                    <a:pt x="3402965" y="2402840"/>
                    <a:pt x="339598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3395980" y="2377440"/>
                  </a:lnTo>
                  <a:lnTo>
                    <a:pt x="3395980" y="2390140"/>
                  </a:lnTo>
                  <a:lnTo>
                    <a:pt x="3383280" y="2390140"/>
                  </a:lnTo>
                  <a:lnTo>
                    <a:pt x="3383280" y="12700"/>
                  </a:lnTo>
                  <a:lnTo>
                    <a:pt x="3395980" y="12700"/>
                  </a:lnTo>
                  <a:lnTo>
                    <a:pt x="3395980" y="25400"/>
                  </a:lnTo>
                  <a:lnTo>
                    <a:pt x="12700" y="25400"/>
                  </a:lnTo>
                  <a:close/>
                </a:path>
              </a:pathLst>
            </a:custGeom>
            <a:solidFill>
              <a:srgbClr val="DDE8E1"/>
            </a:solidFill>
          </p:spPr>
        </p:sp>
        <p:sp>
          <p:nvSpPr>
            <p:cNvPr name="TextBox 36" id="36"/>
            <p:cNvSpPr txBox="true"/>
            <p:nvPr/>
          </p:nvSpPr>
          <p:spPr>
            <a:xfrm>
              <a:off x="0" y="-19050"/>
              <a:ext cx="3408680" cy="2421890"/>
            </a:xfrm>
            <a:prstGeom prst="rect">
              <a:avLst/>
            </a:prstGeom>
          </p:spPr>
          <p:txBody>
            <a:bodyPr anchor="ctr" rtlCol="false" tIns="50800" lIns="50800" bIns="50800" rIns="50800"/>
            <a:lstStyle/>
            <a:p>
              <a:pPr algn="l">
                <a:lnSpc>
                  <a:spcPts val="2700"/>
                </a:lnSpc>
              </a:pPr>
              <a:r>
                <a:rPr lang="en-US" sz="2250" b="true">
                  <a:solidFill>
                    <a:srgbClr val="1B5F39"/>
                  </a:solidFill>
                  <a:latin typeface="Arial Bold"/>
                  <a:ea typeface="Arial Bold"/>
                  <a:cs typeface="Arial Bold"/>
                  <a:sym typeface="Arial Bold"/>
                </a:rPr>
                <a:t>Danh mục</a:t>
              </a:r>
            </a:p>
            <a:p>
              <a:pPr algn="l">
                <a:lnSpc>
                  <a:spcPts val="2070"/>
                </a:lnSpc>
              </a:pPr>
              <a:r>
                <a:rPr lang="en-US" sz="1725">
                  <a:solidFill>
                    <a:srgbClr val="283A33"/>
                  </a:solidFill>
                  <a:latin typeface="Arial"/>
                  <a:ea typeface="Arial"/>
                  <a:cs typeface="Arial"/>
                  <a:sym typeface="Arial"/>
                </a:rPr>
                <a:t>Lọc, sắp xếp,</a:t>
              </a:r>
            </a:p>
            <a:p>
              <a:pPr algn="l">
                <a:lnSpc>
                  <a:spcPts val="2070"/>
                </a:lnSpc>
              </a:pPr>
              <a:r>
                <a:rPr lang="en-US" sz="1725">
                  <a:solidFill>
                    <a:srgbClr val="283A33"/>
                  </a:solidFill>
                  <a:latin typeface="Arial"/>
                  <a:ea typeface="Arial"/>
                  <a:cs typeface="Arial"/>
                  <a:sym typeface="Arial"/>
                </a:rPr>
                <a:t>xem danh sách</a:t>
              </a:r>
            </a:p>
          </p:txBody>
        </p:sp>
      </p:grpSp>
      <p:grpSp>
        <p:nvGrpSpPr>
          <p:cNvPr name="Group 37" id="37"/>
          <p:cNvGrpSpPr/>
          <p:nvPr/>
        </p:nvGrpSpPr>
        <p:grpSpPr>
          <a:xfrm rot="0">
            <a:off x="7602855" y="4448175"/>
            <a:ext cx="2556510" cy="1802130"/>
            <a:chOff x="0" y="0"/>
            <a:chExt cx="3408680" cy="2402840"/>
          </a:xfrm>
        </p:grpSpPr>
        <p:sp>
          <p:nvSpPr>
            <p:cNvPr name="Freeform 38" id="38"/>
            <p:cNvSpPr/>
            <p:nvPr/>
          </p:nvSpPr>
          <p:spPr>
            <a:xfrm flipH="false" flipV="false" rot="0">
              <a:off x="12700" y="12700"/>
              <a:ext cx="3383280" cy="2377440"/>
            </a:xfrm>
            <a:custGeom>
              <a:avLst/>
              <a:gdLst/>
              <a:ahLst/>
              <a:cxnLst/>
              <a:rect r="r" b="b" t="t" l="l"/>
              <a:pathLst>
                <a:path h="2377440" w="3383280">
                  <a:moveTo>
                    <a:pt x="0" y="0"/>
                  </a:moveTo>
                  <a:lnTo>
                    <a:pt x="3383280" y="0"/>
                  </a:lnTo>
                  <a:lnTo>
                    <a:pt x="3383280" y="2377440"/>
                  </a:lnTo>
                  <a:lnTo>
                    <a:pt x="0" y="2377440"/>
                  </a:lnTo>
                  <a:close/>
                </a:path>
              </a:pathLst>
            </a:custGeom>
            <a:solidFill>
              <a:srgbClr val="FFFDF8"/>
            </a:solidFill>
          </p:spPr>
        </p:sp>
        <p:sp>
          <p:nvSpPr>
            <p:cNvPr name="Freeform 39" id="39"/>
            <p:cNvSpPr/>
            <p:nvPr/>
          </p:nvSpPr>
          <p:spPr>
            <a:xfrm flipH="false" flipV="false" rot="0">
              <a:off x="0" y="0"/>
              <a:ext cx="3408680" cy="2402840"/>
            </a:xfrm>
            <a:custGeom>
              <a:avLst/>
              <a:gdLst/>
              <a:ahLst/>
              <a:cxnLst/>
              <a:rect r="r" b="b" t="t" l="l"/>
              <a:pathLst>
                <a:path h="2402840" w="3408680">
                  <a:moveTo>
                    <a:pt x="12700" y="0"/>
                  </a:moveTo>
                  <a:lnTo>
                    <a:pt x="3395980" y="0"/>
                  </a:lnTo>
                  <a:cubicBezTo>
                    <a:pt x="3402965" y="0"/>
                    <a:pt x="3408680" y="5715"/>
                    <a:pt x="3408680" y="12700"/>
                  </a:cubicBezTo>
                  <a:lnTo>
                    <a:pt x="3408680" y="2390140"/>
                  </a:lnTo>
                  <a:cubicBezTo>
                    <a:pt x="3408680" y="2397125"/>
                    <a:pt x="3402965" y="2402840"/>
                    <a:pt x="339598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3395980" y="2377440"/>
                  </a:lnTo>
                  <a:lnTo>
                    <a:pt x="3395980" y="2390140"/>
                  </a:lnTo>
                  <a:lnTo>
                    <a:pt x="3383280" y="2390140"/>
                  </a:lnTo>
                  <a:lnTo>
                    <a:pt x="3383280" y="12700"/>
                  </a:lnTo>
                  <a:lnTo>
                    <a:pt x="3395980" y="12700"/>
                  </a:lnTo>
                  <a:lnTo>
                    <a:pt x="3395980" y="25400"/>
                  </a:lnTo>
                  <a:lnTo>
                    <a:pt x="12700" y="25400"/>
                  </a:lnTo>
                  <a:close/>
                </a:path>
              </a:pathLst>
            </a:custGeom>
            <a:solidFill>
              <a:srgbClr val="DDE8E1"/>
            </a:solidFill>
          </p:spPr>
        </p:sp>
        <p:sp>
          <p:nvSpPr>
            <p:cNvPr name="TextBox 40" id="40"/>
            <p:cNvSpPr txBox="true"/>
            <p:nvPr/>
          </p:nvSpPr>
          <p:spPr>
            <a:xfrm>
              <a:off x="0" y="-19050"/>
              <a:ext cx="3408680" cy="2421890"/>
            </a:xfrm>
            <a:prstGeom prst="rect">
              <a:avLst/>
            </a:prstGeom>
          </p:spPr>
          <p:txBody>
            <a:bodyPr anchor="ctr" rtlCol="false" tIns="50800" lIns="50800" bIns="50800" rIns="50800"/>
            <a:lstStyle/>
            <a:p>
              <a:pPr algn="l">
                <a:lnSpc>
                  <a:spcPts val="2700"/>
                </a:lnSpc>
              </a:pPr>
              <a:r>
                <a:rPr lang="en-US" sz="2250" b="true">
                  <a:solidFill>
                    <a:srgbClr val="1B5F39"/>
                  </a:solidFill>
                  <a:latin typeface="Arial Bold"/>
                  <a:ea typeface="Arial Bold"/>
                  <a:cs typeface="Arial Bold"/>
                  <a:sym typeface="Arial Bold"/>
                </a:rPr>
                <a:t>Chi tiết</a:t>
              </a:r>
            </a:p>
            <a:p>
              <a:pPr algn="l">
                <a:lnSpc>
                  <a:spcPts val="2070"/>
                </a:lnSpc>
              </a:pPr>
              <a:r>
                <a:rPr lang="en-US" sz="1725">
                  <a:solidFill>
                    <a:srgbClr val="283A33"/>
                  </a:solidFill>
                  <a:latin typeface="Arial"/>
                  <a:ea typeface="Arial"/>
                  <a:cs typeface="Arial"/>
                  <a:sym typeface="Arial"/>
                </a:rPr>
                <a:t>Ảnh, giá, thông số,</a:t>
              </a:r>
            </a:p>
            <a:p>
              <a:pPr algn="l">
                <a:lnSpc>
                  <a:spcPts val="2070"/>
                </a:lnSpc>
              </a:pPr>
              <a:r>
                <a:rPr lang="en-US" sz="1725">
                  <a:solidFill>
                    <a:srgbClr val="283A33"/>
                  </a:solidFill>
                  <a:latin typeface="Arial"/>
                  <a:ea typeface="Arial"/>
                  <a:cs typeface="Arial"/>
                  <a:sym typeface="Arial"/>
                </a:rPr>
                <a:t>nút mua hàng</a:t>
              </a:r>
            </a:p>
          </p:txBody>
        </p:sp>
      </p:grpSp>
      <p:grpSp>
        <p:nvGrpSpPr>
          <p:cNvPr name="Group 41" id="41"/>
          <p:cNvGrpSpPr/>
          <p:nvPr/>
        </p:nvGrpSpPr>
        <p:grpSpPr>
          <a:xfrm rot="0">
            <a:off x="10757535" y="4448175"/>
            <a:ext cx="2556510" cy="1802130"/>
            <a:chOff x="0" y="0"/>
            <a:chExt cx="3408680" cy="2402840"/>
          </a:xfrm>
        </p:grpSpPr>
        <p:sp>
          <p:nvSpPr>
            <p:cNvPr name="Freeform 42" id="42"/>
            <p:cNvSpPr/>
            <p:nvPr/>
          </p:nvSpPr>
          <p:spPr>
            <a:xfrm flipH="false" flipV="false" rot="0">
              <a:off x="12700" y="12700"/>
              <a:ext cx="3383280" cy="2377440"/>
            </a:xfrm>
            <a:custGeom>
              <a:avLst/>
              <a:gdLst/>
              <a:ahLst/>
              <a:cxnLst/>
              <a:rect r="r" b="b" t="t" l="l"/>
              <a:pathLst>
                <a:path h="2377440" w="3383280">
                  <a:moveTo>
                    <a:pt x="0" y="0"/>
                  </a:moveTo>
                  <a:lnTo>
                    <a:pt x="3383280" y="0"/>
                  </a:lnTo>
                  <a:lnTo>
                    <a:pt x="3383280" y="2377440"/>
                  </a:lnTo>
                  <a:lnTo>
                    <a:pt x="0" y="2377440"/>
                  </a:lnTo>
                  <a:close/>
                </a:path>
              </a:pathLst>
            </a:custGeom>
            <a:solidFill>
              <a:srgbClr val="FFFDF8"/>
            </a:solidFill>
          </p:spPr>
        </p:sp>
        <p:sp>
          <p:nvSpPr>
            <p:cNvPr name="Freeform 43" id="43"/>
            <p:cNvSpPr/>
            <p:nvPr/>
          </p:nvSpPr>
          <p:spPr>
            <a:xfrm flipH="false" flipV="false" rot="0">
              <a:off x="0" y="0"/>
              <a:ext cx="3408680" cy="2402840"/>
            </a:xfrm>
            <a:custGeom>
              <a:avLst/>
              <a:gdLst/>
              <a:ahLst/>
              <a:cxnLst/>
              <a:rect r="r" b="b" t="t" l="l"/>
              <a:pathLst>
                <a:path h="2402840" w="3408680">
                  <a:moveTo>
                    <a:pt x="12700" y="0"/>
                  </a:moveTo>
                  <a:lnTo>
                    <a:pt x="3395980" y="0"/>
                  </a:lnTo>
                  <a:cubicBezTo>
                    <a:pt x="3402965" y="0"/>
                    <a:pt x="3408680" y="5715"/>
                    <a:pt x="3408680" y="12700"/>
                  </a:cubicBezTo>
                  <a:lnTo>
                    <a:pt x="3408680" y="2390140"/>
                  </a:lnTo>
                  <a:cubicBezTo>
                    <a:pt x="3408680" y="2397125"/>
                    <a:pt x="3402965" y="2402840"/>
                    <a:pt x="339598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3395980" y="2377440"/>
                  </a:lnTo>
                  <a:lnTo>
                    <a:pt x="3395980" y="2390140"/>
                  </a:lnTo>
                  <a:lnTo>
                    <a:pt x="3383280" y="2390140"/>
                  </a:lnTo>
                  <a:lnTo>
                    <a:pt x="3383280" y="12700"/>
                  </a:lnTo>
                  <a:lnTo>
                    <a:pt x="3395980" y="12700"/>
                  </a:lnTo>
                  <a:lnTo>
                    <a:pt x="3395980" y="25400"/>
                  </a:lnTo>
                  <a:lnTo>
                    <a:pt x="12700" y="25400"/>
                  </a:lnTo>
                  <a:close/>
                </a:path>
              </a:pathLst>
            </a:custGeom>
            <a:solidFill>
              <a:srgbClr val="DDE8E1"/>
            </a:solidFill>
          </p:spPr>
        </p:sp>
        <p:sp>
          <p:nvSpPr>
            <p:cNvPr name="TextBox 44" id="44"/>
            <p:cNvSpPr txBox="true"/>
            <p:nvPr/>
          </p:nvSpPr>
          <p:spPr>
            <a:xfrm>
              <a:off x="0" y="-19050"/>
              <a:ext cx="3408680" cy="2421890"/>
            </a:xfrm>
            <a:prstGeom prst="rect">
              <a:avLst/>
            </a:prstGeom>
          </p:spPr>
          <p:txBody>
            <a:bodyPr anchor="ctr" rtlCol="false" tIns="50800" lIns="50800" bIns="50800" rIns="50800"/>
            <a:lstStyle/>
            <a:p>
              <a:pPr algn="l">
                <a:lnSpc>
                  <a:spcPts val="2700"/>
                </a:lnSpc>
              </a:pPr>
              <a:r>
                <a:rPr lang="en-US" sz="2250" b="true">
                  <a:solidFill>
                    <a:srgbClr val="1B5F39"/>
                  </a:solidFill>
                  <a:latin typeface="Arial Bold"/>
                  <a:ea typeface="Arial Bold"/>
                  <a:cs typeface="Arial Bold"/>
                  <a:sym typeface="Arial Bold"/>
                </a:rPr>
                <a:t>Giỏ hàng</a:t>
              </a:r>
            </a:p>
            <a:p>
              <a:pPr algn="l">
                <a:lnSpc>
                  <a:spcPts val="2070"/>
                </a:lnSpc>
              </a:pPr>
              <a:r>
                <a:rPr lang="en-US" sz="1725">
                  <a:solidFill>
                    <a:srgbClr val="283A33"/>
                  </a:solidFill>
                  <a:latin typeface="Arial"/>
                  <a:ea typeface="Arial"/>
                  <a:cs typeface="Arial"/>
                  <a:sym typeface="Arial"/>
                </a:rPr>
                <a:t>Số lượng, tổng tiền,</a:t>
              </a:r>
            </a:p>
            <a:p>
              <a:pPr algn="l">
                <a:lnSpc>
                  <a:spcPts val="2070"/>
                </a:lnSpc>
              </a:pPr>
              <a:r>
                <a:rPr lang="en-US" sz="1725">
                  <a:solidFill>
                    <a:srgbClr val="283A33"/>
                  </a:solidFill>
                  <a:latin typeface="Arial"/>
                  <a:ea typeface="Arial"/>
                  <a:cs typeface="Arial"/>
                  <a:sym typeface="Arial"/>
                </a:rPr>
                <a:t>mã giảm giá</a:t>
              </a:r>
            </a:p>
          </p:txBody>
        </p:sp>
      </p:grpSp>
      <p:grpSp>
        <p:nvGrpSpPr>
          <p:cNvPr name="Group 45" id="45"/>
          <p:cNvGrpSpPr/>
          <p:nvPr/>
        </p:nvGrpSpPr>
        <p:grpSpPr>
          <a:xfrm rot="0">
            <a:off x="13912215" y="4448175"/>
            <a:ext cx="2556510" cy="1802130"/>
            <a:chOff x="0" y="0"/>
            <a:chExt cx="3408680" cy="2402840"/>
          </a:xfrm>
        </p:grpSpPr>
        <p:sp>
          <p:nvSpPr>
            <p:cNvPr name="Freeform 46" id="46"/>
            <p:cNvSpPr/>
            <p:nvPr/>
          </p:nvSpPr>
          <p:spPr>
            <a:xfrm flipH="false" flipV="false" rot="0">
              <a:off x="12700" y="12700"/>
              <a:ext cx="3383280" cy="2377440"/>
            </a:xfrm>
            <a:custGeom>
              <a:avLst/>
              <a:gdLst/>
              <a:ahLst/>
              <a:cxnLst/>
              <a:rect r="r" b="b" t="t" l="l"/>
              <a:pathLst>
                <a:path h="2377440" w="3383280">
                  <a:moveTo>
                    <a:pt x="0" y="0"/>
                  </a:moveTo>
                  <a:lnTo>
                    <a:pt x="3383280" y="0"/>
                  </a:lnTo>
                  <a:lnTo>
                    <a:pt x="3383280" y="2377440"/>
                  </a:lnTo>
                  <a:lnTo>
                    <a:pt x="0" y="2377440"/>
                  </a:lnTo>
                  <a:close/>
                </a:path>
              </a:pathLst>
            </a:custGeom>
            <a:solidFill>
              <a:srgbClr val="FFFDF8"/>
            </a:solidFill>
          </p:spPr>
        </p:sp>
        <p:sp>
          <p:nvSpPr>
            <p:cNvPr name="Freeform 47" id="47"/>
            <p:cNvSpPr/>
            <p:nvPr/>
          </p:nvSpPr>
          <p:spPr>
            <a:xfrm flipH="false" flipV="false" rot="0">
              <a:off x="0" y="0"/>
              <a:ext cx="3408680" cy="2402840"/>
            </a:xfrm>
            <a:custGeom>
              <a:avLst/>
              <a:gdLst/>
              <a:ahLst/>
              <a:cxnLst/>
              <a:rect r="r" b="b" t="t" l="l"/>
              <a:pathLst>
                <a:path h="2402840" w="3408680">
                  <a:moveTo>
                    <a:pt x="12700" y="0"/>
                  </a:moveTo>
                  <a:lnTo>
                    <a:pt x="3395980" y="0"/>
                  </a:lnTo>
                  <a:cubicBezTo>
                    <a:pt x="3402965" y="0"/>
                    <a:pt x="3408680" y="5715"/>
                    <a:pt x="3408680" y="12700"/>
                  </a:cubicBezTo>
                  <a:lnTo>
                    <a:pt x="3408680" y="2390140"/>
                  </a:lnTo>
                  <a:cubicBezTo>
                    <a:pt x="3408680" y="2397125"/>
                    <a:pt x="3402965" y="2402840"/>
                    <a:pt x="339598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3395980" y="2377440"/>
                  </a:lnTo>
                  <a:lnTo>
                    <a:pt x="3395980" y="2390140"/>
                  </a:lnTo>
                  <a:lnTo>
                    <a:pt x="3383280" y="2390140"/>
                  </a:lnTo>
                  <a:lnTo>
                    <a:pt x="3383280" y="12700"/>
                  </a:lnTo>
                  <a:lnTo>
                    <a:pt x="3395980" y="12700"/>
                  </a:lnTo>
                  <a:lnTo>
                    <a:pt x="3395980" y="25400"/>
                  </a:lnTo>
                  <a:lnTo>
                    <a:pt x="12700" y="25400"/>
                  </a:lnTo>
                  <a:close/>
                </a:path>
              </a:pathLst>
            </a:custGeom>
            <a:solidFill>
              <a:srgbClr val="DDE8E1"/>
            </a:solidFill>
          </p:spPr>
        </p:sp>
        <p:sp>
          <p:nvSpPr>
            <p:cNvPr name="TextBox 48" id="48"/>
            <p:cNvSpPr txBox="true"/>
            <p:nvPr/>
          </p:nvSpPr>
          <p:spPr>
            <a:xfrm>
              <a:off x="0" y="-19050"/>
              <a:ext cx="3408680" cy="2421890"/>
            </a:xfrm>
            <a:prstGeom prst="rect">
              <a:avLst/>
            </a:prstGeom>
          </p:spPr>
          <p:txBody>
            <a:bodyPr anchor="ctr" rtlCol="false" tIns="50800" lIns="50800" bIns="50800" rIns="50800"/>
            <a:lstStyle/>
            <a:p>
              <a:pPr algn="l">
                <a:lnSpc>
                  <a:spcPts val="2700"/>
                </a:lnSpc>
              </a:pPr>
              <a:r>
                <a:rPr lang="en-US" sz="2250" b="true">
                  <a:solidFill>
                    <a:srgbClr val="1B5F39"/>
                  </a:solidFill>
                  <a:latin typeface="Arial Bold"/>
                  <a:ea typeface="Arial Bold"/>
                  <a:cs typeface="Arial Bold"/>
                  <a:sym typeface="Arial Bold"/>
                </a:rPr>
                <a:t>Thanh toán</a:t>
              </a:r>
            </a:p>
            <a:p>
              <a:pPr algn="l">
                <a:lnSpc>
                  <a:spcPts val="2070"/>
                </a:lnSpc>
              </a:pPr>
              <a:r>
                <a:rPr lang="en-US" sz="1725">
                  <a:solidFill>
                    <a:srgbClr val="283A33"/>
                  </a:solidFill>
                  <a:latin typeface="Arial"/>
                  <a:ea typeface="Arial"/>
                  <a:cs typeface="Arial"/>
                  <a:sym typeface="Arial"/>
                </a:rPr>
                <a:t>Thông tin khách,</a:t>
              </a:r>
            </a:p>
            <a:p>
              <a:pPr algn="l">
                <a:lnSpc>
                  <a:spcPts val="2070"/>
                </a:lnSpc>
              </a:pPr>
              <a:r>
                <a:rPr lang="en-US" sz="1725">
                  <a:solidFill>
                    <a:srgbClr val="283A33"/>
                  </a:solidFill>
                  <a:latin typeface="Arial"/>
                  <a:ea typeface="Arial"/>
                  <a:cs typeface="Arial"/>
                  <a:sym typeface="Arial"/>
                </a:rPr>
                <a:t>giao hàng, phương thức</a:t>
              </a:r>
            </a:p>
          </p:txBody>
        </p:sp>
      </p:grpSp>
      <p:sp>
        <p:nvSpPr>
          <p:cNvPr name="TextBox 49" id="49"/>
          <p:cNvSpPr txBox="true"/>
          <p:nvPr/>
        </p:nvSpPr>
        <p:spPr>
          <a:xfrm rot="0">
            <a:off x="1440685" y="2450335"/>
            <a:ext cx="15360901" cy="1046731"/>
          </a:xfrm>
          <a:prstGeom prst="rect">
            <a:avLst/>
          </a:prstGeom>
        </p:spPr>
        <p:txBody>
          <a:bodyPr anchor="t" rtlCol="false" tIns="0" lIns="0" bIns="0" rIns="0">
            <a:spAutoFit/>
          </a:bodyPr>
          <a:lstStyle/>
          <a:p>
            <a:pPr algn="l">
              <a:lnSpc>
                <a:spcPts val="3419"/>
              </a:lnSpc>
            </a:pPr>
            <a:r>
              <a:rPr lang="en-US" sz="2850">
                <a:solidFill>
                  <a:srgbClr val="283A33"/>
                </a:solidFill>
                <a:latin typeface="Arial"/>
                <a:ea typeface="Arial"/>
                <a:cs typeface="Arial"/>
                <a:sym typeface="Arial"/>
              </a:rPr>
              <a:t>Luồng chính khi demo: người dùng bắt đầu ở trang chủ, chọn sản phẩm, đọc chi tiết, đưa vào giỏ hàng và hoàn tất các bước thanh toán mô phỏng.</a:t>
            </a:r>
          </a:p>
        </p:txBody>
      </p:sp>
      <p:grpSp>
        <p:nvGrpSpPr>
          <p:cNvPr name="Group 50" id="50"/>
          <p:cNvGrpSpPr/>
          <p:nvPr/>
        </p:nvGrpSpPr>
        <p:grpSpPr>
          <a:xfrm rot="0">
            <a:off x="4526280" y="7338060"/>
            <a:ext cx="9464040" cy="490761"/>
            <a:chOff x="0" y="0"/>
            <a:chExt cx="12618720" cy="654348"/>
          </a:xfrm>
        </p:grpSpPr>
        <p:sp>
          <p:nvSpPr>
            <p:cNvPr name="Freeform 51" id="51"/>
            <p:cNvSpPr/>
            <p:nvPr/>
          </p:nvSpPr>
          <p:spPr>
            <a:xfrm flipH="false" flipV="false" rot="0">
              <a:off x="0" y="0"/>
              <a:ext cx="12618720" cy="654348"/>
            </a:xfrm>
            <a:custGeom>
              <a:avLst/>
              <a:gdLst/>
              <a:ahLst/>
              <a:cxnLst/>
              <a:rect r="r" b="b" t="t" l="l"/>
              <a:pathLst>
                <a:path h="654348" w="12618720">
                  <a:moveTo>
                    <a:pt x="0" y="0"/>
                  </a:moveTo>
                  <a:lnTo>
                    <a:pt x="12618720" y="0"/>
                  </a:lnTo>
                  <a:lnTo>
                    <a:pt x="12618720" y="654348"/>
                  </a:lnTo>
                  <a:lnTo>
                    <a:pt x="0" y="654348"/>
                  </a:lnTo>
                  <a:close/>
                </a:path>
              </a:pathLst>
            </a:custGeom>
            <a:solidFill>
              <a:srgbClr val="E8F2EC"/>
            </a:solidFill>
          </p:spPr>
        </p:sp>
        <p:sp>
          <p:nvSpPr>
            <p:cNvPr name="TextBox 52" id="52"/>
            <p:cNvSpPr txBox="true"/>
            <p:nvPr/>
          </p:nvSpPr>
          <p:spPr>
            <a:xfrm>
              <a:off x="0" y="-9525"/>
              <a:ext cx="12618720" cy="663873"/>
            </a:xfrm>
            <a:prstGeom prst="rect">
              <a:avLst/>
            </a:prstGeom>
          </p:spPr>
          <p:txBody>
            <a:bodyPr anchor="ctr" rtlCol="false" tIns="50800" lIns="50800" bIns="50800" rIns="50800"/>
            <a:lstStyle/>
            <a:p>
              <a:pPr algn="ctr">
                <a:lnSpc>
                  <a:spcPts val="2400"/>
                </a:lnSpc>
              </a:pPr>
              <a:r>
                <a:rPr lang="en-US" sz="2000" b="true">
                  <a:solidFill>
                    <a:srgbClr val="1B5F39"/>
                  </a:solidFill>
                  <a:latin typeface="Arial Bold"/>
                  <a:ea typeface="Arial Bold"/>
                  <a:cs typeface="Arial Bold"/>
                  <a:sym typeface="Arial Bold"/>
                </a:rPr>
                <a:t>Các trang phụ: Giới thiệu · Đăng nhập/Đăng ký · Cho thuê · Hóa đơn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2. Phân tích chức năng</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Công nghệ sử dụng và tổ chức mã nguồn</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06</a:t>
              </a:r>
            </a:p>
          </p:txBody>
        </p:sp>
      </p:grpSp>
      <p:grpSp>
        <p:nvGrpSpPr>
          <p:cNvPr name="Group 21" id="21"/>
          <p:cNvGrpSpPr/>
          <p:nvPr/>
        </p:nvGrpSpPr>
        <p:grpSpPr>
          <a:xfrm rot="0">
            <a:off x="1019175" y="2322195"/>
            <a:ext cx="5025390" cy="2145030"/>
            <a:chOff x="0" y="0"/>
            <a:chExt cx="6700520" cy="2860040"/>
          </a:xfrm>
        </p:grpSpPr>
        <p:sp>
          <p:nvSpPr>
            <p:cNvPr name="Freeform 22" id="22"/>
            <p:cNvSpPr/>
            <p:nvPr/>
          </p:nvSpPr>
          <p:spPr>
            <a:xfrm flipH="false" flipV="false" rot="0">
              <a:off x="12700" y="12700"/>
              <a:ext cx="6675120" cy="2834640"/>
            </a:xfrm>
            <a:custGeom>
              <a:avLst/>
              <a:gdLst/>
              <a:ahLst/>
              <a:cxnLst/>
              <a:rect r="r" b="b" t="t" l="l"/>
              <a:pathLst>
                <a:path h="2834640" w="6675120">
                  <a:moveTo>
                    <a:pt x="0" y="0"/>
                  </a:moveTo>
                  <a:lnTo>
                    <a:pt x="6675120" y="0"/>
                  </a:lnTo>
                  <a:lnTo>
                    <a:pt x="6675120" y="2834640"/>
                  </a:lnTo>
                  <a:lnTo>
                    <a:pt x="0" y="2834640"/>
                  </a:lnTo>
                  <a:close/>
                </a:path>
              </a:pathLst>
            </a:custGeom>
            <a:solidFill>
              <a:srgbClr val="FFFDF8"/>
            </a:solidFill>
          </p:spPr>
        </p:sp>
        <p:sp>
          <p:nvSpPr>
            <p:cNvPr name="Freeform 23" id="23"/>
            <p:cNvSpPr/>
            <p:nvPr/>
          </p:nvSpPr>
          <p:spPr>
            <a:xfrm flipH="false" flipV="false" rot="0">
              <a:off x="0" y="0"/>
              <a:ext cx="6700520" cy="2860040"/>
            </a:xfrm>
            <a:custGeom>
              <a:avLst/>
              <a:gdLst/>
              <a:ahLst/>
              <a:cxnLst/>
              <a:rect r="r" b="b" t="t" l="l"/>
              <a:pathLst>
                <a:path h="2860040" w="6700520">
                  <a:moveTo>
                    <a:pt x="12700" y="0"/>
                  </a:moveTo>
                  <a:lnTo>
                    <a:pt x="6687820" y="0"/>
                  </a:lnTo>
                  <a:cubicBezTo>
                    <a:pt x="6694805" y="0"/>
                    <a:pt x="6700520" y="5715"/>
                    <a:pt x="6700520" y="12700"/>
                  </a:cubicBezTo>
                  <a:lnTo>
                    <a:pt x="6700520" y="2847340"/>
                  </a:lnTo>
                  <a:cubicBezTo>
                    <a:pt x="6700520" y="2854325"/>
                    <a:pt x="6694805" y="2860040"/>
                    <a:pt x="6687820" y="2860040"/>
                  </a:cubicBezTo>
                  <a:lnTo>
                    <a:pt x="12700" y="2860040"/>
                  </a:lnTo>
                  <a:cubicBezTo>
                    <a:pt x="5715" y="2860040"/>
                    <a:pt x="0" y="2854325"/>
                    <a:pt x="0" y="2847340"/>
                  </a:cubicBezTo>
                  <a:lnTo>
                    <a:pt x="0" y="12700"/>
                  </a:lnTo>
                  <a:cubicBezTo>
                    <a:pt x="0" y="5715"/>
                    <a:pt x="5715" y="0"/>
                    <a:pt x="12700" y="0"/>
                  </a:cubicBezTo>
                  <a:moveTo>
                    <a:pt x="12700" y="25400"/>
                  </a:moveTo>
                  <a:lnTo>
                    <a:pt x="12700" y="12700"/>
                  </a:lnTo>
                  <a:lnTo>
                    <a:pt x="25400" y="12700"/>
                  </a:lnTo>
                  <a:lnTo>
                    <a:pt x="25400" y="2847340"/>
                  </a:lnTo>
                  <a:lnTo>
                    <a:pt x="12700" y="2847340"/>
                  </a:lnTo>
                  <a:lnTo>
                    <a:pt x="12700" y="2834640"/>
                  </a:lnTo>
                  <a:lnTo>
                    <a:pt x="6687820" y="2834640"/>
                  </a:lnTo>
                  <a:lnTo>
                    <a:pt x="6687820" y="2847340"/>
                  </a:lnTo>
                  <a:lnTo>
                    <a:pt x="6675120" y="2847340"/>
                  </a:lnTo>
                  <a:lnTo>
                    <a:pt x="6675120" y="12700"/>
                  </a:lnTo>
                  <a:lnTo>
                    <a:pt x="6687820" y="12700"/>
                  </a:lnTo>
                  <a:lnTo>
                    <a:pt x="6687820" y="25400"/>
                  </a:lnTo>
                  <a:lnTo>
                    <a:pt x="12700" y="25400"/>
                  </a:lnTo>
                  <a:close/>
                </a:path>
              </a:pathLst>
            </a:custGeom>
            <a:solidFill>
              <a:srgbClr val="DDE8E1"/>
            </a:solidFill>
          </p:spPr>
        </p:sp>
        <p:sp>
          <p:nvSpPr>
            <p:cNvPr name="TextBox 24" id="24"/>
            <p:cNvSpPr txBox="true"/>
            <p:nvPr/>
          </p:nvSpPr>
          <p:spPr>
            <a:xfrm>
              <a:off x="0" y="-9525"/>
              <a:ext cx="6700520" cy="286956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Công nghệ giao diện</a:t>
              </a:r>
            </a:p>
            <a:p>
              <a:pPr algn="l">
                <a:lnSpc>
                  <a:spcPts val="2250"/>
                </a:lnSpc>
              </a:pPr>
              <a:r>
                <a:rPr lang="en-US" sz="1875">
                  <a:solidFill>
                    <a:srgbClr val="283A33"/>
                  </a:solidFill>
                  <a:latin typeface="Arial"/>
                  <a:ea typeface="Arial"/>
                  <a:cs typeface="Arial"/>
                  <a:sym typeface="Arial"/>
                </a:rPr>
                <a:t>HTML5, CSS3, Bootstrap 5, Bootstrap Icons, Google Fonts và JavaScript nhúng trong từng trang.</a:t>
              </a:r>
            </a:p>
          </p:txBody>
        </p:sp>
      </p:grpSp>
      <p:grpSp>
        <p:nvGrpSpPr>
          <p:cNvPr name="Group 25" id="25"/>
          <p:cNvGrpSpPr/>
          <p:nvPr/>
        </p:nvGrpSpPr>
        <p:grpSpPr>
          <a:xfrm rot="0">
            <a:off x="6642735" y="2322195"/>
            <a:ext cx="5025390" cy="2145030"/>
            <a:chOff x="0" y="0"/>
            <a:chExt cx="6700520" cy="2860040"/>
          </a:xfrm>
        </p:grpSpPr>
        <p:sp>
          <p:nvSpPr>
            <p:cNvPr name="Freeform 26" id="26"/>
            <p:cNvSpPr/>
            <p:nvPr/>
          </p:nvSpPr>
          <p:spPr>
            <a:xfrm flipH="false" flipV="false" rot="0">
              <a:off x="12700" y="12700"/>
              <a:ext cx="6675120" cy="2834640"/>
            </a:xfrm>
            <a:custGeom>
              <a:avLst/>
              <a:gdLst/>
              <a:ahLst/>
              <a:cxnLst/>
              <a:rect r="r" b="b" t="t" l="l"/>
              <a:pathLst>
                <a:path h="2834640" w="6675120">
                  <a:moveTo>
                    <a:pt x="0" y="0"/>
                  </a:moveTo>
                  <a:lnTo>
                    <a:pt x="6675120" y="0"/>
                  </a:lnTo>
                  <a:lnTo>
                    <a:pt x="6675120" y="2834640"/>
                  </a:lnTo>
                  <a:lnTo>
                    <a:pt x="0" y="2834640"/>
                  </a:lnTo>
                  <a:close/>
                </a:path>
              </a:pathLst>
            </a:custGeom>
            <a:solidFill>
              <a:srgbClr val="FFFDF8"/>
            </a:solidFill>
          </p:spPr>
        </p:sp>
        <p:sp>
          <p:nvSpPr>
            <p:cNvPr name="Freeform 27" id="27"/>
            <p:cNvSpPr/>
            <p:nvPr/>
          </p:nvSpPr>
          <p:spPr>
            <a:xfrm flipH="false" flipV="false" rot="0">
              <a:off x="0" y="0"/>
              <a:ext cx="6700520" cy="2860040"/>
            </a:xfrm>
            <a:custGeom>
              <a:avLst/>
              <a:gdLst/>
              <a:ahLst/>
              <a:cxnLst/>
              <a:rect r="r" b="b" t="t" l="l"/>
              <a:pathLst>
                <a:path h="2860040" w="6700520">
                  <a:moveTo>
                    <a:pt x="12700" y="0"/>
                  </a:moveTo>
                  <a:lnTo>
                    <a:pt x="6687820" y="0"/>
                  </a:lnTo>
                  <a:cubicBezTo>
                    <a:pt x="6694805" y="0"/>
                    <a:pt x="6700520" y="5715"/>
                    <a:pt x="6700520" y="12700"/>
                  </a:cubicBezTo>
                  <a:lnTo>
                    <a:pt x="6700520" y="2847340"/>
                  </a:lnTo>
                  <a:cubicBezTo>
                    <a:pt x="6700520" y="2854325"/>
                    <a:pt x="6694805" y="2860040"/>
                    <a:pt x="6687820" y="2860040"/>
                  </a:cubicBezTo>
                  <a:lnTo>
                    <a:pt x="12700" y="2860040"/>
                  </a:lnTo>
                  <a:cubicBezTo>
                    <a:pt x="5715" y="2860040"/>
                    <a:pt x="0" y="2854325"/>
                    <a:pt x="0" y="2847340"/>
                  </a:cubicBezTo>
                  <a:lnTo>
                    <a:pt x="0" y="12700"/>
                  </a:lnTo>
                  <a:cubicBezTo>
                    <a:pt x="0" y="5715"/>
                    <a:pt x="5715" y="0"/>
                    <a:pt x="12700" y="0"/>
                  </a:cubicBezTo>
                  <a:moveTo>
                    <a:pt x="12700" y="25400"/>
                  </a:moveTo>
                  <a:lnTo>
                    <a:pt x="12700" y="12700"/>
                  </a:lnTo>
                  <a:lnTo>
                    <a:pt x="25400" y="12700"/>
                  </a:lnTo>
                  <a:lnTo>
                    <a:pt x="25400" y="2847340"/>
                  </a:lnTo>
                  <a:lnTo>
                    <a:pt x="12700" y="2847340"/>
                  </a:lnTo>
                  <a:lnTo>
                    <a:pt x="12700" y="2834640"/>
                  </a:lnTo>
                  <a:lnTo>
                    <a:pt x="6687820" y="2834640"/>
                  </a:lnTo>
                  <a:lnTo>
                    <a:pt x="6687820" y="2847340"/>
                  </a:lnTo>
                  <a:lnTo>
                    <a:pt x="6675120" y="2847340"/>
                  </a:lnTo>
                  <a:lnTo>
                    <a:pt x="6675120" y="12700"/>
                  </a:lnTo>
                  <a:lnTo>
                    <a:pt x="6687820" y="12700"/>
                  </a:lnTo>
                  <a:lnTo>
                    <a:pt x="6687820" y="25400"/>
                  </a:lnTo>
                  <a:lnTo>
                    <a:pt x="12700" y="25400"/>
                  </a:lnTo>
                  <a:close/>
                </a:path>
              </a:pathLst>
            </a:custGeom>
            <a:solidFill>
              <a:srgbClr val="DDE8E1"/>
            </a:solidFill>
          </p:spPr>
        </p:sp>
        <p:sp>
          <p:nvSpPr>
            <p:cNvPr name="TextBox 28" id="28"/>
            <p:cNvSpPr txBox="true"/>
            <p:nvPr/>
          </p:nvSpPr>
          <p:spPr>
            <a:xfrm>
              <a:off x="0" y="-9525"/>
              <a:ext cx="6700520" cy="286956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Tổ chức thư mục</a:t>
              </a:r>
            </a:p>
            <a:p>
              <a:pPr algn="l">
                <a:lnSpc>
                  <a:spcPts val="2250"/>
                </a:lnSpc>
              </a:pPr>
              <a:r>
                <a:rPr lang="en-US" sz="1875">
                  <a:solidFill>
                    <a:srgbClr val="283A33"/>
                  </a:solidFill>
                  <a:latin typeface="Arial"/>
                  <a:ea typeface="Arial"/>
                  <a:cs typeface="Arial"/>
                  <a:sym typeface="Arial"/>
                </a:rPr>
                <a:t>html/: home, about, products, product detail, cart, login, rental, invoice</a:t>
              </a:r>
            </a:p>
            <a:p>
              <a:pPr algn="l">
                <a:lnSpc>
                  <a:spcPts val="2250"/>
                </a:lnSpc>
              </a:pPr>
              <a:r>
                <a:rPr lang="en-US" sz="1875">
                  <a:solidFill>
                    <a:srgbClr val="283A33"/>
                  </a:solidFill>
                  <a:latin typeface="Arial"/>
                  <a:ea typeface="Arial"/>
                  <a:cs typeface="Arial"/>
                  <a:sym typeface="Arial"/>
                </a:rPr>
                <a:t>img/: ảnh sản phẩm và banner minh họa.</a:t>
              </a:r>
            </a:p>
          </p:txBody>
        </p:sp>
      </p:grpSp>
      <p:grpSp>
        <p:nvGrpSpPr>
          <p:cNvPr name="Group 29" id="29"/>
          <p:cNvGrpSpPr/>
          <p:nvPr/>
        </p:nvGrpSpPr>
        <p:grpSpPr>
          <a:xfrm rot="0">
            <a:off x="12266295" y="2322195"/>
            <a:ext cx="5025390" cy="2145030"/>
            <a:chOff x="0" y="0"/>
            <a:chExt cx="6700520" cy="2860040"/>
          </a:xfrm>
        </p:grpSpPr>
        <p:sp>
          <p:nvSpPr>
            <p:cNvPr name="Freeform 30" id="30"/>
            <p:cNvSpPr/>
            <p:nvPr/>
          </p:nvSpPr>
          <p:spPr>
            <a:xfrm flipH="false" flipV="false" rot="0">
              <a:off x="12700" y="12700"/>
              <a:ext cx="6675120" cy="2834640"/>
            </a:xfrm>
            <a:custGeom>
              <a:avLst/>
              <a:gdLst/>
              <a:ahLst/>
              <a:cxnLst/>
              <a:rect r="r" b="b" t="t" l="l"/>
              <a:pathLst>
                <a:path h="2834640" w="6675120">
                  <a:moveTo>
                    <a:pt x="0" y="0"/>
                  </a:moveTo>
                  <a:lnTo>
                    <a:pt x="6675120" y="0"/>
                  </a:lnTo>
                  <a:lnTo>
                    <a:pt x="6675120" y="2834640"/>
                  </a:lnTo>
                  <a:lnTo>
                    <a:pt x="0" y="2834640"/>
                  </a:lnTo>
                  <a:close/>
                </a:path>
              </a:pathLst>
            </a:custGeom>
            <a:solidFill>
              <a:srgbClr val="FFFDF8"/>
            </a:solidFill>
          </p:spPr>
        </p:sp>
        <p:sp>
          <p:nvSpPr>
            <p:cNvPr name="Freeform 31" id="31"/>
            <p:cNvSpPr/>
            <p:nvPr/>
          </p:nvSpPr>
          <p:spPr>
            <a:xfrm flipH="false" flipV="false" rot="0">
              <a:off x="0" y="0"/>
              <a:ext cx="6700520" cy="2860040"/>
            </a:xfrm>
            <a:custGeom>
              <a:avLst/>
              <a:gdLst/>
              <a:ahLst/>
              <a:cxnLst/>
              <a:rect r="r" b="b" t="t" l="l"/>
              <a:pathLst>
                <a:path h="2860040" w="6700520">
                  <a:moveTo>
                    <a:pt x="12700" y="0"/>
                  </a:moveTo>
                  <a:lnTo>
                    <a:pt x="6687820" y="0"/>
                  </a:lnTo>
                  <a:cubicBezTo>
                    <a:pt x="6694805" y="0"/>
                    <a:pt x="6700520" y="5715"/>
                    <a:pt x="6700520" y="12700"/>
                  </a:cubicBezTo>
                  <a:lnTo>
                    <a:pt x="6700520" y="2847340"/>
                  </a:lnTo>
                  <a:cubicBezTo>
                    <a:pt x="6700520" y="2854325"/>
                    <a:pt x="6694805" y="2860040"/>
                    <a:pt x="6687820" y="2860040"/>
                  </a:cubicBezTo>
                  <a:lnTo>
                    <a:pt x="12700" y="2860040"/>
                  </a:lnTo>
                  <a:cubicBezTo>
                    <a:pt x="5715" y="2860040"/>
                    <a:pt x="0" y="2854325"/>
                    <a:pt x="0" y="2847340"/>
                  </a:cubicBezTo>
                  <a:lnTo>
                    <a:pt x="0" y="12700"/>
                  </a:lnTo>
                  <a:cubicBezTo>
                    <a:pt x="0" y="5715"/>
                    <a:pt x="5715" y="0"/>
                    <a:pt x="12700" y="0"/>
                  </a:cubicBezTo>
                  <a:moveTo>
                    <a:pt x="12700" y="25400"/>
                  </a:moveTo>
                  <a:lnTo>
                    <a:pt x="12700" y="12700"/>
                  </a:lnTo>
                  <a:lnTo>
                    <a:pt x="25400" y="12700"/>
                  </a:lnTo>
                  <a:lnTo>
                    <a:pt x="25400" y="2847340"/>
                  </a:lnTo>
                  <a:lnTo>
                    <a:pt x="12700" y="2847340"/>
                  </a:lnTo>
                  <a:lnTo>
                    <a:pt x="12700" y="2834640"/>
                  </a:lnTo>
                  <a:lnTo>
                    <a:pt x="6687820" y="2834640"/>
                  </a:lnTo>
                  <a:lnTo>
                    <a:pt x="6687820" y="2847340"/>
                  </a:lnTo>
                  <a:lnTo>
                    <a:pt x="6675120" y="2847340"/>
                  </a:lnTo>
                  <a:lnTo>
                    <a:pt x="6675120" y="12700"/>
                  </a:lnTo>
                  <a:lnTo>
                    <a:pt x="6687820" y="12700"/>
                  </a:lnTo>
                  <a:lnTo>
                    <a:pt x="6687820" y="25400"/>
                  </a:lnTo>
                  <a:lnTo>
                    <a:pt x="12700" y="25400"/>
                  </a:lnTo>
                  <a:close/>
                </a:path>
              </a:pathLst>
            </a:custGeom>
            <a:solidFill>
              <a:srgbClr val="DDE8E1"/>
            </a:solidFill>
          </p:spPr>
        </p:sp>
        <p:sp>
          <p:nvSpPr>
            <p:cNvPr name="TextBox 32" id="32"/>
            <p:cNvSpPr txBox="true"/>
            <p:nvPr/>
          </p:nvSpPr>
          <p:spPr>
            <a:xfrm>
              <a:off x="0" y="-9525"/>
              <a:ext cx="6700520" cy="286956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Dữ liệu mô phỏng</a:t>
              </a:r>
            </a:p>
            <a:p>
              <a:pPr algn="l">
                <a:lnSpc>
                  <a:spcPts val="2250"/>
                </a:lnSpc>
              </a:pPr>
              <a:r>
                <a:rPr lang="en-US" sz="1875">
                  <a:solidFill>
                    <a:srgbClr val="283A33"/>
                  </a:solidFill>
                  <a:latin typeface="Arial"/>
                  <a:ea typeface="Arial"/>
                  <a:cs typeface="Arial"/>
                  <a:sym typeface="Arial"/>
                </a:rPr>
                <a:t>Các thông tin sản phẩm, giá, mô tả và trạng thái được phục vụ cho mục tiêu trình diễn front-end.</a:t>
              </a:r>
            </a:p>
          </p:txBody>
        </p:sp>
      </p:grpSp>
      <p:sp>
        <p:nvSpPr>
          <p:cNvPr name="TextBox 33" id="33"/>
          <p:cNvSpPr txBox="true"/>
          <p:nvPr/>
        </p:nvSpPr>
        <p:spPr>
          <a:xfrm rot="0">
            <a:off x="1028700" y="5133975"/>
            <a:ext cx="15498061" cy="771525"/>
          </a:xfrm>
          <a:prstGeom prst="rect">
            <a:avLst/>
          </a:prstGeom>
        </p:spPr>
        <p:txBody>
          <a:bodyPr anchor="t" rtlCol="false" tIns="0" lIns="0" bIns="0" rIns="0">
            <a:spAutoFit/>
          </a:bodyPr>
          <a:lstStyle/>
          <a:p>
            <a:pPr algn="l">
              <a:lnSpc>
                <a:spcPts val="3060"/>
              </a:lnSpc>
            </a:pPr>
            <a:r>
              <a:rPr lang="en-US" sz="2550">
                <a:solidFill>
                  <a:srgbClr val="283A33"/>
                </a:solidFill>
                <a:latin typeface="Arial"/>
                <a:ea typeface="Arial"/>
                <a:cs typeface="Arial"/>
                <a:sym typeface="Arial"/>
              </a:rPr>
              <a:t>• Website chưa phải hệ thống thương mại điện tử hoàn chỉnh.</a:t>
            </a:r>
          </a:p>
          <a:p>
            <a:pPr algn="l">
              <a:lnSpc>
                <a:spcPts val="3060"/>
              </a:lnSpc>
            </a:pPr>
            <a:r>
              <a:rPr lang="en-US" sz="2550">
                <a:solidFill>
                  <a:srgbClr val="283A33"/>
                </a:solidFill>
                <a:latin typeface="Arial"/>
                <a:ea typeface="Arial"/>
                <a:cs typeface="Arial"/>
                <a:sym typeface="Arial"/>
              </a:rPr>
              <a:t>• Phần quan trọng của là bố cục, điều hướng và mô phỏng quy trình.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3. Giao diện chính</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Trang chủ: giới thiệu thương hiệu và sản phẩm nổi bật</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07</a:t>
              </a:r>
            </a:p>
          </p:txBody>
        </p:sp>
      </p:grpSp>
      <p:grpSp>
        <p:nvGrpSpPr>
          <p:cNvPr name="Group 21" id="21"/>
          <p:cNvGrpSpPr/>
          <p:nvPr/>
        </p:nvGrpSpPr>
        <p:grpSpPr>
          <a:xfrm rot="0">
            <a:off x="9231887" y="5609025"/>
            <a:ext cx="7357110" cy="1596390"/>
            <a:chOff x="0" y="0"/>
            <a:chExt cx="9809480" cy="2128520"/>
          </a:xfrm>
        </p:grpSpPr>
        <p:sp>
          <p:nvSpPr>
            <p:cNvPr name="Freeform 22" id="22"/>
            <p:cNvSpPr/>
            <p:nvPr/>
          </p:nvSpPr>
          <p:spPr>
            <a:xfrm flipH="false" flipV="false" rot="0">
              <a:off x="12700" y="12700"/>
              <a:ext cx="9784080" cy="2103120"/>
            </a:xfrm>
            <a:custGeom>
              <a:avLst/>
              <a:gdLst/>
              <a:ahLst/>
              <a:cxnLst/>
              <a:rect r="r" b="b" t="t" l="l"/>
              <a:pathLst>
                <a:path h="2103120" w="9784080">
                  <a:moveTo>
                    <a:pt x="0" y="0"/>
                  </a:moveTo>
                  <a:lnTo>
                    <a:pt x="9784080" y="0"/>
                  </a:lnTo>
                  <a:lnTo>
                    <a:pt x="9784080" y="2103120"/>
                  </a:lnTo>
                  <a:lnTo>
                    <a:pt x="0" y="2103120"/>
                  </a:lnTo>
                  <a:close/>
                </a:path>
              </a:pathLst>
            </a:custGeom>
            <a:solidFill>
              <a:srgbClr val="E8F2EC"/>
            </a:solidFill>
          </p:spPr>
        </p:sp>
        <p:sp>
          <p:nvSpPr>
            <p:cNvPr name="Freeform 23" id="23"/>
            <p:cNvSpPr/>
            <p:nvPr/>
          </p:nvSpPr>
          <p:spPr>
            <a:xfrm flipH="false" flipV="false" rot="0">
              <a:off x="0" y="0"/>
              <a:ext cx="9809480" cy="2128520"/>
            </a:xfrm>
            <a:custGeom>
              <a:avLst/>
              <a:gdLst/>
              <a:ahLst/>
              <a:cxnLst/>
              <a:rect r="r" b="b" t="t" l="l"/>
              <a:pathLst>
                <a:path h="2128520" w="9809480">
                  <a:moveTo>
                    <a:pt x="12700" y="0"/>
                  </a:moveTo>
                  <a:lnTo>
                    <a:pt x="9796780" y="0"/>
                  </a:lnTo>
                  <a:cubicBezTo>
                    <a:pt x="9803765" y="0"/>
                    <a:pt x="9809480" y="5715"/>
                    <a:pt x="9809480" y="12700"/>
                  </a:cubicBezTo>
                  <a:lnTo>
                    <a:pt x="9809480" y="2115820"/>
                  </a:lnTo>
                  <a:cubicBezTo>
                    <a:pt x="9809480" y="2122805"/>
                    <a:pt x="9803765" y="2128520"/>
                    <a:pt x="9796780" y="2128520"/>
                  </a:cubicBezTo>
                  <a:lnTo>
                    <a:pt x="12700" y="2128520"/>
                  </a:lnTo>
                  <a:cubicBezTo>
                    <a:pt x="5715" y="2128520"/>
                    <a:pt x="0" y="2122805"/>
                    <a:pt x="0" y="2115820"/>
                  </a:cubicBezTo>
                  <a:lnTo>
                    <a:pt x="0" y="12700"/>
                  </a:lnTo>
                  <a:cubicBezTo>
                    <a:pt x="0" y="5715"/>
                    <a:pt x="5715" y="0"/>
                    <a:pt x="12700" y="0"/>
                  </a:cubicBezTo>
                  <a:moveTo>
                    <a:pt x="12700" y="25400"/>
                  </a:moveTo>
                  <a:lnTo>
                    <a:pt x="12700" y="12700"/>
                  </a:lnTo>
                  <a:lnTo>
                    <a:pt x="25400" y="12700"/>
                  </a:lnTo>
                  <a:lnTo>
                    <a:pt x="25400" y="2115820"/>
                  </a:lnTo>
                  <a:lnTo>
                    <a:pt x="12700" y="2115820"/>
                  </a:lnTo>
                  <a:lnTo>
                    <a:pt x="12700" y="2103120"/>
                  </a:lnTo>
                  <a:lnTo>
                    <a:pt x="9796780" y="2103120"/>
                  </a:lnTo>
                  <a:lnTo>
                    <a:pt x="9796780" y="2115820"/>
                  </a:lnTo>
                  <a:lnTo>
                    <a:pt x="9784080" y="2115820"/>
                  </a:lnTo>
                  <a:lnTo>
                    <a:pt x="9784080" y="12700"/>
                  </a:lnTo>
                  <a:lnTo>
                    <a:pt x="9796780" y="12700"/>
                  </a:lnTo>
                  <a:lnTo>
                    <a:pt x="9796780" y="25400"/>
                  </a:lnTo>
                  <a:lnTo>
                    <a:pt x="12700" y="25400"/>
                  </a:lnTo>
                  <a:close/>
                </a:path>
              </a:pathLst>
            </a:custGeom>
            <a:solidFill>
              <a:srgbClr val="DDE8E1"/>
            </a:solidFill>
          </p:spPr>
        </p:sp>
        <p:sp>
          <p:nvSpPr>
            <p:cNvPr name="TextBox 24" id="24"/>
            <p:cNvSpPr txBox="true"/>
            <p:nvPr/>
          </p:nvSpPr>
          <p:spPr>
            <a:xfrm>
              <a:off x="0" y="-9525"/>
              <a:ext cx="9809480" cy="213804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Nhận xét của nhóm</a:t>
              </a:r>
            </a:p>
            <a:p>
              <a:pPr algn="l">
                <a:lnSpc>
                  <a:spcPts val="2250"/>
                </a:lnSpc>
              </a:pPr>
              <a:r>
                <a:rPr lang="en-US" sz="1875">
                  <a:solidFill>
                    <a:srgbClr val="283A33"/>
                  </a:solidFill>
                  <a:latin typeface="Arial"/>
                  <a:ea typeface="Arial"/>
                  <a:cs typeface="Arial"/>
                  <a:sym typeface="Arial"/>
                </a:rPr>
                <a:t>Bố cục trang chủ khá đầy đủ, tuy nhiên có thể cân chỉnh lại khoảng trắng và chất lượng ảnh để giao diện chuyên nghiệp hơn.</a:t>
              </a:r>
            </a:p>
          </p:txBody>
        </p:sp>
      </p:grpSp>
      <p:sp>
        <p:nvSpPr>
          <p:cNvPr name="Freeform 25" id="25"/>
          <p:cNvSpPr/>
          <p:nvPr/>
        </p:nvSpPr>
        <p:spPr>
          <a:xfrm flipH="false" flipV="false" rot="0">
            <a:off x="882015" y="2071961"/>
            <a:ext cx="8261756" cy="7074129"/>
          </a:xfrm>
          <a:custGeom>
            <a:avLst/>
            <a:gdLst/>
            <a:ahLst/>
            <a:cxnLst/>
            <a:rect r="r" b="b" t="t" l="l"/>
            <a:pathLst>
              <a:path h="7074129" w="8261756">
                <a:moveTo>
                  <a:pt x="0" y="0"/>
                </a:moveTo>
                <a:lnTo>
                  <a:pt x="8261756" y="0"/>
                </a:lnTo>
                <a:lnTo>
                  <a:pt x="8261756" y="7074129"/>
                </a:lnTo>
                <a:lnTo>
                  <a:pt x="0" y="7074129"/>
                </a:lnTo>
                <a:lnTo>
                  <a:pt x="0" y="0"/>
                </a:lnTo>
                <a:close/>
              </a:path>
            </a:pathLst>
          </a:custGeom>
          <a:blipFill>
            <a:blip r:embed="rId4"/>
            <a:stretch>
              <a:fillRect l="0" t="0" r="0" b="0"/>
            </a:stretch>
          </a:blipFill>
        </p:spPr>
      </p:sp>
      <p:sp>
        <p:nvSpPr>
          <p:cNvPr name="TextBox 26" id="26"/>
          <p:cNvSpPr txBox="true"/>
          <p:nvPr/>
        </p:nvSpPr>
        <p:spPr>
          <a:xfrm rot="0">
            <a:off x="9231887" y="2365948"/>
            <a:ext cx="8022841" cy="2295525"/>
          </a:xfrm>
          <a:prstGeom prst="rect">
            <a:avLst/>
          </a:prstGeom>
        </p:spPr>
        <p:txBody>
          <a:bodyPr anchor="t" rtlCol="false" tIns="0" lIns="0" bIns="0" rIns="0">
            <a:spAutoFit/>
          </a:bodyPr>
          <a:lstStyle/>
          <a:p>
            <a:pPr algn="l">
              <a:lnSpc>
                <a:spcPts val="3060"/>
              </a:lnSpc>
            </a:pPr>
            <a:r>
              <a:rPr lang="en-US" sz="2550">
                <a:solidFill>
                  <a:srgbClr val="283A33"/>
                </a:solidFill>
                <a:latin typeface="Arial"/>
                <a:ea typeface="Arial"/>
                <a:cs typeface="Arial"/>
                <a:sym typeface="Arial"/>
              </a:rPr>
              <a:t>• Trang chủ giúp tạo ấn tượng ban đầu về thương hiệu Vision-Print VN.</a:t>
            </a:r>
          </a:p>
          <a:p>
            <a:pPr algn="l">
              <a:lnSpc>
                <a:spcPts val="3060"/>
              </a:lnSpc>
            </a:pPr>
            <a:r>
              <a:rPr lang="en-US" sz="2550">
                <a:solidFill>
                  <a:srgbClr val="283A33"/>
                </a:solidFill>
                <a:latin typeface="Arial"/>
                <a:ea typeface="Arial"/>
                <a:cs typeface="Arial"/>
                <a:sym typeface="Arial"/>
              </a:rPr>
              <a:t>• Có thanh điều hướng, hotline, khu vực hero và nhóm sản phẩm nổi bật.</a:t>
            </a:r>
          </a:p>
          <a:p>
            <a:pPr algn="l">
              <a:lnSpc>
                <a:spcPts val="3060"/>
              </a:lnSpc>
            </a:pPr>
            <a:r>
              <a:rPr lang="en-US" sz="2550">
                <a:solidFill>
                  <a:srgbClr val="283A33"/>
                </a:solidFill>
                <a:latin typeface="Arial"/>
                <a:ea typeface="Arial"/>
                <a:cs typeface="Arial"/>
                <a:sym typeface="Arial"/>
              </a:rPr>
              <a:t>• Các thành phần như badge NEW/HOT, giá và nút “Chi tiết” giúp người dùng ra quyết định nhanh hơn.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3. Giao diện chính</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Danh mục sản phẩm: tìm kiếm, lọc và so sánh nhanh</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08</a:t>
              </a:r>
            </a:p>
          </p:txBody>
        </p:sp>
      </p:grpSp>
      <p:grpSp>
        <p:nvGrpSpPr>
          <p:cNvPr name="Group 21" id="21"/>
          <p:cNvGrpSpPr/>
          <p:nvPr/>
        </p:nvGrpSpPr>
        <p:grpSpPr>
          <a:xfrm rot="0">
            <a:off x="10037445" y="4662869"/>
            <a:ext cx="3105150" cy="2007870"/>
            <a:chOff x="0" y="0"/>
            <a:chExt cx="4140200" cy="2677160"/>
          </a:xfrm>
        </p:grpSpPr>
        <p:sp>
          <p:nvSpPr>
            <p:cNvPr name="Freeform 22" id="22"/>
            <p:cNvSpPr/>
            <p:nvPr/>
          </p:nvSpPr>
          <p:spPr>
            <a:xfrm flipH="false" flipV="false" rot="0">
              <a:off x="12700" y="12700"/>
              <a:ext cx="4114800" cy="2651760"/>
            </a:xfrm>
            <a:custGeom>
              <a:avLst/>
              <a:gdLst/>
              <a:ahLst/>
              <a:cxnLst/>
              <a:rect r="r" b="b" t="t" l="l"/>
              <a:pathLst>
                <a:path h="2651760" w="4114800">
                  <a:moveTo>
                    <a:pt x="0" y="0"/>
                  </a:moveTo>
                  <a:lnTo>
                    <a:pt x="4114800" y="0"/>
                  </a:lnTo>
                  <a:lnTo>
                    <a:pt x="4114800" y="2651760"/>
                  </a:lnTo>
                  <a:lnTo>
                    <a:pt x="0" y="2651760"/>
                  </a:lnTo>
                  <a:close/>
                </a:path>
              </a:pathLst>
            </a:custGeom>
            <a:solidFill>
              <a:srgbClr val="FFFDF8"/>
            </a:solidFill>
          </p:spPr>
        </p:sp>
        <p:sp>
          <p:nvSpPr>
            <p:cNvPr name="Freeform 23" id="23"/>
            <p:cNvSpPr/>
            <p:nvPr/>
          </p:nvSpPr>
          <p:spPr>
            <a:xfrm flipH="false" flipV="false" rot="0">
              <a:off x="0" y="0"/>
              <a:ext cx="4140200" cy="2677160"/>
            </a:xfrm>
            <a:custGeom>
              <a:avLst/>
              <a:gdLst/>
              <a:ahLst/>
              <a:cxnLst/>
              <a:rect r="r" b="b" t="t" l="l"/>
              <a:pathLst>
                <a:path h="2677160" w="4140200">
                  <a:moveTo>
                    <a:pt x="12700" y="0"/>
                  </a:moveTo>
                  <a:lnTo>
                    <a:pt x="4127500" y="0"/>
                  </a:lnTo>
                  <a:cubicBezTo>
                    <a:pt x="4134485" y="0"/>
                    <a:pt x="4140200" y="5715"/>
                    <a:pt x="4140200" y="12700"/>
                  </a:cubicBezTo>
                  <a:lnTo>
                    <a:pt x="4140200" y="2664460"/>
                  </a:lnTo>
                  <a:cubicBezTo>
                    <a:pt x="4140200" y="2671445"/>
                    <a:pt x="4134485" y="2677160"/>
                    <a:pt x="4127500" y="2677160"/>
                  </a:cubicBezTo>
                  <a:lnTo>
                    <a:pt x="12700" y="2677160"/>
                  </a:lnTo>
                  <a:cubicBezTo>
                    <a:pt x="5715" y="2677160"/>
                    <a:pt x="0" y="2671445"/>
                    <a:pt x="0" y="2664460"/>
                  </a:cubicBezTo>
                  <a:lnTo>
                    <a:pt x="0" y="12700"/>
                  </a:lnTo>
                  <a:cubicBezTo>
                    <a:pt x="0" y="5715"/>
                    <a:pt x="5715" y="0"/>
                    <a:pt x="12700" y="0"/>
                  </a:cubicBezTo>
                  <a:moveTo>
                    <a:pt x="12700" y="25400"/>
                  </a:moveTo>
                  <a:lnTo>
                    <a:pt x="12700" y="12700"/>
                  </a:lnTo>
                  <a:lnTo>
                    <a:pt x="25400" y="12700"/>
                  </a:lnTo>
                  <a:lnTo>
                    <a:pt x="25400" y="2664460"/>
                  </a:lnTo>
                  <a:lnTo>
                    <a:pt x="12700" y="2664460"/>
                  </a:lnTo>
                  <a:lnTo>
                    <a:pt x="12700" y="2651760"/>
                  </a:lnTo>
                  <a:lnTo>
                    <a:pt x="4127500" y="2651760"/>
                  </a:lnTo>
                  <a:lnTo>
                    <a:pt x="4127500" y="2664460"/>
                  </a:lnTo>
                  <a:lnTo>
                    <a:pt x="4114800" y="2664460"/>
                  </a:lnTo>
                  <a:lnTo>
                    <a:pt x="4114800" y="12700"/>
                  </a:lnTo>
                  <a:lnTo>
                    <a:pt x="4127500" y="12700"/>
                  </a:lnTo>
                  <a:lnTo>
                    <a:pt x="4127500" y="25400"/>
                  </a:lnTo>
                  <a:lnTo>
                    <a:pt x="12700" y="25400"/>
                  </a:lnTo>
                  <a:close/>
                </a:path>
              </a:pathLst>
            </a:custGeom>
            <a:solidFill>
              <a:srgbClr val="DDE8E1"/>
            </a:solidFill>
          </p:spPr>
        </p:sp>
        <p:sp>
          <p:nvSpPr>
            <p:cNvPr name="TextBox 24" id="24"/>
            <p:cNvSpPr txBox="true"/>
            <p:nvPr/>
          </p:nvSpPr>
          <p:spPr>
            <a:xfrm>
              <a:off x="0" y="-9525"/>
              <a:ext cx="4140200" cy="268668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Thành phần chính</a:t>
              </a:r>
            </a:p>
            <a:p>
              <a:pPr algn="l">
                <a:lnSpc>
                  <a:spcPts val="2250"/>
                </a:lnSpc>
              </a:pPr>
              <a:r>
                <a:rPr lang="en-US" sz="1875">
                  <a:solidFill>
                    <a:srgbClr val="283A33"/>
                  </a:solidFill>
                  <a:latin typeface="Arial"/>
                  <a:ea typeface="Arial"/>
                  <a:cs typeface="Arial"/>
                  <a:sym typeface="Arial"/>
                </a:rPr>
                <a:t>Bộ lọc danh mục, bộ lọc thương hiệu, sắp xếp, lưới sản phẩm và nút xem chi tiết.</a:t>
              </a:r>
            </a:p>
          </p:txBody>
        </p:sp>
      </p:grpSp>
      <p:grpSp>
        <p:nvGrpSpPr>
          <p:cNvPr name="Group 25" id="25"/>
          <p:cNvGrpSpPr/>
          <p:nvPr/>
        </p:nvGrpSpPr>
        <p:grpSpPr>
          <a:xfrm rot="0">
            <a:off x="13696950" y="4662869"/>
            <a:ext cx="3105150" cy="2007870"/>
            <a:chOff x="0" y="0"/>
            <a:chExt cx="4140200" cy="2677160"/>
          </a:xfrm>
        </p:grpSpPr>
        <p:sp>
          <p:nvSpPr>
            <p:cNvPr name="Freeform 26" id="26"/>
            <p:cNvSpPr/>
            <p:nvPr/>
          </p:nvSpPr>
          <p:spPr>
            <a:xfrm flipH="false" flipV="false" rot="0">
              <a:off x="12700" y="12700"/>
              <a:ext cx="4114800" cy="2651760"/>
            </a:xfrm>
            <a:custGeom>
              <a:avLst/>
              <a:gdLst/>
              <a:ahLst/>
              <a:cxnLst/>
              <a:rect r="r" b="b" t="t" l="l"/>
              <a:pathLst>
                <a:path h="2651760" w="4114800">
                  <a:moveTo>
                    <a:pt x="0" y="0"/>
                  </a:moveTo>
                  <a:lnTo>
                    <a:pt x="4114800" y="0"/>
                  </a:lnTo>
                  <a:lnTo>
                    <a:pt x="4114800" y="2651760"/>
                  </a:lnTo>
                  <a:lnTo>
                    <a:pt x="0" y="2651760"/>
                  </a:lnTo>
                  <a:close/>
                </a:path>
              </a:pathLst>
            </a:custGeom>
            <a:solidFill>
              <a:srgbClr val="FFFDF8"/>
            </a:solidFill>
          </p:spPr>
        </p:sp>
        <p:sp>
          <p:nvSpPr>
            <p:cNvPr name="Freeform 27" id="27"/>
            <p:cNvSpPr/>
            <p:nvPr/>
          </p:nvSpPr>
          <p:spPr>
            <a:xfrm flipH="false" flipV="false" rot="0">
              <a:off x="0" y="0"/>
              <a:ext cx="4140200" cy="2677160"/>
            </a:xfrm>
            <a:custGeom>
              <a:avLst/>
              <a:gdLst/>
              <a:ahLst/>
              <a:cxnLst/>
              <a:rect r="r" b="b" t="t" l="l"/>
              <a:pathLst>
                <a:path h="2677160" w="4140200">
                  <a:moveTo>
                    <a:pt x="12700" y="0"/>
                  </a:moveTo>
                  <a:lnTo>
                    <a:pt x="4127500" y="0"/>
                  </a:lnTo>
                  <a:cubicBezTo>
                    <a:pt x="4134485" y="0"/>
                    <a:pt x="4140200" y="5715"/>
                    <a:pt x="4140200" y="12700"/>
                  </a:cubicBezTo>
                  <a:lnTo>
                    <a:pt x="4140200" y="2664460"/>
                  </a:lnTo>
                  <a:cubicBezTo>
                    <a:pt x="4140200" y="2671445"/>
                    <a:pt x="4134485" y="2677160"/>
                    <a:pt x="4127500" y="2677160"/>
                  </a:cubicBezTo>
                  <a:lnTo>
                    <a:pt x="12700" y="2677160"/>
                  </a:lnTo>
                  <a:cubicBezTo>
                    <a:pt x="5715" y="2677160"/>
                    <a:pt x="0" y="2671445"/>
                    <a:pt x="0" y="2664460"/>
                  </a:cubicBezTo>
                  <a:lnTo>
                    <a:pt x="0" y="12700"/>
                  </a:lnTo>
                  <a:cubicBezTo>
                    <a:pt x="0" y="5715"/>
                    <a:pt x="5715" y="0"/>
                    <a:pt x="12700" y="0"/>
                  </a:cubicBezTo>
                  <a:moveTo>
                    <a:pt x="12700" y="25400"/>
                  </a:moveTo>
                  <a:lnTo>
                    <a:pt x="12700" y="12700"/>
                  </a:lnTo>
                  <a:lnTo>
                    <a:pt x="25400" y="12700"/>
                  </a:lnTo>
                  <a:lnTo>
                    <a:pt x="25400" y="2664460"/>
                  </a:lnTo>
                  <a:lnTo>
                    <a:pt x="12700" y="2664460"/>
                  </a:lnTo>
                  <a:lnTo>
                    <a:pt x="12700" y="2651760"/>
                  </a:lnTo>
                  <a:lnTo>
                    <a:pt x="4127500" y="2651760"/>
                  </a:lnTo>
                  <a:lnTo>
                    <a:pt x="4127500" y="2664460"/>
                  </a:lnTo>
                  <a:lnTo>
                    <a:pt x="4114800" y="2664460"/>
                  </a:lnTo>
                  <a:lnTo>
                    <a:pt x="4114800" y="12700"/>
                  </a:lnTo>
                  <a:lnTo>
                    <a:pt x="4127500" y="12700"/>
                  </a:lnTo>
                  <a:lnTo>
                    <a:pt x="4127500" y="25400"/>
                  </a:lnTo>
                  <a:lnTo>
                    <a:pt x="12700" y="25400"/>
                  </a:lnTo>
                  <a:close/>
                </a:path>
              </a:pathLst>
            </a:custGeom>
            <a:solidFill>
              <a:srgbClr val="DDE8E1"/>
            </a:solidFill>
          </p:spPr>
        </p:sp>
        <p:sp>
          <p:nvSpPr>
            <p:cNvPr name="TextBox 28" id="28"/>
            <p:cNvSpPr txBox="true"/>
            <p:nvPr/>
          </p:nvSpPr>
          <p:spPr>
            <a:xfrm>
              <a:off x="0" y="-9525"/>
              <a:ext cx="4140200" cy="268668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Ý nghĩa UX</a:t>
              </a:r>
            </a:p>
            <a:p>
              <a:pPr algn="l">
                <a:lnSpc>
                  <a:spcPts val="2250"/>
                </a:lnSpc>
              </a:pPr>
              <a:r>
                <a:rPr lang="en-US" sz="1875">
                  <a:solidFill>
                    <a:srgbClr val="283A33"/>
                  </a:solidFill>
                  <a:latin typeface="Arial"/>
                  <a:ea typeface="Arial"/>
                  <a:cs typeface="Arial"/>
                  <a:sym typeface="Arial"/>
                </a:rPr>
                <a:t>Giảm thời gian tìm sản phẩm, hỗ trợ người dùng so sánh nhanh trước khi đi vào trang chi tiết.</a:t>
              </a:r>
            </a:p>
          </p:txBody>
        </p:sp>
      </p:grpSp>
      <p:grpSp>
        <p:nvGrpSpPr>
          <p:cNvPr name="Group 29" id="29"/>
          <p:cNvGrpSpPr/>
          <p:nvPr/>
        </p:nvGrpSpPr>
        <p:grpSpPr>
          <a:xfrm rot="0">
            <a:off x="10081765" y="7243159"/>
            <a:ext cx="6504013" cy="795561"/>
            <a:chOff x="0" y="0"/>
            <a:chExt cx="8672017" cy="1060748"/>
          </a:xfrm>
        </p:grpSpPr>
        <p:sp>
          <p:nvSpPr>
            <p:cNvPr name="Freeform 30" id="30"/>
            <p:cNvSpPr/>
            <p:nvPr/>
          </p:nvSpPr>
          <p:spPr>
            <a:xfrm flipH="false" flipV="false" rot="0">
              <a:off x="0" y="0"/>
              <a:ext cx="8672017" cy="1060748"/>
            </a:xfrm>
            <a:custGeom>
              <a:avLst/>
              <a:gdLst/>
              <a:ahLst/>
              <a:cxnLst/>
              <a:rect r="r" b="b" t="t" l="l"/>
              <a:pathLst>
                <a:path h="1060748" w="8672017">
                  <a:moveTo>
                    <a:pt x="0" y="0"/>
                  </a:moveTo>
                  <a:lnTo>
                    <a:pt x="8672017" y="0"/>
                  </a:lnTo>
                  <a:lnTo>
                    <a:pt x="8672017" y="1060748"/>
                  </a:lnTo>
                  <a:lnTo>
                    <a:pt x="0" y="1060748"/>
                  </a:lnTo>
                  <a:close/>
                </a:path>
              </a:pathLst>
            </a:custGeom>
            <a:solidFill>
              <a:srgbClr val="E8F2EC"/>
            </a:solidFill>
          </p:spPr>
        </p:sp>
        <p:sp>
          <p:nvSpPr>
            <p:cNvPr name="TextBox 31" id="31"/>
            <p:cNvSpPr txBox="true"/>
            <p:nvPr/>
          </p:nvSpPr>
          <p:spPr>
            <a:xfrm>
              <a:off x="0" y="-9525"/>
              <a:ext cx="8672017" cy="1070273"/>
            </a:xfrm>
            <a:prstGeom prst="rect">
              <a:avLst/>
            </a:prstGeom>
          </p:spPr>
          <p:txBody>
            <a:bodyPr anchor="ctr" rtlCol="false" tIns="50800" lIns="50800" bIns="50800" rIns="50800"/>
            <a:lstStyle/>
            <a:p>
              <a:pPr algn="ctr">
                <a:lnSpc>
                  <a:spcPts val="2400"/>
                </a:lnSpc>
              </a:pPr>
              <a:r>
                <a:rPr lang="en-US" sz="2000" b="true">
                  <a:solidFill>
                    <a:srgbClr val="1B5F39"/>
                  </a:solidFill>
                  <a:latin typeface="Arial Bold"/>
                  <a:ea typeface="Arial Bold"/>
                  <a:cs typeface="Arial Bold"/>
                  <a:sym typeface="Arial Bold"/>
                </a:rPr>
                <a:t>Thể hiện rõ luồng “xem danh sách → chọn sản phẩm”.</a:t>
              </a:r>
            </a:p>
          </p:txBody>
        </p:sp>
      </p:grpSp>
      <p:sp>
        <p:nvSpPr>
          <p:cNvPr name="Freeform 32" id="32"/>
          <p:cNvSpPr/>
          <p:nvPr/>
        </p:nvSpPr>
        <p:spPr>
          <a:xfrm flipH="false" flipV="false" rot="0">
            <a:off x="882015" y="1944424"/>
            <a:ext cx="8924925" cy="6882780"/>
          </a:xfrm>
          <a:custGeom>
            <a:avLst/>
            <a:gdLst/>
            <a:ahLst/>
            <a:cxnLst/>
            <a:rect r="r" b="b" t="t" l="l"/>
            <a:pathLst>
              <a:path h="6882780" w="8924925">
                <a:moveTo>
                  <a:pt x="0" y="0"/>
                </a:moveTo>
                <a:lnTo>
                  <a:pt x="8924925" y="0"/>
                </a:lnTo>
                <a:lnTo>
                  <a:pt x="8924925" y="6882780"/>
                </a:lnTo>
                <a:lnTo>
                  <a:pt x="0" y="6882780"/>
                </a:lnTo>
                <a:lnTo>
                  <a:pt x="0" y="0"/>
                </a:lnTo>
                <a:close/>
              </a:path>
            </a:pathLst>
          </a:custGeom>
          <a:blipFill>
            <a:blip r:embed="rId4"/>
            <a:stretch>
              <a:fillRect l="-486" t="0" r="-486" b="0"/>
            </a:stretch>
          </a:blipFill>
        </p:spPr>
      </p:sp>
      <p:sp>
        <p:nvSpPr>
          <p:cNvPr name="TextBox 33" id="33"/>
          <p:cNvSpPr txBox="true"/>
          <p:nvPr/>
        </p:nvSpPr>
        <p:spPr>
          <a:xfrm rot="0">
            <a:off x="10081765" y="2422903"/>
            <a:ext cx="6788401" cy="2019300"/>
          </a:xfrm>
          <a:prstGeom prst="rect">
            <a:avLst/>
          </a:prstGeom>
        </p:spPr>
        <p:txBody>
          <a:bodyPr anchor="t" rtlCol="false" tIns="0" lIns="0" bIns="0" rIns="0">
            <a:spAutoFit/>
          </a:bodyPr>
          <a:lstStyle/>
          <a:p>
            <a:pPr algn="just">
              <a:lnSpc>
                <a:spcPts val="3150"/>
              </a:lnSpc>
            </a:pPr>
            <a:r>
              <a:rPr lang="en-US" sz="2625">
                <a:solidFill>
                  <a:srgbClr val="283A33"/>
                </a:solidFill>
                <a:latin typeface="Arial"/>
                <a:ea typeface="Arial"/>
                <a:cs typeface="Arial"/>
                <a:sym typeface="Arial"/>
              </a:rPr>
              <a:t>Danh mục là khu vực quan trọng vì người dùng thường chưa chọn ngay một sản phẩm cụ thể. Giao diện cần giúp họ xem nhiều lựa chọn, nhận biết thương hiệu, phân loại và mức giá.</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3. Giao diện chính</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Chi tiết sản phẩm: thông tin thuyết phục quyết định mua</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09</a:t>
              </a:r>
            </a:p>
          </p:txBody>
        </p:sp>
      </p:grpSp>
      <p:sp>
        <p:nvSpPr>
          <p:cNvPr name="Freeform 21" id="21"/>
          <p:cNvSpPr/>
          <p:nvPr/>
        </p:nvSpPr>
        <p:spPr>
          <a:xfrm flipH="false" flipV="false" rot="0">
            <a:off x="882015" y="2058651"/>
            <a:ext cx="10570506" cy="6731041"/>
          </a:xfrm>
          <a:custGeom>
            <a:avLst/>
            <a:gdLst/>
            <a:ahLst/>
            <a:cxnLst/>
            <a:rect r="r" b="b" t="t" l="l"/>
            <a:pathLst>
              <a:path h="6731041" w="10570506">
                <a:moveTo>
                  <a:pt x="0" y="0"/>
                </a:moveTo>
                <a:lnTo>
                  <a:pt x="10570506" y="0"/>
                </a:lnTo>
                <a:lnTo>
                  <a:pt x="10570506" y="6731040"/>
                </a:lnTo>
                <a:lnTo>
                  <a:pt x="0" y="6731040"/>
                </a:lnTo>
                <a:lnTo>
                  <a:pt x="0" y="0"/>
                </a:lnTo>
                <a:close/>
              </a:path>
            </a:pathLst>
          </a:custGeom>
          <a:blipFill>
            <a:blip r:embed="rId4"/>
            <a:stretch>
              <a:fillRect l="-4175" t="0" r="0" b="0"/>
            </a:stretch>
          </a:blipFill>
        </p:spPr>
      </p:sp>
      <p:sp>
        <p:nvSpPr>
          <p:cNvPr name="TextBox 22" id="22"/>
          <p:cNvSpPr txBox="true"/>
          <p:nvPr/>
        </p:nvSpPr>
        <p:spPr>
          <a:xfrm rot="0">
            <a:off x="11796265" y="2381755"/>
            <a:ext cx="5211061" cy="6019800"/>
          </a:xfrm>
          <a:prstGeom prst="rect">
            <a:avLst/>
          </a:prstGeom>
        </p:spPr>
        <p:txBody>
          <a:bodyPr anchor="t" rtlCol="false" tIns="0" lIns="0" bIns="0" rIns="0">
            <a:spAutoFit/>
          </a:bodyPr>
          <a:lstStyle/>
          <a:p>
            <a:pPr algn="just">
              <a:lnSpc>
                <a:spcPts val="3156"/>
              </a:lnSpc>
            </a:pPr>
            <a:r>
              <a:rPr lang="en-US" sz="2630">
                <a:solidFill>
                  <a:srgbClr val="283A33"/>
                </a:solidFill>
                <a:latin typeface="Arial"/>
                <a:ea typeface="Arial"/>
                <a:cs typeface="Arial"/>
                <a:sym typeface="Arial"/>
              </a:rPr>
              <a:t>• Hiển thị tên sản phẩm, ảnh, giá, mô tả ngắn và thông số kỹ thuật.</a:t>
            </a:r>
          </a:p>
          <a:p>
            <a:pPr algn="just">
              <a:lnSpc>
                <a:spcPts val="3156"/>
              </a:lnSpc>
            </a:pPr>
          </a:p>
          <a:p>
            <a:pPr algn="just">
              <a:lnSpc>
                <a:spcPts val="3156"/>
              </a:lnSpc>
            </a:pPr>
            <a:r>
              <a:rPr lang="en-US" sz="2630">
                <a:solidFill>
                  <a:srgbClr val="283A33"/>
                </a:solidFill>
                <a:latin typeface="Arial"/>
                <a:ea typeface="Arial"/>
                <a:cs typeface="Arial"/>
                <a:sym typeface="Arial"/>
              </a:rPr>
              <a:t>• Có nút hành động như “Mua ngay”, “Báo giá” để dẫn người dùng sang bước tiếp theo.</a:t>
            </a:r>
          </a:p>
          <a:p>
            <a:pPr algn="just">
              <a:lnSpc>
                <a:spcPts val="3156"/>
              </a:lnSpc>
            </a:pPr>
          </a:p>
          <a:p>
            <a:pPr algn="just">
              <a:lnSpc>
                <a:spcPts val="3156"/>
              </a:lnSpc>
            </a:pPr>
            <a:r>
              <a:rPr lang="en-US" sz="2630">
                <a:solidFill>
                  <a:srgbClr val="283A33"/>
                </a:solidFill>
                <a:latin typeface="Arial"/>
                <a:ea typeface="Arial"/>
                <a:cs typeface="Arial"/>
                <a:sym typeface="Arial"/>
              </a:rPr>
              <a:t>• Phù hợp với sản phẩm kỹ thuật vì khách hàng cần xem cấu hình, tốc độ, độ phân giải, bảo hành và hỗ trợ.</a:t>
            </a:r>
          </a:p>
          <a:p>
            <a:pPr algn="just">
              <a:lnSpc>
                <a:spcPts val="3156"/>
              </a:lnSpc>
            </a:pPr>
          </a:p>
          <a:p>
            <a:pPr algn="just">
              <a:lnSpc>
                <a:spcPts val="3156"/>
              </a:lnSpc>
            </a:pPr>
            <a:r>
              <a:rPr lang="en-US" sz="2630">
                <a:solidFill>
                  <a:srgbClr val="283A33"/>
                </a:solidFill>
                <a:latin typeface="Arial"/>
                <a:ea typeface="Arial"/>
                <a:cs typeface="Arial"/>
                <a:sym typeface="Arial"/>
              </a:rPr>
              <a:t>• Trong thuyết trình, nhóm nên nói rõ trang chi tiết là cầu nối giữa xem sản phẩm và mua hàng.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3. Giao diện chính</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Giỏ hàng và thanh toán: mô phỏng quy trình mua hàng</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10</a:t>
              </a:r>
            </a:p>
          </p:txBody>
        </p:sp>
      </p:grpSp>
      <p:sp>
        <p:nvSpPr>
          <p:cNvPr name="Freeform 21" id="21"/>
          <p:cNvSpPr/>
          <p:nvPr/>
        </p:nvSpPr>
        <p:spPr>
          <a:xfrm flipH="false" flipV="false" rot="0">
            <a:off x="265472" y="2171259"/>
            <a:ext cx="10056837" cy="6712939"/>
          </a:xfrm>
          <a:custGeom>
            <a:avLst/>
            <a:gdLst/>
            <a:ahLst/>
            <a:cxnLst/>
            <a:rect r="r" b="b" t="t" l="l"/>
            <a:pathLst>
              <a:path h="6712939" w="10056837">
                <a:moveTo>
                  <a:pt x="0" y="0"/>
                </a:moveTo>
                <a:lnTo>
                  <a:pt x="10056837" y="0"/>
                </a:lnTo>
                <a:lnTo>
                  <a:pt x="10056837" y="6712939"/>
                </a:lnTo>
                <a:lnTo>
                  <a:pt x="0" y="6712939"/>
                </a:lnTo>
                <a:lnTo>
                  <a:pt x="0" y="0"/>
                </a:lnTo>
                <a:close/>
              </a:path>
            </a:pathLst>
          </a:custGeom>
          <a:blipFill>
            <a:blip r:embed="rId4"/>
            <a:stretch>
              <a:fillRect l="0" t="0" r="0" b="0"/>
            </a:stretch>
          </a:blipFill>
        </p:spPr>
      </p:sp>
      <p:sp>
        <p:nvSpPr>
          <p:cNvPr name="TextBox 22" id="22"/>
          <p:cNvSpPr txBox="true"/>
          <p:nvPr/>
        </p:nvSpPr>
        <p:spPr>
          <a:xfrm rot="0">
            <a:off x="10630919" y="2331118"/>
            <a:ext cx="6788401" cy="3848986"/>
          </a:xfrm>
          <a:prstGeom prst="rect">
            <a:avLst/>
          </a:prstGeom>
        </p:spPr>
        <p:txBody>
          <a:bodyPr anchor="t" rtlCol="false" tIns="0" lIns="0" bIns="0" rIns="0">
            <a:spAutoFit/>
          </a:bodyPr>
          <a:lstStyle/>
          <a:p>
            <a:pPr algn="l">
              <a:lnSpc>
                <a:spcPts val="2970"/>
              </a:lnSpc>
            </a:pPr>
            <a:r>
              <a:rPr lang="en-US" sz="2475">
                <a:solidFill>
                  <a:srgbClr val="283A33"/>
                </a:solidFill>
                <a:latin typeface="Arial"/>
                <a:ea typeface="Arial"/>
                <a:cs typeface="Arial"/>
                <a:sym typeface="Arial"/>
              </a:rPr>
              <a:t>• Giỏ hàng cho phép kiểm tra sản phẩm, số lượng, mã giảm giá và tổng tiền.</a:t>
            </a:r>
          </a:p>
          <a:p>
            <a:pPr algn="l">
              <a:lnSpc>
                <a:spcPts val="2970"/>
              </a:lnSpc>
            </a:pPr>
            <a:r>
              <a:rPr lang="en-US" sz="2475">
                <a:solidFill>
                  <a:srgbClr val="283A33"/>
                </a:solidFill>
                <a:latin typeface="Arial"/>
                <a:ea typeface="Arial"/>
                <a:cs typeface="Arial"/>
                <a:sym typeface="Arial"/>
              </a:rPr>
              <a:t>• Thanh toán chia theo bước: giỏ hàng → thông tin khách hàng → phương thức thanh toán.</a:t>
            </a:r>
          </a:p>
          <a:p>
            <a:pPr algn="l">
              <a:lnSpc>
                <a:spcPts val="2970"/>
              </a:lnSpc>
            </a:pPr>
            <a:r>
              <a:rPr lang="en-US" sz="2475">
                <a:solidFill>
                  <a:srgbClr val="283A33"/>
                </a:solidFill>
                <a:latin typeface="Arial"/>
                <a:ea typeface="Arial"/>
                <a:cs typeface="Arial"/>
                <a:sym typeface="Arial"/>
              </a:rPr>
              <a:t>• Form có các trường cơ bản như họ tên, số điện thoại, email, địa chỉ, ghi chú.</a:t>
            </a:r>
          </a:p>
          <a:p>
            <a:pPr algn="l">
              <a:lnSpc>
                <a:spcPts val="2970"/>
              </a:lnSpc>
            </a:pPr>
            <a:r>
              <a:rPr lang="en-US" sz="2475">
                <a:solidFill>
                  <a:srgbClr val="283A33"/>
                </a:solidFill>
                <a:latin typeface="Arial"/>
                <a:ea typeface="Arial"/>
                <a:cs typeface="Arial"/>
                <a:sym typeface="Arial"/>
              </a:rPr>
              <a:t>• Luồng này giúp bài báo cáo không chỉ dừng ở trang giới thiệu mà có kịch bản sử dụng hoàn chỉnh.</a:t>
            </a:r>
          </a:p>
        </p:txBody>
      </p:sp>
      <p:sp>
        <p:nvSpPr>
          <p:cNvPr name="TextBox 23" id="23"/>
          <p:cNvSpPr txBox="true"/>
          <p:nvPr/>
        </p:nvSpPr>
        <p:spPr>
          <a:xfrm rot="0">
            <a:off x="7848481" y="5024438"/>
            <a:ext cx="2591038" cy="219075"/>
          </a:xfrm>
          <a:prstGeom prst="rect">
            <a:avLst/>
          </a:prstGeom>
        </p:spPr>
        <p:txBody>
          <a:bodyPr anchor="t" rtlCol="false" tIns="0" lIns="0" bIns="0" rIns="0">
            <a:spAutoFit/>
          </a:bodyPr>
          <a:lstStyle/>
          <a:p>
            <a:pPr algn="ctr">
              <a:lnSpc>
                <a:spcPts val="1620"/>
              </a:lnSpc>
              <a:spcBef>
                <a:spcPct val="0"/>
              </a:spcBef>
            </a:pPr>
            <a:r>
              <a:rPr lang="en-US" b="true" sz="1350">
                <a:solidFill>
                  <a:srgbClr val="283A33"/>
                </a:solidFill>
                <a:latin typeface="Arial Bold"/>
                <a:ea typeface="Arial Bold"/>
                <a:cs typeface="Arial Bold"/>
                <a:sym typeface="Arial Bold"/>
              </a:rPr>
              <a:t>Nội dung đoạn văn bản của bạn</a:t>
            </a:r>
          </a:p>
        </p:txBody>
      </p:sp>
      <p:sp>
        <p:nvSpPr>
          <p:cNvPr name="TextBox 24" id="24"/>
          <p:cNvSpPr txBox="true"/>
          <p:nvPr/>
        </p:nvSpPr>
        <p:spPr>
          <a:xfrm rot="0">
            <a:off x="10630919" y="5811269"/>
            <a:ext cx="6788401" cy="752475"/>
          </a:xfrm>
          <a:prstGeom prst="rect">
            <a:avLst/>
          </a:prstGeom>
        </p:spPr>
        <p:txBody>
          <a:bodyPr anchor="t" rtlCol="false" tIns="0" lIns="0" bIns="0" rIns="0">
            <a:spAutoFit/>
          </a:bodyPr>
          <a:lstStyle/>
          <a:p>
            <a:pPr algn="l">
              <a:lnSpc>
                <a:spcPts val="2970"/>
              </a:lnSpc>
            </a:pPr>
            <a:r>
              <a:rPr lang="en-US" sz="2475">
                <a:solidFill>
                  <a:srgbClr val="283A33"/>
                </a:solidFill>
                <a:latin typeface="Arial"/>
                <a:ea typeface="Arial"/>
                <a:cs typeface="Arial"/>
                <a:sym typeface="Arial"/>
              </a:rPr>
              <a:t>Giao dịch chưa xử lý dữ liệu thật, chỉ là mô phỏng.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3. Giao diện chính</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Đăng nhập, đăng ký và hỗ trợ khách hàng</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11</a:t>
              </a:r>
            </a:p>
          </p:txBody>
        </p:sp>
      </p:grpSp>
      <p:grpSp>
        <p:nvGrpSpPr>
          <p:cNvPr name="Group 21" id="21"/>
          <p:cNvGrpSpPr/>
          <p:nvPr/>
        </p:nvGrpSpPr>
        <p:grpSpPr>
          <a:xfrm rot="0">
            <a:off x="9465059" y="4139565"/>
            <a:ext cx="3653790" cy="2007870"/>
            <a:chOff x="0" y="0"/>
            <a:chExt cx="4871720" cy="2677160"/>
          </a:xfrm>
        </p:grpSpPr>
        <p:sp>
          <p:nvSpPr>
            <p:cNvPr name="Freeform 22" id="22"/>
            <p:cNvSpPr/>
            <p:nvPr/>
          </p:nvSpPr>
          <p:spPr>
            <a:xfrm flipH="false" flipV="false" rot="0">
              <a:off x="12700" y="12700"/>
              <a:ext cx="4846320" cy="2651760"/>
            </a:xfrm>
            <a:custGeom>
              <a:avLst/>
              <a:gdLst/>
              <a:ahLst/>
              <a:cxnLst/>
              <a:rect r="r" b="b" t="t" l="l"/>
              <a:pathLst>
                <a:path h="2651760" w="4846320">
                  <a:moveTo>
                    <a:pt x="0" y="0"/>
                  </a:moveTo>
                  <a:lnTo>
                    <a:pt x="4846320" y="0"/>
                  </a:lnTo>
                  <a:lnTo>
                    <a:pt x="4846320" y="2651760"/>
                  </a:lnTo>
                  <a:lnTo>
                    <a:pt x="0" y="2651760"/>
                  </a:lnTo>
                  <a:close/>
                </a:path>
              </a:pathLst>
            </a:custGeom>
            <a:solidFill>
              <a:srgbClr val="FFFDF8"/>
            </a:solidFill>
          </p:spPr>
        </p:sp>
        <p:sp>
          <p:nvSpPr>
            <p:cNvPr name="Freeform 23" id="23"/>
            <p:cNvSpPr/>
            <p:nvPr/>
          </p:nvSpPr>
          <p:spPr>
            <a:xfrm flipH="false" flipV="false" rot="0">
              <a:off x="0" y="0"/>
              <a:ext cx="4871720" cy="2677160"/>
            </a:xfrm>
            <a:custGeom>
              <a:avLst/>
              <a:gdLst/>
              <a:ahLst/>
              <a:cxnLst/>
              <a:rect r="r" b="b" t="t" l="l"/>
              <a:pathLst>
                <a:path h="2677160" w="4871720">
                  <a:moveTo>
                    <a:pt x="12700" y="0"/>
                  </a:moveTo>
                  <a:lnTo>
                    <a:pt x="4859020" y="0"/>
                  </a:lnTo>
                  <a:cubicBezTo>
                    <a:pt x="4866005" y="0"/>
                    <a:pt x="4871720" y="5715"/>
                    <a:pt x="4871720" y="12700"/>
                  </a:cubicBezTo>
                  <a:lnTo>
                    <a:pt x="4871720" y="2664460"/>
                  </a:lnTo>
                  <a:cubicBezTo>
                    <a:pt x="4871720" y="2671445"/>
                    <a:pt x="4866005" y="2677160"/>
                    <a:pt x="4859020" y="2677160"/>
                  </a:cubicBezTo>
                  <a:lnTo>
                    <a:pt x="12700" y="2677160"/>
                  </a:lnTo>
                  <a:cubicBezTo>
                    <a:pt x="5715" y="2677160"/>
                    <a:pt x="0" y="2671445"/>
                    <a:pt x="0" y="2664460"/>
                  </a:cubicBezTo>
                  <a:lnTo>
                    <a:pt x="0" y="12700"/>
                  </a:lnTo>
                  <a:cubicBezTo>
                    <a:pt x="0" y="5715"/>
                    <a:pt x="5715" y="0"/>
                    <a:pt x="12700" y="0"/>
                  </a:cubicBezTo>
                  <a:moveTo>
                    <a:pt x="12700" y="25400"/>
                  </a:moveTo>
                  <a:lnTo>
                    <a:pt x="12700" y="12700"/>
                  </a:lnTo>
                  <a:lnTo>
                    <a:pt x="25400" y="12700"/>
                  </a:lnTo>
                  <a:lnTo>
                    <a:pt x="25400" y="2664460"/>
                  </a:lnTo>
                  <a:lnTo>
                    <a:pt x="12700" y="2664460"/>
                  </a:lnTo>
                  <a:lnTo>
                    <a:pt x="12700" y="2651760"/>
                  </a:lnTo>
                  <a:lnTo>
                    <a:pt x="4859020" y="2651760"/>
                  </a:lnTo>
                  <a:lnTo>
                    <a:pt x="4859020" y="2664460"/>
                  </a:lnTo>
                  <a:lnTo>
                    <a:pt x="4846320" y="2664460"/>
                  </a:lnTo>
                  <a:lnTo>
                    <a:pt x="4846320" y="12700"/>
                  </a:lnTo>
                  <a:lnTo>
                    <a:pt x="4859020" y="12700"/>
                  </a:lnTo>
                  <a:lnTo>
                    <a:pt x="4859020" y="25400"/>
                  </a:lnTo>
                  <a:lnTo>
                    <a:pt x="12700" y="25400"/>
                  </a:lnTo>
                  <a:close/>
                </a:path>
              </a:pathLst>
            </a:custGeom>
            <a:solidFill>
              <a:srgbClr val="DDE8E1"/>
            </a:solidFill>
          </p:spPr>
        </p:sp>
        <p:sp>
          <p:nvSpPr>
            <p:cNvPr name="TextBox 24" id="24"/>
            <p:cNvSpPr txBox="true"/>
            <p:nvPr/>
          </p:nvSpPr>
          <p:spPr>
            <a:xfrm>
              <a:off x="0" y="-9525"/>
              <a:ext cx="4871720" cy="268668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Đăng nhập</a:t>
              </a:r>
            </a:p>
            <a:p>
              <a:pPr algn="l">
                <a:lnSpc>
                  <a:spcPts val="2250"/>
                </a:lnSpc>
              </a:pPr>
              <a:r>
                <a:rPr lang="en-US" sz="1875">
                  <a:solidFill>
                    <a:srgbClr val="283A33"/>
                  </a:solidFill>
                  <a:latin typeface="Arial"/>
                  <a:ea typeface="Arial"/>
                  <a:cs typeface="Arial"/>
                  <a:sym typeface="Arial"/>
                </a:rPr>
                <a:t>Email doanh nghiệp, mật khẩu, ghi nhớ đăng nhập và liên kết khôi phục mật khẩu.</a:t>
              </a:r>
            </a:p>
          </p:txBody>
        </p:sp>
      </p:grpSp>
      <p:grpSp>
        <p:nvGrpSpPr>
          <p:cNvPr name="Group 25" id="25"/>
          <p:cNvGrpSpPr/>
          <p:nvPr/>
        </p:nvGrpSpPr>
        <p:grpSpPr>
          <a:xfrm rot="0">
            <a:off x="13765530" y="4139565"/>
            <a:ext cx="3653790" cy="2007870"/>
            <a:chOff x="0" y="0"/>
            <a:chExt cx="4871720" cy="2677160"/>
          </a:xfrm>
        </p:grpSpPr>
        <p:sp>
          <p:nvSpPr>
            <p:cNvPr name="Freeform 26" id="26"/>
            <p:cNvSpPr/>
            <p:nvPr/>
          </p:nvSpPr>
          <p:spPr>
            <a:xfrm flipH="false" flipV="false" rot="0">
              <a:off x="12700" y="12700"/>
              <a:ext cx="4846320" cy="2651760"/>
            </a:xfrm>
            <a:custGeom>
              <a:avLst/>
              <a:gdLst/>
              <a:ahLst/>
              <a:cxnLst/>
              <a:rect r="r" b="b" t="t" l="l"/>
              <a:pathLst>
                <a:path h="2651760" w="4846320">
                  <a:moveTo>
                    <a:pt x="0" y="0"/>
                  </a:moveTo>
                  <a:lnTo>
                    <a:pt x="4846320" y="0"/>
                  </a:lnTo>
                  <a:lnTo>
                    <a:pt x="4846320" y="2651760"/>
                  </a:lnTo>
                  <a:lnTo>
                    <a:pt x="0" y="2651760"/>
                  </a:lnTo>
                  <a:close/>
                </a:path>
              </a:pathLst>
            </a:custGeom>
            <a:solidFill>
              <a:srgbClr val="FFFDF8"/>
            </a:solidFill>
          </p:spPr>
        </p:sp>
        <p:sp>
          <p:nvSpPr>
            <p:cNvPr name="Freeform 27" id="27"/>
            <p:cNvSpPr/>
            <p:nvPr/>
          </p:nvSpPr>
          <p:spPr>
            <a:xfrm flipH="false" flipV="false" rot="0">
              <a:off x="0" y="0"/>
              <a:ext cx="4871720" cy="2677160"/>
            </a:xfrm>
            <a:custGeom>
              <a:avLst/>
              <a:gdLst/>
              <a:ahLst/>
              <a:cxnLst/>
              <a:rect r="r" b="b" t="t" l="l"/>
              <a:pathLst>
                <a:path h="2677160" w="4871720">
                  <a:moveTo>
                    <a:pt x="12700" y="0"/>
                  </a:moveTo>
                  <a:lnTo>
                    <a:pt x="4859020" y="0"/>
                  </a:lnTo>
                  <a:cubicBezTo>
                    <a:pt x="4866005" y="0"/>
                    <a:pt x="4871720" y="5715"/>
                    <a:pt x="4871720" y="12700"/>
                  </a:cubicBezTo>
                  <a:lnTo>
                    <a:pt x="4871720" y="2664460"/>
                  </a:lnTo>
                  <a:cubicBezTo>
                    <a:pt x="4871720" y="2671445"/>
                    <a:pt x="4866005" y="2677160"/>
                    <a:pt x="4859020" y="2677160"/>
                  </a:cubicBezTo>
                  <a:lnTo>
                    <a:pt x="12700" y="2677160"/>
                  </a:lnTo>
                  <a:cubicBezTo>
                    <a:pt x="5715" y="2677160"/>
                    <a:pt x="0" y="2671445"/>
                    <a:pt x="0" y="2664460"/>
                  </a:cubicBezTo>
                  <a:lnTo>
                    <a:pt x="0" y="12700"/>
                  </a:lnTo>
                  <a:cubicBezTo>
                    <a:pt x="0" y="5715"/>
                    <a:pt x="5715" y="0"/>
                    <a:pt x="12700" y="0"/>
                  </a:cubicBezTo>
                  <a:moveTo>
                    <a:pt x="12700" y="25400"/>
                  </a:moveTo>
                  <a:lnTo>
                    <a:pt x="12700" y="12700"/>
                  </a:lnTo>
                  <a:lnTo>
                    <a:pt x="25400" y="12700"/>
                  </a:lnTo>
                  <a:lnTo>
                    <a:pt x="25400" y="2664460"/>
                  </a:lnTo>
                  <a:lnTo>
                    <a:pt x="12700" y="2664460"/>
                  </a:lnTo>
                  <a:lnTo>
                    <a:pt x="12700" y="2651760"/>
                  </a:lnTo>
                  <a:lnTo>
                    <a:pt x="4859020" y="2651760"/>
                  </a:lnTo>
                  <a:lnTo>
                    <a:pt x="4859020" y="2664460"/>
                  </a:lnTo>
                  <a:lnTo>
                    <a:pt x="4846320" y="2664460"/>
                  </a:lnTo>
                  <a:lnTo>
                    <a:pt x="4846320" y="12700"/>
                  </a:lnTo>
                  <a:lnTo>
                    <a:pt x="4859020" y="12700"/>
                  </a:lnTo>
                  <a:lnTo>
                    <a:pt x="4859020" y="25400"/>
                  </a:lnTo>
                  <a:lnTo>
                    <a:pt x="12700" y="25400"/>
                  </a:lnTo>
                  <a:close/>
                </a:path>
              </a:pathLst>
            </a:custGeom>
            <a:solidFill>
              <a:srgbClr val="DDE8E1"/>
            </a:solidFill>
          </p:spPr>
        </p:sp>
        <p:sp>
          <p:nvSpPr>
            <p:cNvPr name="TextBox 28" id="28"/>
            <p:cNvSpPr txBox="true"/>
            <p:nvPr/>
          </p:nvSpPr>
          <p:spPr>
            <a:xfrm>
              <a:off x="0" y="-9525"/>
              <a:ext cx="4871720" cy="268668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Đăng ký</a:t>
              </a:r>
            </a:p>
            <a:p>
              <a:pPr algn="l">
                <a:lnSpc>
                  <a:spcPts val="2250"/>
                </a:lnSpc>
              </a:pPr>
              <a:r>
                <a:rPr lang="en-US" sz="1875">
                  <a:solidFill>
                    <a:srgbClr val="283A33"/>
                  </a:solidFill>
                  <a:latin typeface="Arial"/>
                  <a:ea typeface="Arial"/>
                  <a:cs typeface="Arial"/>
                  <a:sym typeface="Arial"/>
                </a:rPr>
                <a:t>Họ tên, email, số điện thoại, mật khẩu, xác nhận mật khẩu và đồng ý điều khoản.</a:t>
              </a:r>
            </a:p>
          </p:txBody>
        </p:sp>
      </p:grpSp>
      <p:grpSp>
        <p:nvGrpSpPr>
          <p:cNvPr name="Group 29" id="29"/>
          <p:cNvGrpSpPr/>
          <p:nvPr/>
        </p:nvGrpSpPr>
        <p:grpSpPr>
          <a:xfrm rot="0">
            <a:off x="9465059" y="6527698"/>
            <a:ext cx="7768590" cy="1527810"/>
            <a:chOff x="0" y="0"/>
            <a:chExt cx="10358120" cy="2037080"/>
          </a:xfrm>
        </p:grpSpPr>
        <p:sp>
          <p:nvSpPr>
            <p:cNvPr name="Freeform 30" id="30"/>
            <p:cNvSpPr/>
            <p:nvPr/>
          </p:nvSpPr>
          <p:spPr>
            <a:xfrm flipH="false" flipV="false" rot="0">
              <a:off x="12700" y="12700"/>
              <a:ext cx="10332720" cy="2011680"/>
            </a:xfrm>
            <a:custGeom>
              <a:avLst/>
              <a:gdLst/>
              <a:ahLst/>
              <a:cxnLst/>
              <a:rect r="r" b="b" t="t" l="l"/>
              <a:pathLst>
                <a:path h="2011680" w="10332720">
                  <a:moveTo>
                    <a:pt x="0" y="0"/>
                  </a:moveTo>
                  <a:lnTo>
                    <a:pt x="10332720" y="0"/>
                  </a:lnTo>
                  <a:lnTo>
                    <a:pt x="10332720" y="2011680"/>
                  </a:lnTo>
                  <a:lnTo>
                    <a:pt x="0" y="2011680"/>
                  </a:lnTo>
                  <a:close/>
                </a:path>
              </a:pathLst>
            </a:custGeom>
            <a:solidFill>
              <a:srgbClr val="E8F2EC"/>
            </a:solidFill>
          </p:spPr>
        </p:sp>
        <p:sp>
          <p:nvSpPr>
            <p:cNvPr name="Freeform 31" id="31"/>
            <p:cNvSpPr/>
            <p:nvPr/>
          </p:nvSpPr>
          <p:spPr>
            <a:xfrm flipH="false" flipV="false" rot="0">
              <a:off x="0" y="0"/>
              <a:ext cx="10358120" cy="2037080"/>
            </a:xfrm>
            <a:custGeom>
              <a:avLst/>
              <a:gdLst/>
              <a:ahLst/>
              <a:cxnLst/>
              <a:rect r="r" b="b" t="t" l="l"/>
              <a:pathLst>
                <a:path h="2037080" w="10358120">
                  <a:moveTo>
                    <a:pt x="12700" y="0"/>
                  </a:moveTo>
                  <a:lnTo>
                    <a:pt x="10345420" y="0"/>
                  </a:lnTo>
                  <a:cubicBezTo>
                    <a:pt x="10352405" y="0"/>
                    <a:pt x="10358120" y="5715"/>
                    <a:pt x="10358120" y="12700"/>
                  </a:cubicBezTo>
                  <a:lnTo>
                    <a:pt x="10358120" y="2024380"/>
                  </a:lnTo>
                  <a:cubicBezTo>
                    <a:pt x="10358120" y="2031365"/>
                    <a:pt x="10352405" y="2037080"/>
                    <a:pt x="10345420" y="2037080"/>
                  </a:cubicBezTo>
                  <a:lnTo>
                    <a:pt x="12700" y="2037080"/>
                  </a:lnTo>
                  <a:cubicBezTo>
                    <a:pt x="5715" y="2037080"/>
                    <a:pt x="0" y="2031365"/>
                    <a:pt x="0" y="2024380"/>
                  </a:cubicBezTo>
                  <a:lnTo>
                    <a:pt x="0" y="12700"/>
                  </a:lnTo>
                  <a:cubicBezTo>
                    <a:pt x="0" y="5715"/>
                    <a:pt x="5715" y="0"/>
                    <a:pt x="12700" y="0"/>
                  </a:cubicBezTo>
                  <a:moveTo>
                    <a:pt x="12700" y="25400"/>
                  </a:moveTo>
                  <a:lnTo>
                    <a:pt x="12700" y="12700"/>
                  </a:lnTo>
                  <a:lnTo>
                    <a:pt x="25400" y="12700"/>
                  </a:lnTo>
                  <a:lnTo>
                    <a:pt x="25400" y="2024380"/>
                  </a:lnTo>
                  <a:lnTo>
                    <a:pt x="12700" y="2024380"/>
                  </a:lnTo>
                  <a:lnTo>
                    <a:pt x="12700" y="2011680"/>
                  </a:lnTo>
                  <a:lnTo>
                    <a:pt x="10345420" y="2011680"/>
                  </a:lnTo>
                  <a:lnTo>
                    <a:pt x="10345420" y="2024380"/>
                  </a:lnTo>
                  <a:lnTo>
                    <a:pt x="10332720" y="2024380"/>
                  </a:lnTo>
                  <a:lnTo>
                    <a:pt x="10332720" y="12700"/>
                  </a:lnTo>
                  <a:lnTo>
                    <a:pt x="10345420" y="12700"/>
                  </a:lnTo>
                  <a:lnTo>
                    <a:pt x="10345420" y="25400"/>
                  </a:lnTo>
                  <a:lnTo>
                    <a:pt x="12700" y="25400"/>
                  </a:lnTo>
                  <a:close/>
                </a:path>
              </a:pathLst>
            </a:custGeom>
            <a:solidFill>
              <a:srgbClr val="DDE8E1"/>
            </a:solidFill>
          </p:spPr>
        </p:sp>
        <p:sp>
          <p:nvSpPr>
            <p:cNvPr name="TextBox 32" id="32"/>
            <p:cNvSpPr txBox="true"/>
            <p:nvPr/>
          </p:nvSpPr>
          <p:spPr>
            <a:xfrm>
              <a:off x="0" y="-9525"/>
              <a:ext cx="10358120" cy="204660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Hỗ trợ khách hàng</a:t>
              </a:r>
            </a:p>
            <a:p>
              <a:pPr algn="l">
                <a:lnSpc>
                  <a:spcPts val="2250"/>
                </a:lnSpc>
              </a:pPr>
              <a:r>
                <a:rPr lang="en-US" sz="1875">
                  <a:solidFill>
                    <a:srgbClr val="283A33"/>
                  </a:solidFill>
                  <a:latin typeface="Arial"/>
                  <a:ea typeface="Arial"/>
                  <a:cs typeface="Arial"/>
                  <a:sym typeface="Arial"/>
                </a:rPr>
                <a:t>Hotline, thông tin liên hệ và định hướng dịch vụ bảo hành / kỹ thuật 24/7.</a:t>
              </a:r>
            </a:p>
          </p:txBody>
        </p:sp>
      </p:grpSp>
      <p:sp>
        <p:nvSpPr>
          <p:cNvPr name="Freeform 33" id="33"/>
          <p:cNvSpPr/>
          <p:nvPr/>
        </p:nvSpPr>
        <p:spPr>
          <a:xfrm flipH="false" flipV="false" rot="0">
            <a:off x="405572" y="2043621"/>
            <a:ext cx="8920864" cy="6011887"/>
          </a:xfrm>
          <a:custGeom>
            <a:avLst/>
            <a:gdLst/>
            <a:ahLst/>
            <a:cxnLst/>
            <a:rect r="r" b="b" t="t" l="l"/>
            <a:pathLst>
              <a:path h="6011887" w="8920864">
                <a:moveTo>
                  <a:pt x="0" y="0"/>
                </a:moveTo>
                <a:lnTo>
                  <a:pt x="8920864" y="0"/>
                </a:lnTo>
                <a:lnTo>
                  <a:pt x="8920864" y="6011887"/>
                </a:lnTo>
                <a:lnTo>
                  <a:pt x="0" y="6011887"/>
                </a:lnTo>
                <a:lnTo>
                  <a:pt x="0" y="0"/>
                </a:lnTo>
                <a:close/>
              </a:path>
            </a:pathLst>
          </a:custGeom>
          <a:blipFill>
            <a:blip r:embed="rId4"/>
            <a:stretch>
              <a:fillRect l="0" t="0" r="0" b="0"/>
            </a:stretch>
          </a:blipFill>
        </p:spPr>
      </p:sp>
      <p:sp>
        <p:nvSpPr>
          <p:cNvPr name="TextBox 34" id="34"/>
          <p:cNvSpPr txBox="true"/>
          <p:nvPr/>
        </p:nvSpPr>
        <p:spPr>
          <a:xfrm rot="0">
            <a:off x="9465059" y="2219263"/>
            <a:ext cx="7954261" cy="1321051"/>
          </a:xfrm>
          <a:prstGeom prst="rect">
            <a:avLst/>
          </a:prstGeom>
        </p:spPr>
        <p:txBody>
          <a:bodyPr anchor="t" rtlCol="false" tIns="0" lIns="0" bIns="0" rIns="0">
            <a:spAutoFit/>
          </a:bodyPr>
          <a:lstStyle/>
          <a:p>
            <a:pPr algn="l">
              <a:lnSpc>
                <a:spcPts val="3150"/>
              </a:lnSpc>
            </a:pPr>
            <a:r>
              <a:rPr lang="en-US" sz="2625">
                <a:solidFill>
                  <a:srgbClr val="283A33"/>
                </a:solidFill>
                <a:latin typeface="Arial"/>
                <a:ea typeface="Arial"/>
                <a:cs typeface="Arial"/>
                <a:sym typeface="Arial"/>
              </a:rPr>
              <a:t>Nhóm bổ sung trang đăng nhập/đăng ký để website có cảm giác đầy đủ hơn về mặt nghiệp vụ. Phần này phù hợp với bối cảnh người dùng cần quản lý đơn hàng, bảo hành hoặc yêu cầu hỗ trợ kỹ thuật.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3. Giao diện chính</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Trang giới thiệu và dịch vụ cho thuê</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12</a:t>
              </a:r>
            </a:p>
          </p:txBody>
        </p:sp>
      </p:grpSp>
      <p:grpSp>
        <p:nvGrpSpPr>
          <p:cNvPr name="Group 21" id="21"/>
          <p:cNvGrpSpPr/>
          <p:nvPr/>
        </p:nvGrpSpPr>
        <p:grpSpPr>
          <a:xfrm rot="0">
            <a:off x="9617706" y="7457331"/>
            <a:ext cx="7219950" cy="1596390"/>
            <a:chOff x="0" y="0"/>
            <a:chExt cx="9626600" cy="2128520"/>
          </a:xfrm>
        </p:grpSpPr>
        <p:sp>
          <p:nvSpPr>
            <p:cNvPr name="Freeform 22" id="22"/>
            <p:cNvSpPr/>
            <p:nvPr/>
          </p:nvSpPr>
          <p:spPr>
            <a:xfrm flipH="false" flipV="false" rot="0">
              <a:off x="12700" y="12700"/>
              <a:ext cx="9601200" cy="2103120"/>
            </a:xfrm>
            <a:custGeom>
              <a:avLst/>
              <a:gdLst/>
              <a:ahLst/>
              <a:cxnLst/>
              <a:rect r="r" b="b" t="t" l="l"/>
              <a:pathLst>
                <a:path h="2103120" w="9601200">
                  <a:moveTo>
                    <a:pt x="0" y="0"/>
                  </a:moveTo>
                  <a:lnTo>
                    <a:pt x="9601200" y="0"/>
                  </a:lnTo>
                  <a:lnTo>
                    <a:pt x="9601200" y="2103120"/>
                  </a:lnTo>
                  <a:lnTo>
                    <a:pt x="0" y="2103120"/>
                  </a:lnTo>
                  <a:close/>
                </a:path>
              </a:pathLst>
            </a:custGeom>
            <a:solidFill>
              <a:srgbClr val="E8F2EC"/>
            </a:solidFill>
          </p:spPr>
        </p:sp>
        <p:sp>
          <p:nvSpPr>
            <p:cNvPr name="Freeform 23" id="23"/>
            <p:cNvSpPr/>
            <p:nvPr/>
          </p:nvSpPr>
          <p:spPr>
            <a:xfrm flipH="false" flipV="false" rot="0">
              <a:off x="0" y="0"/>
              <a:ext cx="9626600" cy="2128520"/>
            </a:xfrm>
            <a:custGeom>
              <a:avLst/>
              <a:gdLst/>
              <a:ahLst/>
              <a:cxnLst/>
              <a:rect r="r" b="b" t="t" l="l"/>
              <a:pathLst>
                <a:path h="2128520" w="9626600">
                  <a:moveTo>
                    <a:pt x="12700" y="0"/>
                  </a:moveTo>
                  <a:lnTo>
                    <a:pt x="9613900" y="0"/>
                  </a:lnTo>
                  <a:cubicBezTo>
                    <a:pt x="9620885" y="0"/>
                    <a:pt x="9626600" y="5715"/>
                    <a:pt x="9626600" y="12700"/>
                  </a:cubicBezTo>
                  <a:lnTo>
                    <a:pt x="9626600" y="2115820"/>
                  </a:lnTo>
                  <a:cubicBezTo>
                    <a:pt x="9626600" y="2122805"/>
                    <a:pt x="9620885" y="2128520"/>
                    <a:pt x="9613900" y="2128520"/>
                  </a:cubicBezTo>
                  <a:lnTo>
                    <a:pt x="12700" y="2128520"/>
                  </a:lnTo>
                  <a:cubicBezTo>
                    <a:pt x="5715" y="2128520"/>
                    <a:pt x="0" y="2122805"/>
                    <a:pt x="0" y="2115820"/>
                  </a:cubicBezTo>
                  <a:lnTo>
                    <a:pt x="0" y="12700"/>
                  </a:lnTo>
                  <a:cubicBezTo>
                    <a:pt x="0" y="5715"/>
                    <a:pt x="5715" y="0"/>
                    <a:pt x="12700" y="0"/>
                  </a:cubicBezTo>
                  <a:moveTo>
                    <a:pt x="12700" y="25400"/>
                  </a:moveTo>
                  <a:lnTo>
                    <a:pt x="12700" y="12700"/>
                  </a:lnTo>
                  <a:lnTo>
                    <a:pt x="25400" y="12700"/>
                  </a:lnTo>
                  <a:lnTo>
                    <a:pt x="25400" y="2115820"/>
                  </a:lnTo>
                  <a:lnTo>
                    <a:pt x="12700" y="2115820"/>
                  </a:lnTo>
                  <a:lnTo>
                    <a:pt x="12700" y="2103120"/>
                  </a:lnTo>
                  <a:lnTo>
                    <a:pt x="9613900" y="2103120"/>
                  </a:lnTo>
                  <a:lnTo>
                    <a:pt x="9613900" y="2115820"/>
                  </a:lnTo>
                  <a:lnTo>
                    <a:pt x="9601200" y="2115820"/>
                  </a:lnTo>
                  <a:lnTo>
                    <a:pt x="9601200" y="12700"/>
                  </a:lnTo>
                  <a:lnTo>
                    <a:pt x="9613900" y="12700"/>
                  </a:lnTo>
                  <a:lnTo>
                    <a:pt x="9613900" y="25400"/>
                  </a:lnTo>
                  <a:lnTo>
                    <a:pt x="12700" y="25400"/>
                  </a:lnTo>
                  <a:close/>
                </a:path>
              </a:pathLst>
            </a:custGeom>
            <a:solidFill>
              <a:srgbClr val="DDE8E1"/>
            </a:solidFill>
          </p:spPr>
        </p:sp>
        <p:sp>
          <p:nvSpPr>
            <p:cNvPr name="TextBox 24" id="24"/>
            <p:cNvSpPr txBox="true"/>
            <p:nvPr/>
          </p:nvSpPr>
          <p:spPr>
            <a:xfrm>
              <a:off x="0" y="-9525"/>
              <a:ext cx="9626600" cy="213804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Giá trị bổ sung</a:t>
              </a:r>
            </a:p>
            <a:p>
              <a:pPr algn="l">
                <a:lnSpc>
                  <a:spcPts val="2250"/>
                </a:lnSpc>
              </a:pPr>
              <a:r>
                <a:rPr lang="en-US" sz="1875">
                  <a:solidFill>
                    <a:srgbClr val="283A33"/>
                  </a:solidFill>
                  <a:latin typeface="Arial"/>
                  <a:ea typeface="Arial"/>
                  <a:cs typeface="Arial"/>
                  <a:sym typeface="Arial"/>
                </a:rPr>
                <a:t>Không chỉ “bán máy”, website còn mô phỏng hệ sinh thái dịch vụ: tư vấn, cho thuê, bảo trì và hỗ trợ kỹ thuật.</a:t>
              </a:r>
            </a:p>
          </p:txBody>
        </p:sp>
      </p:grpSp>
      <p:sp>
        <p:nvSpPr>
          <p:cNvPr name="Freeform 25" id="25"/>
          <p:cNvSpPr/>
          <p:nvPr/>
        </p:nvSpPr>
        <p:spPr>
          <a:xfrm flipH="false" flipV="false" rot="0">
            <a:off x="9617706" y="1995381"/>
            <a:ext cx="7219950" cy="4855416"/>
          </a:xfrm>
          <a:custGeom>
            <a:avLst/>
            <a:gdLst/>
            <a:ahLst/>
            <a:cxnLst/>
            <a:rect r="r" b="b" t="t" l="l"/>
            <a:pathLst>
              <a:path h="4855416" w="7219950">
                <a:moveTo>
                  <a:pt x="0" y="0"/>
                </a:moveTo>
                <a:lnTo>
                  <a:pt x="7219950" y="0"/>
                </a:lnTo>
                <a:lnTo>
                  <a:pt x="7219950" y="4855416"/>
                </a:lnTo>
                <a:lnTo>
                  <a:pt x="0" y="4855416"/>
                </a:lnTo>
                <a:lnTo>
                  <a:pt x="0" y="0"/>
                </a:lnTo>
                <a:close/>
              </a:path>
            </a:pathLst>
          </a:custGeom>
          <a:blipFill>
            <a:blip r:embed="rId4"/>
            <a:stretch>
              <a:fillRect l="0" t="0" r="0" b="0"/>
            </a:stretch>
          </a:blipFill>
        </p:spPr>
      </p:sp>
      <p:sp>
        <p:nvSpPr>
          <p:cNvPr name="Freeform 26" id="26"/>
          <p:cNvSpPr/>
          <p:nvPr/>
        </p:nvSpPr>
        <p:spPr>
          <a:xfrm flipH="false" flipV="false" rot="0">
            <a:off x="960120" y="1995381"/>
            <a:ext cx="6083566" cy="3870669"/>
          </a:xfrm>
          <a:custGeom>
            <a:avLst/>
            <a:gdLst/>
            <a:ahLst/>
            <a:cxnLst/>
            <a:rect r="r" b="b" t="t" l="l"/>
            <a:pathLst>
              <a:path h="3870669" w="6083566">
                <a:moveTo>
                  <a:pt x="0" y="0"/>
                </a:moveTo>
                <a:lnTo>
                  <a:pt x="6083566" y="0"/>
                </a:lnTo>
                <a:lnTo>
                  <a:pt x="6083566" y="3870669"/>
                </a:lnTo>
                <a:lnTo>
                  <a:pt x="0" y="3870669"/>
                </a:lnTo>
                <a:lnTo>
                  <a:pt x="0" y="0"/>
                </a:lnTo>
                <a:close/>
              </a:path>
            </a:pathLst>
          </a:custGeom>
          <a:blipFill>
            <a:blip r:embed="rId5"/>
            <a:stretch>
              <a:fillRect l="0" t="0" r="0" b="0"/>
            </a:stretch>
          </a:blipFill>
        </p:spPr>
      </p:sp>
      <p:sp>
        <p:nvSpPr>
          <p:cNvPr name="TextBox 27" id="27"/>
          <p:cNvSpPr txBox="true"/>
          <p:nvPr/>
        </p:nvSpPr>
        <p:spPr>
          <a:xfrm rot="0">
            <a:off x="891540" y="6053966"/>
            <a:ext cx="8022841" cy="3711826"/>
          </a:xfrm>
          <a:prstGeom prst="rect">
            <a:avLst/>
          </a:prstGeom>
        </p:spPr>
        <p:txBody>
          <a:bodyPr anchor="t" rtlCol="false" tIns="0" lIns="0" bIns="0" rIns="0">
            <a:spAutoFit/>
          </a:bodyPr>
          <a:lstStyle/>
          <a:p>
            <a:pPr algn="l">
              <a:lnSpc>
                <a:spcPts val="2970"/>
              </a:lnSpc>
            </a:pPr>
            <a:r>
              <a:rPr lang="en-US" sz="2475">
                <a:solidFill>
                  <a:srgbClr val="283A33"/>
                </a:solidFill>
                <a:latin typeface="Arial"/>
                <a:ea typeface="Arial"/>
                <a:cs typeface="Arial"/>
                <a:sym typeface="Arial"/>
              </a:rPr>
              <a:t>• Trang giới thiệu dùng để trình bày lĩnh vực hoạt động, kinh nghiệm và hệ sinh thái dịch vụ.</a:t>
            </a:r>
          </a:p>
          <a:p>
            <a:pPr algn="l">
              <a:lnSpc>
                <a:spcPts val="2970"/>
              </a:lnSpc>
            </a:pPr>
            <a:r>
              <a:rPr lang="en-US" sz="2475">
                <a:solidFill>
                  <a:srgbClr val="283A33"/>
                </a:solidFill>
                <a:latin typeface="Arial"/>
                <a:ea typeface="Arial"/>
                <a:cs typeface="Arial"/>
                <a:sym typeface="Arial"/>
              </a:rPr>
              <a:t>• Trang cho thuê mở rộng phạm vi website từ bán sản phẩm sang dịch vụ thuê máy photocopy.</a:t>
            </a:r>
          </a:p>
          <a:p>
            <a:pPr algn="l">
              <a:lnSpc>
                <a:spcPts val="2970"/>
              </a:lnSpc>
            </a:pPr>
            <a:r>
              <a:rPr lang="en-US" sz="2475">
                <a:solidFill>
                  <a:srgbClr val="283A33"/>
                </a:solidFill>
                <a:latin typeface="Arial"/>
                <a:ea typeface="Arial"/>
                <a:cs typeface="Arial"/>
                <a:sym typeface="Arial"/>
              </a:rPr>
              <a:t>• Nội dung này giúp website có chiều sâu hơn, phù hợp với khách hàng doanh nghiệp hoặc văn phòng.</a:t>
            </a:r>
          </a:p>
          <a:p>
            <a:pPr algn="l">
              <a:lnSpc>
                <a:spcPts val="2970"/>
              </a:lnSpc>
            </a:pPr>
            <a:r>
              <a:rPr lang="en-US" sz="2475">
                <a:solidFill>
                  <a:srgbClr val="283A33"/>
                </a:solidFill>
                <a:latin typeface="Arial"/>
                <a:ea typeface="Arial"/>
                <a:cs typeface="Arial"/>
                <a:sym typeface="Arial"/>
              </a:rPr>
              <a:t>• Về mặt báo cáo môn học, đây là bằng chứng nhóm đã thiết kế thêm trang phụ hỗ trợ thương hiệu và dịch vụ.</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4. Demo &amp; kiểm thử</a:t>
              </a:r>
            </a:p>
          </p:txBody>
        </p:sp>
      </p:grpSp>
      <p:grpSp>
        <p:nvGrpSpPr>
          <p:cNvPr name="Group 7" id="7"/>
          <p:cNvGrpSpPr/>
          <p:nvPr/>
        </p:nvGrpSpPr>
        <p:grpSpPr>
          <a:xfrm rot="0">
            <a:off x="932688" y="850392"/>
            <a:ext cx="16322040" cy="895955"/>
            <a:chOff x="0" y="0"/>
            <a:chExt cx="21762720" cy="1194606"/>
          </a:xfrm>
        </p:grpSpPr>
        <p:sp>
          <p:nvSpPr>
            <p:cNvPr name="Freeform 8" id="8"/>
            <p:cNvSpPr/>
            <p:nvPr/>
          </p:nvSpPr>
          <p:spPr>
            <a:xfrm flipH="false" flipV="false" rot="0">
              <a:off x="0" y="0"/>
              <a:ext cx="21762720" cy="1194606"/>
            </a:xfrm>
            <a:custGeom>
              <a:avLst/>
              <a:gdLst/>
              <a:ahLst/>
              <a:cxnLst/>
              <a:rect r="r" b="b" t="t" l="l"/>
              <a:pathLst>
                <a:path h="1194606" w="21762720">
                  <a:moveTo>
                    <a:pt x="0" y="0"/>
                  </a:moveTo>
                  <a:lnTo>
                    <a:pt x="21762720" y="0"/>
                  </a:lnTo>
                  <a:lnTo>
                    <a:pt x="21762720" y="1194606"/>
                  </a:lnTo>
                  <a:lnTo>
                    <a:pt x="0" y="1194606"/>
                  </a:lnTo>
                  <a:close/>
                </a:path>
              </a:pathLst>
            </a:custGeom>
            <a:blipFill>
              <a:blip r:embed="rId3">
                <a:alphaModFix amt="0"/>
              </a:blip>
              <a:stretch>
                <a:fillRect l="0" t="-309041" r="0" b="-300894"/>
              </a:stretch>
            </a:blipFill>
          </p:spPr>
        </p:sp>
        <p:sp>
          <p:nvSpPr>
            <p:cNvPr name="TextBox 9" id="9"/>
            <p:cNvSpPr txBox="true"/>
            <p:nvPr/>
          </p:nvSpPr>
          <p:spPr>
            <a:xfrm>
              <a:off x="0" y="-19050"/>
              <a:ext cx="21762720" cy="1213656"/>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Kiểm thử thủ công</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14</a:t>
              </a:r>
            </a:p>
          </p:txBody>
        </p:sp>
      </p:grpSp>
      <p:grpSp>
        <p:nvGrpSpPr>
          <p:cNvPr name="Group 21" id="21"/>
          <p:cNvGrpSpPr/>
          <p:nvPr/>
        </p:nvGrpSpPr>
        <p:grpSpPr>
          <a:xfrm rot="0">
            <a:off x="1022032" y="2256472"/>
            <a:ext cx="2962275" cy="1000887"/>
            <a:chOff x="0" y="0"/>
            <a:chExt cx="3949700" cy="1334516"/>
          </a:xfrm>
        </p:grpSpPr>
        <p:sp>
          <p:nvSpPr>
            <p:cNvPr name="Freeform 22" id="22"/>
            <p:cNvSpPr/>
            <p:nvPr/>
          </p:nvSpPr>
          <p:spPr>
            <a:xfrm flipH="false" flipV="false" rot="0">
              <a:off x="8890" y="8890"/>
              <a:ext cx="3931920" cy="1316736"/>
            </a:xfrm>
            <a:custGeom>
              <a:avLst/>
              <a:gdLst/>
              <a:ahLst/>
              <a:cxnLst/>
              <a:rect r="r" b="b" t="t" l="l"/>
              <a:pathLst>
                <a:path h="1316736" w="3931920">
                  <a:moveTo>
                    <a:pt x="0" y="0"/>
                  </a:moveTo>
                  <a:lnTo>
                    <a:pt x="3931920" y="0"/>
                  </a:lnTo>
                  <a:lnTo>
                    <a:pt x="3931920" y="1316736"/>
                  </a:lnTo>
                  <a:lnTo>
                    <a:pt x="0" y="1316736"/>
                  </a:lnTo>
                  <a:close/>
                </a:path>
              </a:pathLst>
            </a:custGeom>
            <a:solidFill>
              <a:srgbClr val="1B5F39"/>
            </a:solidFill>
          </p:spPr>
        </p:sp>
        <p:sp>
          <p:nvSpPr>
            <p:cNvPr name="Freeform 23" id="23"/>
            <p:cNvSpPr/>
            <p:nvPr/>
          </p:nvSpPr>
          <p:spPr>
            <a:xfrm flipH="false" flipV="false" rot="0">
              <a:off x="0" y="0"/>
              <a:ext cx="3949700" cy="1334516"/>
            </a:xfrm>
            <a:custGeom>
              <a:avLst/>
              <a:gdLst/>
              <a:ahLst/>
              <a:cxnLst/>
              <a:rect r="r" b="b" t="t" l="l"/>
              <a:pathLst>
                <a:path h="1334516" w="3949700">
                  <a:moveTo>
                    <a:pt x="8890" y="0"/>
                  </a:moveTo>
                  <a:lnTo>
                    <a:pt x="3940810" y="0"/>
                  </a:lnTo>
                  <a:cubicBezTo>
                    <a:pt x="3945763" y="0"/>
                    <a:pt x="3949700" y="3937"/>
                    <a:pt x="3949700" y="8890"/>
                  </a:cubicBezTo>
                  <a:lnTo>
                    <a:pt x="3949700" y="1325626"/>
                  </a:lnTo>
                  <a:cubicBezTo>
                    <a:pt x="3949700" y="1330579"/>
                    <a:pt x="3945763" y="1334516"/>
                    <a:pt x="39408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3940810" y="1316736"/>
                  </a:lnTo>
                  <a:lnTo>
                    <a:pt x="3940810" y="1325626"/>
                  </a:lnTo>
                  <a:lnTo>
                    <a:pt x="3931920" y="1325626"/>
                  </a:lnTo>
                  <a:lnTo>
                    <a:pt x="3931920" y="8890"/>
                  </a:lnTo>
                  <a:lnTo>
                    <a:pt x="3940810" y="8890"/>
                  </a:lnTo>
                  <a:lnTo>
                    <a:pt x="3940810" y="17780"/>
                  </a:lnTo>
                  <a:lnTo>
                    <a:pt x="8890" y="17780"/>
                  </a:lnTo>
                  <a:close/>
                </a:path>
              </a:pathLst>
            </a:custGeom>
            <a:solidFill>
              <a:srgbClr val="DDE8E1"/>
            </a:solidFill>
          </p:spPr>
        </p:sp>
        <p:sp>
          <p:nvSpPr>
            <p:cNvPr name="TextBox 24" id="24"/>
            <p:cNvSpPr txBox="true"/>
            <p:nvPr/>
          </p:nvSpPr>
          <p:spPr>
            <a:xfrm>
              <a:off x="0" y="-19050"/>
              <a:ext cx="3949700" cy="1353566"/>
            </a:xfrm>
            <a:prstGeom prst="rect">
              <a:avLst/>
            </a:prstGeom>
          </p:spPr>
          <p:txBody>
            <a:bodyPr anchor="ctr" rtlCol="false" tIns="50800" lIns="50800" bIns="50800" rIns="50800"/>
            <a:lstStyle/>
            <a:p>
              <a:pPr algn="l">
                <a:lnSpc>
                  <a:spcPts val="2070"/>
                </a:lnSpc>
              </a:pPr>
              <a:r>
                <a:rPr lang="en-US" sz="1725" b="true">
                  <a:solidFill>
                    <a:srgbClr val="FFFFFF"/>
                  </a:solidFill>
                  <a:latin typeface="Arial Bold"/>
                  <a:ea typeface="Arial Bold"/>
                  <a:cs typeface="Arial Bold"/>
                  <a:sym typeface="Arial Bold"/>
                </a:rPr>
                <a:t>Nhóm chức năng</a:t>
              </a:r>
            </a:p>
          </p:txBody>
        </p:sp>
      </p:grpSp>
      <p:grpSp>
        <p:nvGrpSpPr>
          <p:cNvPr name="Group 25" id="25"/>
          <p:cNvGrpSpPr/>
          <p:nvPr/>
        </p:nvGrpSpPr>
        <p:grpSpPr>
          <a:xfrm rot="0">
            <a:off x="3998404" y="2256472"/>
            <a:ext cx="7077075" cy="1000887"/>
            <a:chOff x="0" y="0"/>
            <a:chExt cx="9436100" cy="1334516"/>
          </a:xfrm>
        </p:grpSpPr>
        <p:sp>
          <p:nvSpPr>
            <p:cNvPr name="Freeform 26" id="26"/>
            <p:cNvSpPr/>
            <p:nvPr/>
          </p:nvSpPr>
          <p:spPr>
            <a:xfrm flipH="false" flipV="false" rot="0">
              <a:off x="8890" y="8890"/>
              <a:ext cx="9418320" cy="1316736"/>
            </a:xfrm>
            <a:custGeom>
              <a:avLst/>
              <a:gdLst/>
              <a:ahLst/>
              <a:cxnLst/>
              <a:rect r="r" b="b" t="t" l="l"/>
              <a:pathLst>
                <a:path h="1316736" w="9418320">
                  <a:moveTo>
                    <a:pt x="0" y="0"/>
                  </a:moveTo>
                  <a:lnTo>
                    <a:pt x="9418320" y="0"/>
                  </a:lnTo>
                  <a:lnTo>
                    <a:pt x="9418320" y="1316736"/>
                  </a:lnTo>
                  <a:lnTo>
                    <a:pt x="0" y="1316736"/>
                  </a:lnTo>
                  <a:close/>
                </a:path>
              </a:pathLst>
            </a:custGeom>
            <a:solidFill>
              <a:srgbClr val="1B5F39"/>
            </a:solidFill>
          </p:spPr>
        </p:sp>
        <p:sp>
          <p:nvSpPr>
            <p:cNvPr name="Freeform 27" id="27"/>
            <p:cNvSpPr/>
            <p:nvPr/>
          </p:nvSpPr>
          <p:spPr>
            <a:xfrm flipH="false" flipV="false" rot="0">
              <a:off x="0" y="0"/>
              <a:ext cx="9436100" cy="1334516"/>
            </a:xfrm>
            <a:custGeom>
              <a:avLst/>
              <a:gdLst/>
              <a:ahLst/>
              <a:cxnLst/>
              <a:rect r="r" b="b" t="t" l="l"/>
              <a:pathLst>
                <a:path h="1334516" w="9436100">
                  <a:moveTo>
                    <a:pt x="8890" y="0"/>
                  </a:moveTo>
                  <a:lnTo>
                    <a:pt x="9427210" y="0"/>
                  </a:lnTo>
                  <a:cubicBezTo>
                    <a:pt x="9432163" y="0"/>
                    <a:pt x="9436100" y="3937"/>
                    <a:pt x="9436100" y="8890"/>
                  </a:cubicBezTo>
                  <a:lnTo>
                    <a:pt x="9436100" y="1325626"/>
                  </a:lnTo>
                  <a:cubicBezTo>
                    <a:pt x="9436100" y="1330579"/>
                    <a:pt x="9432163" y="1334516"/>
                    <a:pt x="94272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9427210" y="1316736"/>
                  </a:lnTo>
                  <a:lnTo>
                    <a:pt x="9427210" y="1325626"/>
                  </a:lnTo>
                  <a:lnTo>
                    <a:pt x="9418320" y="1325626"/>
                  </a:lnTo>
                  <a:lnTo>
                    <a:pt x="9418320" y="8890"/>
                  </a:lnTo>
                  <a:lnTo>
                    <a:pt x="9427210" y="8890"/>
                  </a:lnTo>
                  <a:lnTo>
                    <a:pt x="9427210" y="17780"/>
                  </a:lnTo>
                  <a:lnTo>
                    <a:pt x="8890" y="17780"/>
                  </a:lnTo>
                  <a:close/>
                </a:path>
              </a:pathLst>
            </a:custGeom>
            <a:solidFill>
              <a:srgbClr val="DDE8E1"/>
            </a:solidFill>
          </p:spPr>
        </p:sp>
        <p:sp>
          <p:nvSpPr>
            <p:cNvPr name="TextBox 28" id="28"/>
            <p:cNvSpPr txBox="true"/>
            <p:nvPr/>
          </p:nvSpPr>
          <p:spPr>
            <a:xfrm>
              <a:off x="0" y="-19050"/>
              <a:ext cx="9436100" cy="1353566"/>
            </a:xfrm>
            <a:prstGeom prst="rect">
              <a:avLst/>
            </a:prstGeom>
          </p:spPr>
          <p:txBody>
            <a:bodyPr anchor="ctr" rtlCol="false" tIns="50800" lIns="50800" bIns="50800" rIns="50800"/>
            <a:lstStyle/>
            <a:p>
              <a:pPr algn="l">
                <a:lnSpc>
                  <a:spcPts val="2070"/>
                </a:lnSpc>
              </a:pPr>
              <a:r>
                <a:rPr lang="en-US" sz="1725" b="true">
                  <a:solidFill>
                    <a:srgbClr val="FFFFFF"/>
                  </a:solidFill>
                  <a:latin typeface="Arial Bold"/>
                  <a:ea typeface="Arial Bold"/>
                  <a:cs typeface="Arial Bold"/>
                  <a:sym typeface="Arial Bold"/>
                </a:rPr>
                <a:t>Cách nhóm kiểm tra</a:t>
              </a:r>
            </a:p>
          </p:txBody>
        </p:sp>
      </p:grpSp>
      <p:grpSp>
        <p:nvGrpSpPr>
          <p:cNvPr name="Group 29" id="29"/>
          <p:cNvGrpSpPr/>
          <p:nvPr/>
        </p:nvGrpSpPr>
        <p:grpSpPr>
          <a:xfrm rot="0">
            <a:off x="11089576" y="2256472"/>
            <a:ext cx="5979795" cy="1000887"/>
            <a:chOff x="0" y="0"/>
            <a:chExt cx="7973060" cy="1334516"/>
          </a:xfrm>
        </p:grpSpPr>
        <p:sp>
          <p:nvSpPr>
            <p:cNvPr name="Freeform 30" id="30"/>
            <p:cNvSpPr/>
            <p:nvPr/>
          </p:nvSpPr>
          <p:spPr>
            <a:xfrm flipH="false" flipV="false" rot="0">
              <a:off x="8890" y="8890"/>
              <a:ext cx="7955280" cy="1316736"/>
            </a:xfrm>
            <a:custGeom>
              <a:avLst/>
              <a:gdLst/>
              <a:ahLst/>
              <a:cxnLst/>
              <a:rect r="r" b="b" t="t" l="l"/>
              <a:pathLst>
                <a:path h="1316736" w="7955280">
                  <a:moveTo>
                    <a:pt x="0" y="0"/>
                  </a:moveTo>
                  <a:lnTo>
                    <a:pt x="7955280" y="0"/>
                  </a:lnTo>
                  <a:lnTo>
                    <a:pt x="7955280" y="1316736"/>
                  </a:lnTo>
                  <a:lnTo>
                    <a:pt x="0" y="1316736"/>
                  </a:lnTo>
                  <a:close/>
                </a:path>
              </a:pathLst>
            </a:custGeom>
            <a:solidFill>
              <a:srgbClr val="1B5F39"/>
            </a:solidFill>
          </p:spPr>
        </p:sp>
        <p:sp>
          <p:nvSpPr>
            <p:cNvPr name="Freeform 31" id="31"/>
            <p:cNvSpPr/>
            <p:nvPr/>
          </p:nvSpPr>
          <p:spPr>
            <a:xfrm flipH="false" flipV="false" rot="0">
              <a:off x="0" y="0"/>
              <a:ext cx="7973060" cy="1334516"/>
            </a:xfrm>
            <a:custGeom>
              <a:avLst/>
              <a:gdLst/>
              <a:ahLst/>
              <a:cxnLst/>
              <a:rect r="r" b="b" t="t" l="l"/>
              <a:pathLst>
                <a:path h="1334516" w="7973060">
                  <a:moveTo>
                    <a:pt x="8890" y="0"/>
                  </a:moveTo>
                  <a:lnTo>
                    <a:pt x="7964170" y="0"/>
                  </a:lnTo>
                  <a:cubicBezTo>
                    <a:pt x="7969123" y="0"/>
                    <a:pt x="7973060" y="3937"/>
                    <a:pt x="7973060" y="8890"/>
                  </a:cubicBezTo>
                  <a:lnTo>
                    <a:pt x="7973060" y="1325626"/>
                  </a:lnTo>
                  <a:cubicBezTo>
                    <a:pt x="7973060" y="1330579"/>
                    <a:pt x="7969123" y="1334516"/>
                    <a:pt x="796417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7964170" y="1316736"/>
                  </a:lnTo>
                  <a:lnTo>
                    <a:pt x="7964170" y="1325626"/>
                  </a:lnTo>
                  <a:lnTo>
                    <a:pt x="7955280" y="1325626"/>
                  </a:lnTo>
                  <a:lnTo>
                    <a:pt x="7955280" y="8890"/>
                  </a:lnTo>
                  <a:lnTo>
                    <a:pt x="7964170" y="8890"/>
                  </a:lnTo>
                  <a:lnTo>
                    <a:pt x="7964170" y="17780"/>
                  </a:lnTo>
                  <a:lnTo>
                    <a:pt x="8890" y="17780"/>
                  </a:lnTo>
                  <a:close/>
                </a:path>
              </a:pathLst>
            </a:custGeom>
            <a:solidFill>
              <a:srgbClr val="DDE8E1"/>
            </a:solidFill>
          </p:spPr>
        </p:sp>
        <p:sp>
          <p:nvSpPr>
            <p:cNvPr name="TextBox 32" id="32"/>
            <p:cNvSpPr txBox="true"/>
            <p:nvPr/>
          </p:nvSpPr>
          <p:spPr>
            <a:xfrm>
              <a:off x="0" y="-19050"/>
              <a:ext cx="7973060" cy="1353566"/>
            </a:xfrm>
            <a:prstGeom prst="rect">
              <a:avLst/>
            </a:prstGeom>
          </p:spPr>
          <p:txBody>
            <a:bodyPr anchor="ctr" rtlCol="false" tIns="50800" lIns="50800" bIns="50800" rIns="50800"/>
            <a:lstStyle/>
            <a:p>
              <a:pPr algn="l">
                <a:lnSpc>
                  <a:spcPts val="2070"/>
                </a:lnSpc>
              </a:pPr>
              <a:r>
                <a:rPr lang="en-US" sz="1725" b="true">
                  <a:solidFill>
                    <a:srgbClr val="FFFFFF"/>
                  </a:solidFill>
                  <a:latin typeface="Arial Bold"/>
                  <a:ea typeface="Arial Bold"/>
                  <a:cs typeface="Arial Bold"/>
                  <a:sym typeface="Arial Bold"/>
                </a:rPr>
                <a:t>Kỳ vọng</a:t>
              </a:r>
            </a:p>
          </p:txBody>
        </p:sp>
      </p:grpSp>
      <p:grpSp>
        <p:nvGrpSpPr>
          <p:cNvPr name="Group 33" id="33"/>
          <p:cNvGrpSpPr/>
          <p:nvPr/>
        </p:nvGrpSpPr>
        <p:grpSpPr>
          <a:xfrm rot="0">
            <a:off x="1022032" y="3271456"/>
            <a:ext cx="2962275" cy="1000887"/>
            <a:chOff x="0" y="0"/>
            <a:chExt cx="3949700" cy="1334516"/>
          </a:xfrm>
        </p:grpSpPr>
        <p:sp>
          <p:nvSpPr>
            <p:cNvPr name="Freeform 34" id="34"/>
            <p:cNvSpPr/>
            <p:nvPr/>
          </p:nvSpPr>
          <p:spPr>
            <a:xfrm flipH="false" flipV="false" rot="0">
              <a:off x="8890" y="8890"/>
              <a:ext cx="3931920" cy="1316736"/>
            </a:xfrm>
            <a:custGeom>
              <a:avLst/>
              <a:gdLst/>
              <a:ahLst/>
              <a:cxnLst/>
              <a:rect r="r" b="b" t="t" l="l"/>
              <a:pathLst>
                <a:path h="1316736" w="3931920">
                  <a:moveTo>
                    <a:pt x="0" y="0"/>
                  </a:moveTo>
                  <a:lnTo>
                    <a:pt x="3931920" y="0"/>
                  </a:lnTo>
                  <a:lnTo>
                    <a:pt x="3931920" y="1316736"/>
                  </a:lnTo>
                  <a:lnTo>
                    <a:pt x="0" y="1316736"/>
                  </a:lnTo>
                  <a:close/>
                </a:path>
              </a:pathLst>
            </a:custGeom>
            <a:solidFill>
              <a:srgbClr val="F8F7F1"/>
            </a:solidFill>
          </p:spPr>
        </p:sp>
        <p:sp>
          <p:nvSpPr>
            <p:cNvPr name="Freeform 35" id="35"/>
            <p:cNvSpPr/>
            <p:nvPr/>
          </p:nvSpPr>
          <p:spPr>
            <a:xfrm flipH="false" flipV="false" rot="0">
              <a:off x="0" y="0"/>
              <a:ext cx="3949700" cy="1334516"/>
            </a:xfrm>
            <a:custGeom>
              <a:avLst/>
              <a:gdLst/>
              <a:ahLst/>
              <a:cxnLst/>
              <a:rect r="r" b="b" t="t" l="l"/>
              <a:pathLst>
                <a:path h="1334516" w="3949700">
                  <a:moveTo>
                    <a:pt x="8890" y="0"/>
                  </a:moveTo>
                  <a:lnTo>
                    <a:pt x="3940810" y="0"/>
                  </a:lnTo>
                  <a:cubicBezTo>
                    <a:pt x="3945763" y="0"/>
                    <a:pt x="3949700" y="3937"/>
                    <a:pt x="3949700" y="8890"/>
                  </a:cubicBezTo>
                  <a:lnTo>
                    <a:pt x="3949700" y="1325626"/>
                  </a:lnTo>
                  <a:cubicBezTo>
                    <a:pt x="3949700" y="1330579"/>
                    <a:pt x="3945763" y="1334516"/>
                    <a:pt x="39408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3940810" y="1316736"/>
                  </a:lnTo>
                  <a:lnTo>
                    <a:pt x="3940810" y="1325626"/>
                  </a:lnTo>
                  <a:lnTo>
                    <a:pt x="3931920" y="1325626"/>
                  </a:lnTo>
                  <a:lnTo>
                    <a:pt x="3931920" y="8890"/>
                  </a:lnTo>
                  <a:lnTo>
                    <a:pt x="3940810" y="8890"/>
                  </a:lnTo>
                  <a:lnTo>
                    <a:pt x="3940810" y="17780"/>
                  </a:lnTo>
                  <a:lnTo>
                    <a:pt x="8890" y="17780"/>
                  </a:lnTo>
                  <a:close/>
                </a:path>
              </a:pathLst>
            </a:custGeom>
            <a:solidFill>
              <a:srgbClr val="DDE8E1"/>
            </a:solidFill>
          </p:spPr>
        </p:sp>
        <p:sp>
          <p:nvSpPr>
            <p:cNvPr name="TextBox 36" id="36"/>
            <p:cNvSpPr txBox="true"/>
            <p:nvPr/>
          </p:nvSpPr>
          <p:spPr>
            <a:xfrm>
              <a:off x="0" y="-9525"/>
              <a:ext cx="394970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Điều hướng</a:t>
              </a:r>
            </a:p>
          </p:txBody>
        </p:sp>
      </p:grpSp>
      <p:grpSp>
        <p:nvGrpSpPr>
          <p:cNvPr name="Group 37" id="37"/>
          <p:cNvGrpSpPr/>
          <p:nvPr/>
        </p:nvGrpSpPr>
        <p:grpSpPr>
          <a:xfrm rot="0">
            <a:off x="3998404" y="3271456"/>
            <a:ext cx="7077075" cy="1000887"/>
            <a:chOff x="0" y="0"/>
            <a:chExt cx="9436100" cy="1334516"/>
          </a:xfrm>
        </p:grpSpPr>
        <p:sp>
          <p:nvSpPr>
            <p:cNvPr name="Freeform 38" id="38"/>
            <p:cNvSpPr/>
            <p:nvPr/>
          </p:nvSpPr>
          <p:spPr>
            <a:xfrm flipH="false" flipV="false" rot="0">
              <a:off x="8890" y="8890"/>
              <a:ext cx="9418320" cy="1316736"/>
            </a:xfrm>
            <a:custGeom>
              <a:avLst/>
              <a:gdLst/>
              <a:ahLst/>
              <a:cxnLst/>
              <a:rect r="r" b="b" t="t" l="l"/>
              <a:pathLst>
                <a:path h="1316736" w="9418320">
                  <a:moveTo>
                    <a:pt x="0" y="0"/>
                  </a:moveTo>
                  <a:lnTo>
                    <a:pt x="9418320" y="0"/>
                  </a:lnTo>
                  <a:lnTo>
                    <a:pt x="9418320" y="1316736"/>
                  </a:lnTo>
                  <a:lnTo>
                    <a:pt x="0" y="1316736"/>
                  </a:lnTo>
                  <a:close/>
                </a:path>
              </a:pathLst>
            </a:custGeom>
            <a:solidFill>
              <a:srgbClr val="F8F7F1"/>
            </a:solidFill>
          </p:spPr>
        </p:sp>
        <p:sp>
          <p:nvSpPr>
            <p:cNvPr name="Freeform 39" id="39"/>
            <p:cNvSpPr/>
            <p:nvPr/>
          </p:nvSpPr>
          <p:spPr>
            <a:xfrm flipH="false" flipV="false" rot="0">
              <a:off x="0" y="0"/>
              <a:ext cx="9436100" cy="1334516"/>
            </a:xfrm>
            <a:custGeom>
              <a:avLst/>
              <a:gdLst/>
              <a:ahLst/>
              <a:cxnLst/>
              <a:rect r="r" b="b" t="t" l="l"/>
              <a:pathLst>
                <a:path h="1334516" w="9436100">
                  <a:moveTo>
                    <a:pt x="8890" y="0"/>
                  </a:moveTo>
                  <a:lnTo>
                    <a:pt x="9427210" y="0"/>
                  </a:lnTo>
                  <a:cubicBezTo>
                    <a:pt x="9432163" y="0"/>
                    <a:pt x="9436100" y="3937"/>
                    <a:pt x="9436100" y="8890"/>
                  </a:cubicBezTo>
                  <a:lnTo>
                    <a:pt x="9436100" y="1325626"/>
                  </a:lnTo>
                  <a:cubicBezTo>
                    <a:pt x="9436100" y="1330579"/>
                    <a:pt x="9432163" y="1334516"/>
                    <a:pt x="94272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9427210" y="1316736"/>
                  </a:lnTo>
                  <a:lnTo>
                    <a:pt x="9427210" y="1325626"/>
                  </a:lnTo>
                  <a:lnTo>
                    <a:pt x="9418320" y="1325626"/>
                  </a:lnTo>
                  <a:lnTo>
                    <a:pt x="9418320" y="8890"/>
                  </a:lnTo>
                  <a:lnTo>
                    <a:pt x="9427210" y="8890"/>
                  </a:lnTo>
                  <a:lnTo>
                    <a:pt x="9427210" y="17780"/>
                  </a:lnTo>
                  <a:lnTo>
                    <a:pt x="8890" y="17780"/>
                  </a:lnTo>
                  <a:close/>
                </a:path>
              </a:pathLst>
            </a:custGeom>
            <a:solidFill>
              <a:srgbClr val="DDE8E1"/>
            </a:solidFill>
          </p:spPr>
        </p:sp>
        <p:sp>
          <p:nvSpPr>
            <p:cNvPr name="TextBox 40" id="40"/>
            <p:cNvSpPr txBox="true"/>
            <p:nvPr/>
          </p:nvSpPr>
          <p:spPr>
            <a:xfrm>
              <a:off x="0" y="-9525"/>
              <a:ext cx="943610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Bấm menu Trang chủ, Giới thiệu, Sản phẩm, Cho thuê.</a:t>
              </a:r>
            </a:p>
          </p:txBody>
        </p:sp>
      </p:grpSp>
      <p:grpSp>
        <p:nvGrpSpPr>
          <p:cNvPr name="Group 41" id="41"/>
          <p:cNvGrpSpPr/>
          <p:nvPr/>
        </p:nvGrpSpPr>
        <p:grpSpPr>
          <a:xfrm rot="0">
            <a:off x="11089576" y="3271456"/>
            <a:ext cx="5979795" cy="1000887"/>
            <a:chOff x="0" y="0"/>
            <a:chExt cx="7973060" cy="1334516"/>
          </a:xfrm>
        </p:grpSpPr>
        <p:sp>
          <p:nvSpPr>
            <p:cNvPr name="Freeform 42" id="42"/>
            <p:cNvSpPr/>
            <p:nvPr/>
          </p:nvSpPr>
          <p:spPr>
            <a:xfrm flipH="false" flipV="false" rot="0">
              <a:off x="8890" y="8890"/>
              <a:ext cx="7955280" cy="1316736"/>
            </a:xfrm>
            <a:custGeom>
              <a:avLst/>
              <a:gdLst/>
              <a:ahLst/>
              <a:cxnLst/>
              <a:rect r="r" b="b" t="t" l="l"/>
              <a:pathLst>
                <a:path h="1316736" w="7955280">
                  <a:moveTo>
                    <a:pt x="0" y="0"/>
                  </a:moveTo>
                  <a:lnTo>
                    <a:pt x="7955280" y="0"/>
                  </a:lnTo>
                  <a:lnTo>
                    <a:pt x="7955280" y="1316736"/>
                  </a:lnTo>
                  <a:lnTo>
                    <a:pt x="0" y="1316736"/>
                  </a:lnTo>
                  <a:close/>
                </a:path>
              </a:pathLst>
            </a:custGeom>
            <a:solidFill>
              <a:srgbClr val="F8F7F1"/>
            </a:solidFill>
          </p:spPr>
        </p:sp>
        <p:sp>
          <p:nvSpPr>
            <p:cNvPr name="Freeform 43" id="43"/>
            <p:cNvSpPr/>
            <p:nvPr/>
          </p:nvSpPr>
          <p:spPr>
            <a:xfrm flipH="false" flipV="false" rot="0">
              <a:off x="0" y="0"/>
              <a:ext cx="7973060" cy="1334516"/>
            </a:xfrm>
            <a:custGeom>
              <a:avLst/>
              <a:gdLst/>
              <a:ahLst/>
              <a:cxnLst/>
              <a:rect r="r" b="b" t="t" l="l"/>
              <a:pathLst>
                <a:path h="1334516" w="7973060">
                  <a:moveTo>
                    <a:pt x="8890" y="0"/>
                  </a:moveTo>
                  <a:lnTo>
                    <a:pt x="7964170" y="0"/>
                  </a:lnTo>
                  <a:cubicBezTo>
                    <a:pt x="7969123" y="0"/>
                    <a:pt x="7973060" y="3937"/>
                    <a:pt x="7973060" y="8890"/>
                  </a:cubicBezTo>
                  <a:lnTo>
                    <a:pt x="7973060" y="1325626"/>
                  </a:lnTo>
                  <a:cubicBezTo>
                    <a:pt x="7973060" y="1330579"/>
                    <a:pt x="7969123" y="1334516"/>
                    <a:pt x="796417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7964170" y="1316736"/>
                  </a:lnTo>
                  <a:lnTo>
                    <a:pt x="7964170" y="1325626"/>
                  </a:lnTo>
                  <a:lnTo>
                    <a:pt x="7955280" y="1325626"/>
                  </a:lnTo>
                  <a:lnTo>
                    <a:pt x="7955280" y="8890"/>
                  </a:lnTo>
                  <a:lnTo>
                    <a:pt x="7964170" y="8890"/>
                  </a:lnTo>
                  <a:lnTo>
                    <a:pt x="7964170" y="17780"/>
                  </a:lnTo>
                  <a:lnTo>
                    <a:pt x="8890" y="17780"/>
                  </a:lnTo>
                  <a:close/>
                </a:path>
              </a:pathLst>
            </a:custGeom>
            <a:solidFill>
              <a:srgbClr val="DDE8E1"/>
            </a:solidFill>
          </p:spPr>
        </p:sp>
        <p:sp>
          <p:nvSpPr>
            <p:cNvPr name="TextBox 44" id="44"/>
            <p:cNvSpPr txBox="true"/>
            <p:nvPr/>
          </p:nvSpPr>
          <p:spPr>
            <a:xfrm>
              <a:off x="0" y="-9525"/>
              <a:ext cx="797306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Trang chuyển đúng, không mất bố cục.</a:t>
              </a:r>
            </a:p>
          </p:txBody>
        </p:sp>
      </p:grpSp>
      <p:grpSp>
        <p:nvGrpSpPr>
          <p:cNvPr name="Group 45" id="45"/>
          <p:cNvGrpSpPr/>
          <p:nvPr/>
        </p:nvGrpSpPr>
        <p:grpSpPr>
          <a:xfrm rot="0">
            <a:off x="1022032" y="4286440"/>
            <a:ext cx="2962275" cy="1000887"/>
            <a:chOff x="0" y="0"/>
            <a:chExt cx="3949700" cy="1334516"/>
          </a:xfrm>
        </p:grpSpPr>
        <p:sp>
          <p:nvSpPr>
            <p:cNvPr name="Freeform 46" id="46"/>
            <p:cNvSpPr/>
            <p:nvPr/>
          </p:nvSpPr>
          <p:spPr>
            <a:xfrm flipH="false" flipV="false" rot="0">
              <a:off x="8890" y="8890"/>
              <a:ext cx="3931920" cy="1316736"/>
            </a:xfrm>
            <a:custGeom>
              <a:avLst/>
              <a:gdLst/>
              <a:ahLst/>
              <a:cxnLst/>
              <a:rect r="r" b="b" t="t" l="l"/>
              <a:pathLst>
                <a:path h="1316736" w="3931920">
                  <a:moveTo>
                    <a:pt x="0" y="0"/>
                  </a:moveTo>
                  <a:lnTo>
                    <a:pt x="3931920" y="0"/>
                  </a:lnTo>
                  <a:lnTo>
                    <a:pt x="3931920" y="1316736"/>
                  </a:lnTo>
                  <a:lnTo>
                    <a:pt x="0" y="1316736"/>
                  </a:lnTo>
                  <a:close/>
                </a:path>
              </a:pathLst>
            </a:custGeom>
            <a:solidFill>
              <a:srgbClr val="FFFDF8"/>
            </a:solidFill>
          </p:spPr>
        </p:sp>
        <p:sp>
          <p:nvSpPr>
            <p:cNvPr name="Freeform 47" id="47"/>
            <p:cNvSpPr/>
            <p:nvPr/>
          </p:nvSpPr>
          <p:spPr>
            <a:xfrm flipH="false" flipV="false" rot="0">
              <a:off x="0" y="0"/>
              <a:ext cx="3949700" cy="1334516"/>
            </a:xfrm>
            <a:custGeom>
              <a:avLst/>
              <a:gdLst/>
              <a:ahLst/>
              <a:cxnLst/>
              <a:rect r="r" b="b" t="t" l="l"/>
              <a:pathLst>
                <a:path h="1334516" w="3949700">
                  <a:moveTo>
                    <a:pt x="8890" y="0"/>
                  </a:moveTo>
                  <a:lnTo>
                    <a:pt x="3940810" y="0"/>
                  </a:lnTo>
                  <a:cubicBezTo>
                    <a:pt x="3945763" y="0"/>
                    <a:pt x="3949700" y="3937"/>
                    <a:pt x="3949700" y="8890"/>
                  </a:cubicBezTo>
                  <a:lnTo>
                    <a:pt x="3949700" y="1325626"/>
                  </a:lnTo>
                  <a:cubicBezTo>
                    <a:pt x="3949700" y="1330579"/>
                    <a:pt x="3945763" y="1334516"/>
                    <a:pt x="39408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3940810" y="1316736"/>
                  </a:lnTo>
                  <a:lnTo>
                    <a:pt x="3940810" y="1325626"/>
                  </a:lnTo>
                  <a:lnTo>
                    <a:pt x="3931920" y="1325626"/>
                  </a:lnTo>
                  <a:lnTo>
                    <a:pt x="3931920" y="8890"/>
                  </a:lnTo>
                  <a:lnTo>
                    <a:pt x="3940810" y="8890"/>
                  </a:lnTo>
                  <a:lnTo>
                    <a:pt x="3940810" y="17780"/>
                  </a:lnTo>
                  <a:lnTo>
                    <a:pt x="8890" y="17780"/>
                  </a:lnTo>
                  <a:close/>
                </a:path>
              </a:pathLst>
            </a:custGeom>
            <a:solidFill>
              <a:srgbClr val="DDE8E1"/>
            </a:solidFill>
          </p:spPr>
        </p:sp>
        <p:sp>
          <p:nvSpPr>
            <p:cNvPr name="TextBox 48" id="48"/>
            <p:cNvSpPr txBox="true"/>
            <p:nvPr/>
          </p:nvSpPr>
          <p:spPr>
            <a:xfrm>
              <a:off x="0" y="-9525"/>
              <a:ext cx="394970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Danh mục</a:t>
              </a:r>
            </a:p>
          </p:txBody>
        </p:sp>
      </p:grpSp>
      <p:grpSp>
        <p:nvGrpSpPr>
          <p:cNvPr name="Group 49" id="49"/>
          <p:cNvGrpSpPr/>
          <p:nvPr/>
        </p:nvGrpSpPr>
        <p:grpSpPr>
          <a:xfrm rot="0">
            <a:off x="3998404" y="4286440"/>
            <a:ext cx="7077075" cy="1000887"/>
            <a:chOff x="0" y="0"/>
            <a:chExt cx="9436100" cy="1334516"/>
          </a:xfrm>
        </p:grpSpPr>
        <p:sp>
          <p:nvSpPr>
            <p:cNvPr name="Freeform 50" id="50"/>
            <p:cNvSpPr/>
            <p:nvPr/>
          </p:nvSpPr>
          <p:spPr>
            <a:xfrm flipH="false" flipV="false" rot="0">
              <a:off x="8890" y="8890"/>
              <a:ext cx="9418320" cy="1316736"/>
            </a:xfrm>
            <a:custGeom>
              <a:avLst/>
              <a:gdLst/>
              <a:ahLst/>
              <a:cxnLst/>
              <a:rect r="r" b="b" t="t" l="l"/>
              <a:pathLst>
                <a:path h="1316736" w="9418320">
                  <a:moveTo>
                    <a:pt x="0" y="0"/>
                  </a:moveTo>
                  <a:lnTo>
                    <a:pt x="9418320" y="0"/>
                  </a:lnTo>
                  <a:lnTo>
                    <a:pt x="9418320" y="1316736"/>
                  </a:lnTo>
                  <a:lnTo>
                    <a:pt x="0" y="1316736"/>
                  </a:lnTo>
                  <a:close/>
                </a:path>
              </a:pathLst>
            </a:custGeom>
            <a:solidFill>
              <a:srgbClr val="FFFDF8"/>
            </a:solidFill>
          </p:spPr>
        </p:sp>
        <p:sp>
          <p:nvSpPr>
            <p:cNvPr name="Freeform 51" id="51"/>
            <p:cNvSpPr/>
            <p:nvPr/>
          </p:nvSpPr>
          <p:spPr>
            <a:xfrm flipH="false" flipV="false" rot="0">
              <a:off x="0" y="0"/>
              <a:ext cx="9436100" cy="1334516"/>
            </a:xfrm>
            <a:custGeom>
              <a:avLst/>
              <a:gdLst/>
              <a:ahLst/>
              <a:cxnLst/>
              <a:rect r="r" b="b" t="t" l="l"/>
              <a:pathLst>
                <a:path h="1334516" w="9436100">
                  <a:moveTo>
                    <a:pt x="8890" y="0"/>
                  </a:moveTo>
                  <a:lnTo>
                    <a:pt x="9427210" y="0"/>
                  </a:lnTo>
                  <a:cubicBezTo>
                    <a:pt x="9432163" y="0"/>
                    <a:pt x="9436100" y="3937"/>
                    <a:pt x="9436100" y="8890"/>
                  </a:cubicBezTo>
                  <a:lnTo>
                    <a:pt x="9436100" y="1325626"/>
                  </a:lnTo>
                  <a:cubicBezTo>
                    <a:pt x="9436100" y="1330579"/>
                    <a:pt x="9432163" y="1334516"/>
                    <a:pt x="94272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9427210" y="1316736"/>
                  </a:lnTo>
                  <a:lnTo>
                    <a:pt x="9427210" y="1325626"/>
                  </a:lnTo>
                  <a:lnTo>
                    <a:pt x="9418320" y="1325626"/>
                  </a:lnTo>
                  <a:lnTo>
                    <a:pt x="9418320" y="8890"/>
                  </a:lnTo>
                  <a:lnTo>
                    <a:pt x="9427210" y="8890"/>
                  </a:lnTo>
                  <a:lnTo>
                    <a:pt x="9427210" y="17780"/>
                  </a:lnTo>
                  <a:lnTo>
                    <a:pt x="8890" y="17780"/>
                  </a:lnTo>
                  <a:close/>
                </a:path>
              </a:pathLst>
            </a:custGeom>
            <a:solidFill>
              <a:srgbClr val="DDE8E1"/>
            </a:solidFill>
          </p:spPr>
        </p:sp>
        <p:sp>
          <p:nvSpPr>
            <p:cNvPr name="TextBox 52" id="52"/>
            <p:cNvSpPr txBox="true"/>
            <p:nvPr/>
          </p:nvSpPr>
          <p:spPr>
            <a:xfrm>
              <a:off x="0" y="-9525"/>
              <a:ext cx="943610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Thử lọc/sắp xếp và bấm nút chi tiết.</a:t>
              </a:r>
            </a:p>
          </p:txBody>
        </p:sp>
      </p:grpSp>
      <p:grpSp>
        <p:nvGrpSpPr>
          <p:cNvPr name="Group 53" id="53"/>
          <p:cNvGrpSpPr/>
          <p:nvPr/>
        </p:nvGrpSpPr>
        <p:grpSpPr>
          <a:xfrm rot="0">
            <a:off x="11089576" y="4286440"/>
            <a:ext cx="5979795" cy="1000887"/>
            <a:chOff x="0" y="0"/>
            <a:chExt cx="7973060" cy="1334516"/>
          </a:xfrm>
        </p:grpSpPr>
        <p:sp>
          <p:nvSpPr>
            <p:cNvPr name="Freeform 54" id="54"/>
            <p:cNvSpPr/>
            <p:nvPr/>
          </p:nvSpPr>
          <p:spPr>
            <a:xfrm flipH="false" flipV="false" rot="0">
              <a:off x="8890" y="8890"/>
              <a:ext cx="7955280" cy="1316736"/>
            </a:xfrm>
            <a:custGeom>
              <a:avLst/>
              <a:gdLst/>
              <a:ahLst/>
              <a:cxnLst/>
              <a:rect r="r" b="b" t="t" l="l"/>
              <a:pathLst>
                <a:path h="1316736" w="7955280">
                  <a:moveTo>
                    <a:pt x="0" y="0"/>
                  </a:moveTo>
                  <a:lnTo>
                    <a:pt x="7955280" y="0"/>
                  </a:lnTo>
                  <a:lnTo>
                    <a:pt x="7955280" y="1316736"/>
                  </a:lnTo>
                  <a:lnTo>
                    <a:pt x="0" y="1316736"/>
                  </a:lnTo>
                  <a:close/>
                </a:path>
              </a:pathLst>
            </a:custGeom>
            <a:solidFill>
              <a:srgbClr val="FFFDF8"/>
            </a:solidFill>
          </p:spPr>
        </p:sp>
        <p:sp>
          <p:nvSpPr>
            <p:cNvPr name="Freeform 55" id="55"/>
            <p:cNvSpPr/>
            <p:nvPr/>
          </p:nvSpPr>
          <p:spPr>
            <a:xfrm flipH="false" flipV="false" rot="0">
              <a:off x="0" y="0"/>
              <a:ext cx="7973060" cy="1334516"/>
            </a:xfrm>
            <a:custGeom>
              <a:avLst/>
              <a:gdLst/>
              <a:ahLst/>
              <a:cxnLst/>
              <a:rect r="r" b="b" t="t" l="l"/>
              <a:pathLst>
                <a:path h="1334516" w="7973060">
                  <a:moveTo>
                    <a:pt x="8890" y="0"/>
                  </a:moveTo>
                  <a:lnTo>
                    <a:pt x="7964170" y="0"/>
                  </a:lnTo>
                  <a:cubicBezTo>
                    <a:pt x="7969123" y="0"/>
                    <a:pt x="7973060" y="3937"/>
                    <a:pt x="7973060" y="8890"/>
                  </a:cubicBezTo>
                  <a:lnTo>
                    <a:pt x="7973060" y="1325626"/>
                  </a:lnTo>
                  <a:cubicBezTo>
                    <a:pt x="7973060" y="1330579"/>
                    <a:pt x="7969123" y="1334516"/>
                    <a:pt x="796417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7964170" y="1316736"/>
                  </a:lnTo>
                  <a:lnTo>
                    <a:pt x="7964170" y="1325626"/>
                  </a:lnTo>
                  <a:lnTo>
                    <a:pt x="7955280" y="1325626"/>
                  </a:lnTo>
                  <a:lnTo>
                    <a:pt x="7955280" y="8890"/>
                  </a:lnTo>
                  <a:lnTo>
                    <a:pt x="7964170" y="8890"/>
                  </a:lnTo>
                  <a:lnTo>
                    <a:pt x="7964170" y="17780"/>
                  </a:lnTo>
                  <a:lnTo>
                    <a:pt x="8890" y="17780"/>
                  </a:lnTo>
                  <a:close/>
                </a:path>
              </a:pathLst>
            </a:custGeom>
            <a:solidFill>
              <a:srgbClr val="DDE8E1"/>
            </a:solidFill>
          </p:spPr>
        </p:sp>
        <p:sp>
          <p:nvSpPr>
            <p:cNvPr name="TextBox 56" id="56"/>
            <p:cNvSpPr txBox="true"/>
            <p:nvPr/>
          </p:nvSpPr>
          <p:spPr>
            <a:xfrm>
              <a:off x="0" y="-9525"/>
              <a:ext cx="797306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Sản phẩm hiển thị hợp lý, liên kết hoạt động.</a:t>
              </a:r>
            </a:p>
          </p:txBody>
        </p:sp>
      </p:grpSp>
      <p:grpSp>
        <p:nvGrpSpPr>
          <p:cNvPr name="Group 57" id="57"/>
          <p:cNvGrpSpPr/>
          <p:nvPr/>
        </p:nvGrpSpPr>
        <p:grpSpPr>
          <a:xfrm rot="0">
            <a:off x="1022032" y="5301425"/>
            <a:ext cx="2962275" cy="1000887"/>
            <a:chOff x="0" y="0"/>
            <a:chExt cx="3949700" cy="1334516"/>
          </a:xfrm>
        </p:grpSpPr>
        <p:sp>
          <p:nvSpPr>
            <p:cNvPr name="Freeform 58" id="58"/>
            <p:cNvSpPr/>
            <p:nvPr/>
          </p:nvSpPr>
          <p:spPr>
            <a:xfrm flipH="false" flipV="false" rot="0">
              <a:off x="8890" y="8890"/>
              <a:ext cx="3931920" cy="1316736"/>
            </a:xfrm>
            <a:custGeom>
              <a:avLst/>
              <a:gdLst/>
              <a:ahLst/>
              <a:cxnLst/>
              <a:rect r="r" b="b" t="t" l="l"/>
              <a:pathLst>
                <a:path h="1316736" w="3931920">
                  <a:moveTo>
                    <a:pt x="0" y="0"/>
                  </a:moveTo>
                  <a:lnTo>
                    <a:pt x="3931920" y="0"/>
                  </a:lnTo>
                  <a:lnTo>
                    <a:pt x="3931920" y="1316736"/>
                  </a:lnTo>
                  <a:lnTo>
                    <a:pt x="0" y="1316736"/>
                  </a:lnTo>
                  <a:close/>
                </a:path>
              </a:pathLst>
            </a:custGeom>
            <a:solidFill>
              <a:srgbClr val="F8F7F1"/>
            </a:solidFill>
          </p:spPr>
        </p:sp>
        <p:sp>
          <p:nvSpPr>
            <p:cNvPr name="Freeform 59" id="59"/>
            <p:cNvSpPr/>
            <p:nvPr/>
          </p:nvSpPr>
          <p:spPr>
            <a:xfrm flipH="false" flipV="false" rot="0">
              <a:off x="0" y="0"/>
              <a:ext cx="3949700" cy="1334516"/>
            </a:xfrm>
            <a:custGeom>
              <a:avLst/>
              <a:gdLst/>
              <a:ahLst/>
              <a:cxnLst/>
              <a:rect r="r" b="b" t="t" l="l"/>
              <a:pathLst>
                <a:path h="1334516" w="3949700">
                  <a:moveTo>
                    <a:pt x="8890" y="0"/>
                  </a:moveTo>
                  <a:lnTo>
                    <a:pt x="3940810" y="0"/>
                  </a:lnTo>
                  <a:cubicBezTo>
                    <a:pt x="3945763" y="0"/>
                    <a:pt x="3949700" y="3937"/>
                    <a:pt x="3949700" y="8890"/>
                  </a:cubicBezTo>
                  <a:lnTo>
                    <a:pt x="3949700" y="1325626"/>
                  </a:lnTo>
                  <a:cubicBezTo>
                    <a:pt x="3949700" y="1330579"/>
                    <a:pt x="3945763" y="1334516"/>
                    <a:pt x="39408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3940810" y="1316736"/>
                  </a:lnTo>
                  <a:lnTo>
                    <a:pt x="3940810" y="1325626"/>
                  </a:lnTo>
                  <a:lnTo>
                    <a:pt x="3931920" y="1325626"/>
                  </a:lnTo>
                  <a:lnTo>
                    <a:pt x="3931920" y="8890"/>
                  </a:lnTo>
                  <a:lnTo>
                    <a:pt x="3940810" y="8890"/>
                  </a:lnTo>
                  <a:lnTo>
                    <a:pt x="3940810" y="17780"/>
                  </a:lnTo>
                  <a:lnTo>
                    <a:pt x="8890" y="17780"/>
                  </a:lnTo>
                  <a:close/>
                </a:path>
              </a:pathLst>
            </a:custGeom>
            <a:solidFill>
              <a:srgbClr val="DDE8E1"/>
            </a:solidFill>
          </p:spPr>
        </p:sp>
        <p:sp>
          <p:nvSpPr>
            <p:cNvPr name="TextBox 60" id="60"/>
            <p:cNvSpPr txBox="true"/>
            <p:nvPr/>
          </p:nvSpPr>
          <p:spPr>
            <a:xfrm>
              <a:off x="0" y="-9525"/>
              <a:ext cx="394970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Giỏ hàng</a:t>
              </a:r>
            </a:p>
          </p:txBody>
        </p:sp>
      </p:grpSp>
      <p:grpSp>
        <p:nvGrpSpPr>
          <p:cNvPr name="Group 61" id="61"/>
          <p:cNvGrpSpPr/>
          <p:nvPr/>
        </p:nvGrpSpPr>
        <p:grpSpPr>
          <a:xfrm rot="0">
            <a:off x="3998404" y="5301425"/>
            <a:ext cx="7077075" cy="1000887"/>
            <a:chOff x="0" y="0"/>
            <a:chExt cx="9436100" cy="1334516"/>
          </a:xfrm>
        </p:grpSpPr>
        <p:sp>
          <p:nvSpPr>
            <p:cNvPr name="Freeform 62" id="62"/>
            <p:cNvSpPr/>
            <p:nvPr/>
          </p:nvSpPr>
          <p:spPr>
            <a:xfrm flipH="false" flipV="false" rot="0">
              <a:off x="8890" y="8890"/>
              <a:ext cx="9418320" cy="1316736"/>
            </a:xfrm>
            <a:custGeom>
              <a:avLst/>
              <a:gdLst/>
              <a:ahLst/>
              <a:cxnLst/>
              <a:rect r="r" b="b" t="t" l="l"/>
              <a:pathLst>
                <a:path h="1316736" w="9418320">
                  <a:moveTo>
                    <a:pt x="0" y="0"/>
                  </a:moveTo>
                  <a:lnTo>
                    <a:pt x="9418320" y="0"/>
                  </a:lnTo>
                  <a:lnTo>
                    <a:pt x="9418320" y="1316736"/>
                  </a:lnTo>
                  <a:lnTo>
                    <a:pt x="0" y="1316736"/>
                  </a:lnTo>
                  <a:close/>
                </a:path>
              </a:pathLst>
            </a:custGeom>
            <a:solidFill>
              <a:srgbClr val="F8F7F1"/>
            </a:solidFill>
          </p:spPr>
        </p:sp>
        <p:sp>
          <p:nvSpPr>
            <p:cNvPr name="Freeform 63" id="63"/>
            <p:cNvSpPr/>
            <p:nvPr/>
          </p:nvSpPr>
          <p:spPr>
            <a:xfrm flipH="false" flipV="false" rot="0">
              <a:off x="0" y="0"/>
              <a:ext cx="9436100" cy="1334516"/>
            </a:xfrm>
            <a:custGeom>
              <a:avLst/>
              <a:gdLst/>
              <a:ahLst/>
              <a:cxnLst/>
              <a:rect r="r" b="b" t="t" l="l"/>
              <a:pathLst>
                <a:path h="1334516" w="9436100">
                  <a:moveTo>
                    <a:pt x="8890" y="0"/>
                  </a:moveTo>
                  <a:lnTo>
                    <a:pt x="9427210" y="0"/>
                  </a:lnTo>
                  <a:cubicBezTo>
                    <a:pt x="9432163" y="0"/>
                    <a:pt x="9436100" y="3937"/>
                    <a:pt x="9436100" y="8890"/>
                  </a:cubicBezTo>
                  <a:lnTo>
                    <a:pt x="9436100" y="1325626"/>
                  </a:lnTo>
                  <a:cubicBezTo>
                    <a:pt x="9436100" y="1330579"/>
                    <a:pt x="9432163" y="1334516"/>
                    <a:pt x="94272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9427210" y="1316736"/>
                  </a:lnTo>
                  <a:lnTo>
                    <a:pt x="9427210" y="1325626"/>
                  </a:lnTo>
                  <a:lnTo>
                    <a:pt x="9418320" y="1325626"/>
                  </a:lnTo>
                  <a:lnTo>
                    <a:pt x="9418320" y="8890"/>
                  </a:lnTo>
                  <a:lnTo>
                    <a:pt x="9427210" y="8890"/>
                  </a:lnTo>
                  <a:lnTo>
                    <a:pt x="9427210" y="17780"/>
                  </a:lnTo>
                  <a:lnTo>
                    <a:pt x="8890" y="17780"/>
                  </a:lnTo>
                  <a:close/>
                </a:path>
              </a:pathLst>
            </a:custGeom>
            <a:solidFill>
              <a:srgbClr val="DDE8E1"/>
            </a:solidFill>
          </p:spPr>
        </p:sp>
        <p:sp>
          <p:nvSpPr>
            <p:cNvPr name="TextBox 64" id="64"/>
            <p:cNvSpPr txBox="true"/>
            <p:nvPr/>
          </p:nvSpPr>
          <p:spPr>
            <a:xfrm>
              <a:off x="0" y="-9525"/>
              <a:ext cx="943610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Thêm/xóa sản phẩm, đổi số lượng, xem tổng tiền.</a:t>
              </a:r>
            </a:p>
          </p:txBody>
        </p:sp>
      </p:grpSp>
      <p:grpSp>
        <p:nvGrpSpPr>
          <p:cNvPr name="Group 65" id="65"/>
          <p:cNvGrpSpPr/>
          <p:nvPr/>
        </p:nvGrpSpPr>
        <p:grpSpPr>
          <a:xfrm rot="0">
            <a:off x="11089576" y="5301425"/>
            <a:ext cx="5979795" cy="1000887"/>
            <a:chOff x="0" y="0"/>
            <a:chExt cx="7973060" cy="1334516"/>
          </a:xfrm>
        </p:grpSpPr>
        <p:sp>
          <p:nvSpPr>
            <p:cNvPr name="Freeform 66" id="66"/>
            <p:cNvSpPr/>
            <p:nvPr/>
          </p:nvSpPr>
          <p:spPr>
            <a:xfrm flipH="false" flipV="false" rot="0">
              <a:off x="8890" y="8890"/>
              <a:ext cx="7955280" cy="1316736"/>
            </a:xfrm>
            <a:custGeom>
              <a:avLst/>
              <a:gdLst/>
              <a:ahLst/>
              <a:cxnLst/>
              <a:rect r="r" b="b" t="t" l="l"/>
              <a:pathLst>
                <a:path h="1316736" w="7955280">
                  <a:moveTo>
                    <a:pt x="0" y="0"/>
                  </a:moveTo>
                  <a:lnTo>
                    <a:pt x="7955280" y="0"/>
                  </a:lnTo>
                  <a:lnTo>
                    <a:pt x="7955280" y="1316736"/>
                  </a:lnTo>
                  <a:lnTo>
                    <a:pt x="0" y="1316736"/>
                  </a:lnTo>
                  <a:close/>
                </a:path>
              </a:pathLst>
            </a:custGeom>
            <a:solidFill>
              <a:srgbClr val="F8F7F1"/>
            </a:solidFill>
          </p:spPr>
        </p:sp>
        <p:sp>
          <p:nvSpPr>
            <p:cNvPr name="Freeform 67" id="67"/>
            <p:cNvSpPr/>
            <p:nvPr/>
          </p:nvSpPr>
          <p:spPr>
            <a:xfrm flipH="false" flipV="false" rot="0">
              <a:off x="0" y="0"/>
              <a:ext cx="7973060" cy="1334516"/>
            </a:xfrm>
            <a:custGeom>
              <a:avLst/>
              <a:gdLst/>
              <a:ahLst/>
              <a:cxnLst/>
              <a:rect r="r" b="b" t="t" l="l"/>
              <a:pathLst>
                <a:path h="1334516" w="7973060">
                  <a:moveTo>
                    <a:pt x="8890" y="0"/>
                  </a:moveTo>
                  <a:lnTo>
                    <a:pt x="7964170" y="0"/>
                  </a:lnTo>
                  <a:cubicBezTo>
                    <a:pt x="7969123" y="0"/>
                    <a:pt x="7973060" y="3937"/>
                    <a:pt x="7973060" y="8890"/>
                  </a:cubicBezTo>
                  <a:lnTo>
                    <a:pt x="7973060" y="1325626"/>
                  </a:lnTo>
                  <a:cubicBezTo>
                    <a:pt x="7973060" y="1330579"/>
                    <a:pt x="7969123" y="1334516"/>
                    <a:pt x="796417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7964170" y="1316736"/>
                  </a:lnTo>
                  <a:lnTo>
                    <a:pt x="7964170" y="1325626"/>
                  </a:lnTo>
                  <a:lnTo>
                    <a:pt x="7955280" y="1325626"/>
                  </a:lnTo>
                  <a:lnTo>
                    <a:pt x="7955280" y="8890"/>
                  </a:lnTo>
                  <a:lnTo>
                    <a:pt x="7964170" y="8890"/>
                  </a:lnTo>
                  <a:lnTo>
                    <a:pt x="7964170" y="17780"/>
                  </a:lnTo>
                  <a:lnTo>
                    <a:pt x="8890" y="17780"/>
                  </a:lnTo>
                  <a:close/>
                </a:path>
              </a:pathLst>
            </a:custGeom>
            <a:solidFill>
              <a:srgbClr val="DDE8E1"/>
            </a:solidFill>
          </p:spPr>
        </p:sp>
        <p:sp>
          <p:nvSpPr>
            <p:cNvPr name="TextBox 68" id="68"/>
            <p:cNvSpPr txBox="true"/>
            <p:nvPr/>
          </p:nvSpPr>
          <p:spPr>
            <a:xfrm>
              <a:off x="0" y="-9525"/>
              <a:ext cx="797306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Thông tin giỏ hàng cập nhật rõ ràng.</a:t>
              </a:r>
            </a:p>
          </p:txBody>
        </p:sp>
      </p:grpSp>
      <p:grpSp>
        <p:nvGrpSpPr>
          <p:cNvPr name="Group 69" id="69"/>
          <p:cNvGrpSpPr/>
          <p:nvPr/>
        </p:nvGrpSpPr>
        <p:grpSpPr>
          <a:xfrm rot="0">
            <a:off x="1022032" y="6316408"/>
            <a:ext cx="2962275" cy="1000887"/>
            <a:chOff x="0" y="0"/>
            <a:chExt cx="3949700" cy="1334516"/>
          </a:xfrm>
        </p:grpSpPr>
        <p:sp>
          <p:nvSpPr>
            <p:cNvPr name="Freeform 70" id="70"/>
            <p:cNvSpPr/>
            <p:nvPr/>
          </p:nvSpPr>
          <p:spPr>
            <a:xfrm flipH="false" flipV="false" rot="0">
              <a:off x="8890" y="8890"/>
              <a:ext cx="3931920" cy="1316736"/>
            </a:xfrm>
            <a:custGeom>
              <a:avLst/>
              <a:gdLst/>
              <a:ahLst/>
              <a:cxnLst/>
              <a:rect r="r" b="b" t="t" l="l"/>
              <a:pathLst>
                <a:path h="1316736" w="3931920">
                  <a:moveTo>
                    <a:pt x="0" y="0"/>
                  </a:moveTo>
                  <a:lnTo>
                    <a:pt x="3931920" y="0"/>
                  </a:lnTo>
                  <a:lnTo>
                    <a:pt x="3931920" y="1316736"/>
                  </a:lnTo>
                  <a:lnTo>
                    <a:pt x="0" y="1316736"/>
                  </a:lnTo>
                  <a:close/>
                </a:path>
              </a:pathLst>
            </a:custGeom>
            <a:solidFill>
              <a:srgbClr val="FFFDF8"/>
            </a:solidFill>
          </p:spPr>
        </p:sp>
        <p:sp>
          <p:nvSpPr>
            <p:cNvPr name="Freeform 71" id="71"/>
            <p:cNvSpPr/>
            <p:nvPr/>
          </p:nvSpPr>
          <p:spPr>
            <a:xfrm flipH="false" flipV="false" rot="0">
              <a:off x="0" y="0"/>
              <a:ext cx="3949700" cy="1334516"/>
            </a:xfrm>
            <a:custGeom>
              <a:avLst/>
              <a:gdLst/>
              <a:ahLst/>
              <a:cxnLst/>
              <a:rect r="r" b="b" t="t" l="l"/>
              <a:pathLst>
                <a:path h="1334516" w="3949700">
                  <a:moveTo>
                    <a:pt x="8890" y="0"/>
                  </a:moveTo>
                  <a:lnTo>
                    <a:pt x="3940810" y="0"/>
                  </a:lnTo>
                  <a:cubicBezTo>
                    <a:pt x="3945763" y="0"/>
                    <a:pt x="3949700" y="3937"/>
                    <a:pt x="3949700" y="8890"/>
                  </a:cubicBezTo>
                  <a:lnTo>
                    <a:pt x="3949700" y="1325626"/>
                  </a:lnTo>
                  <a:cubicBezTo>
                    <a:pt x="3949700" y="1330579"/>
                    <a:pt x="3945763" y="1334516"/>
                    <a:pt x="39408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3940810" y="1316736"/>
                  </a:lnTo>
                  <a:lnTo>
                    <a:pt x="3940810" y="1325626"/>
                  </a:lnTo>
                  <a:lnTo>
                    <a:pt x="3931920" y="1325626"/>
                  </a:lnTo>
                  <a:lnTo>
                    <a:pt x="3931920" y="8890"/>
                  </a:lnTo>
                  <a:lnTo>
                    <a:pt x="3940810" y="8890"/>
                  </a:lnTo>
                  <a:lnTo>
                    <a:pt x="3940810" y="17780"/>
                  </a:lnTo>
                  <a:lnTo>
                    <a:pt x="8890" y="17780"/>
                  </a:lnTo>
                  <a:close/>
                </a:path>
              </a:pathLst>
            </a:custGeom>
            <a:solidFill>
              <a:srgbClr val="DDE8E1"/>
            </a:solidFill>
          </p:spPr>
        </p:sp>
        <p:sp>
          <p:nvSpPr>
            <p:cNvPr name="TextBox 72" id="72"/>
            <p:cNvSpPr txBox="true"/>
            <p:nvPr/>
          </p:nvSpPr>
          <p:spPr>
            <a:xfrm>
              <a:off x="0" y="-9525"/>
              <a:ext cx="394970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Thanh toán</a:t>
              </a:r>
            </a:p>
          </p:txBody>
        </p:sp>
      </p:grpSp>
      <p:grpSp>
        <p:nvGrpSpPr>
          <p:cNvPr name="Group 73" id="73"/>
          <p:cNvGrpSpPr/>
          <p:nvPr/>
        </p:nvGrpSpPr>
        <p:grpSpPr>
          <a:xfrm rot="0">
            <a:off x="3998404" y="6316408"/>
            <a:ext cx="7077075" cy="1000887"/>
            <a:chOff x="0" y="0"/>
            <a:chExt cx="9436100" cy="1334516"/>
          </a:xfrm>
        </p:grpSpPr>
        <p:sp>
          <p:nvSpPr>
            <p:cNvPr name="Freeform 74" id="74"/>
            <p:cNvSpPr/>
            <p:nvPr/>
          </p:nvSpPr>
          <p:spPr>
            <a:xfrm flipH="false" flipV="false" rot="0">
              <a:off x="8890" y="8890"/>
              <a:ext cx="9418320" cy="1316736"/>
            </a:xfrm>
            <a:custGeom>
              <a:avLst/>
              <a:gdLst/>
              <a:ahLst/>
              <a:cxnLst/>
              <a:rect r="r" b="b" t="t" l="l"/>
              <a:pathLst>
                <a:path h="1316736" w="9418320">
                  <a:moveTo>
                    <a:pt x="0" y="0"/>
                  </a:moveTo>
                  <a:lnTo>
                    <a:pt x="9418320" y="0"/>
                  </a:lnTo>
                  <a:lnTo>
                    <a:pt x="9418320" y="1316736"/>
                  </a:lnTo>
                  <a:lnTo>
                    <a:pt x="0" y="1316736"/>
                  </a:lnTo>
                  <a:close/>
                </a:path>
              </a:pathLst>
            </a:custGeom>
            <a:solidFill>
              <a:srgbClr val="FFFDF8"/>
            </a:solidFill>
          </p:spPr>
        </p:sp>
        <p:sp>
          <p:nvSpPr>
            <p:cNvPr name="Freeform 75" id="75"/>
            <p:cNvSpPr/>
            <p:nvPr/>
          </p:nvSpPr>
          <p:spPr>
            <a:xfrm flipH="false" flipV="false" rot="0">
              <a:off x="0" y="0"/>
              <a:ext cx="9436100" cy="1334516"/>
            </a:xfrm>
            <a:custGeom>
              <a:avLst/>
              <a:gdLst/>
              <a:ahLst/>
              <a:cxnLst/>
              <a:rect r="r" b="b" t="t" l="l"/>
              <a:pathLst>
                <a:path h="1334516" w="9436100">
                  <a:moveTo>
                    <a:pt x="8890" y="0"/>
                  </a:moveTo>
                  <a:lnTo>
                    <a:pt x="9427210" y="0"/>
                  </a:lnTo>
                  <a:cubicBezTo>
                    <a:pt x="9432163" y="0"/>
                    <a:pt x="9436100" y="3937"/>
                    <a:pt x="9436100" y="8890"/>
                  </a:cubicBezTo>
                  <a:lnTo>
                    <a:pt x="9436100" y="1325626"/>
                  </a:lnTo>
                  <a:cubicBezTo>
                    <a:pt x="9436100" y="1330579"/>
                    <a:pt x="9432163" y="1334516"/>
                    <a:pt x="94272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9427210" y="1316736"/>
                  </a:lnTo>
                  <a:lnTo>
                    <a:pt x="9427210" y="1325626"/>
                  </a:lnTo>
                  <a:lnTo>
                    <a:pt x="9418320" y="1325626"/>
                  </a:lnTo>
                  <a:lnTo>
                    <a:pt x="9418320" y="8890"/>
                  </a:lnTo>
                  <a:lnTo>
                    <a:pt x="9427210" y="8890"/>
                  </a:lnTo>
                  <a:lnTo>
                    <a:pt x="9427210" y="17780"/>
                  </a:lnTo>
                  <a:lnTo>
                    <a:pt x="8890" y="17780"/>
                  </a:lnTo>
                  <a:close/>
                </a:path>
              </a:pathLst>
            </a:custGeom>
            <a:solidFill>
              <a:srgbClr val="DDE8E1"/>
            </a:solidFill>
          </p:spPr>
        </p:sp>
        <p:sp>
          <p:nvSpPr>
            <p:cNvPr name="TextBox 76" id="76"/>
            <p:cNvSpPr txBox="true"/>
            <p:nvPr/>
          </p:nvSpPr>
          <p:spPr>
            <a:xfrm>
              <a:off x="0" y="-9525"/>
              <a:ext cx="943610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Nhập thiếu/sai thông tin form.</a:t>
              </a:r>
            </a:p>
          </p:txBody>
        </p:sp>
      </p:grpSp>
      <p:grpSp>
        <p:nvGrpSpPr>
          <p:cNvPr name="Group 77" id="77"/>
          <p:cNvGrpSpPr/>
          <p:nvPr/>
        </p:nvGrpSpPr>
        <p:grpSpPr>
          <a:xfrm rot="0">
            <a:off x="11089576" y="6316408"/>
            <a:ext cx="5979795" cy="1000887"/>
            <a:chOff x="0" y="0"/>
            <a:chExt cx="7973060" cy="1334516"/>
          </a:xfrm>
        </p:grpSpPr>
        <p:sp>
          <p:nvSpPr>
            <p:cNvPr name="Freeform 78" id="78"/>
            <p:cNvSpPr/>
            <p:nvPr/>
          </p:nvSpPr>
          <p:spPr>
            <a:xfrm flipH="false" flipV="false" rot="0">
              <a:off x="8890" y="8890"/>
              <a:ext cx="7955280" cy="1316736"/>
            </a:xfrm>
            <a:custGeom>
              <a:avLst/>
              <a:gdLst/>
              <a:ahLst/>
              <a:cxnLst/>
              <a:rect r="r" b="b" t="t" l="l"/>
              <a:pathLst>
                <a:path h="1316736" w="7955280">
                  <a:moveTo>
                    <a:pt x="0" y="0"/>
                  </a:moveTo>
                  <a:lnTo>
                    <a:pt x="7955280" y="0"/>
                  </a:lnTo>
                  <a:lnTo>
                    <a:pt x="7955280" y="1316736"/>
                  </a:lnTo>
                  <a:lnTo>
                    <a:pt x="0" y="1316736"/>
                  </a:lnTo>
                  <a:close/>
                </a:path>
              </a:pathLst>
            </a:custGeom>
            <a:solidFill>
              <a:srgbClr val="FFFDF8"/>
            </a:solidFill>
          </p:spPr>
        </p:sp>
        <p:sp>
          <p:nvSpPr>
            <p:cNvPr name="Freeform 79" id="79"/>
            <p:cNvSpPr/>
            <p:nvPr/>
          </p:nvSpPr>
          <p:spPr>
            <a:xfrm flipH="false" flipV="false" rot="0">
              <a:off x="0" y="0"/>
              <a:ext cx="7973060" cy="1334516"/>
            </a:xfrm>
            <a:custGeom>
              <a:avLst/>
              <a:gdLst/>
              <a:ahLst/>
              <a:cxnLst/>
              <a:rect r="r" b="b" t="t" l="l"/>
              <a:pathLst>
                <a:path h="1334516" w="7973060">
                  <a:moveTo>
                    <a:pt x="8890" y="0"/>
                  </a:moveTo>
                  <a:lnTo>
                    <a:pt x="7964170" y="0"/>
                  </a:lnTo>
                  <a:cubicBezTo>
                    <a:pt x="7969123" y="0"/>
                    <a:pt x="7973060" y="3937"/>
                    <a:pt x="7973060" y="8890"/>
                  </a:cubicBezTo>
                  <a:lnTo>
                    <a:pt x="7973060" y="1325626"/>
                  </a:lnTo>
                  <a:cubicBezTo>
                    <a:pt x="7973060" y="1330579"/>
                    <a:pt x="7969123" y="1334516"/>
                    <a:pt x="796417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7964170" y="1316736"/>
                  </a:lnTo>
                  <a:lnTo>
                    <a:pt x="7964170" y="1325626"/>
                  </a:lnTo>
                  <a:lnTo>
                    <a:pt x="7955280" y="1325626"/>
                  </a:lnTo>
                  <a:lnTo>
                    <a:pt x="7955280" y="8890"/>
                  </a:lnTo>
                  <a:lnTo>
                    <a:pt x="7964170" y="8890"/>
                  </a:lnTo>
                  <a:lnTo>
                    <a:pt x="7964170" y="17780"/>
                  </a:lnTo>
                  <a:lnTo>
                    <a:pt x="8890" y="17780"/>
                  </a:lnTo>
                  <a:close/>
                </a:path>
              </a:pathLst>
            </a:custGeom>
            <a:solidFill>
              <a:srgbClr val="DDE8E1"/>
            </a:solidFill>
          </p:spPr>
        </p:sp>
        <p:sp>
          <p:nvSpPr>
            <p:cNvPr name="TextBox 80" id="80"/>
            <p:cNvSpPr txBox="true"/>
            <p:nvPr/>
          </p:nvSpPr>
          <p:spPr>
            <a:xfrm>
              <a:off x="0" y="-9525"/>
              <a:ext cx="797306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Có cảnh báo hoặc hướng dẫn nhập lại.</a:t>
              </a:r>
            </a:p>
          </p:txBody>
        </p:sp>
      </p:grpSp>
      <p:grpSp>
        <p:nvGrpSpPr>
          <p:cNvPr name="Group 81" id="81"/>
          <p:cNvGrpSpPr/>
          <p:nvPr/>
        </p:nvGrpSpPr>
        <p:grpSpPr>
          <a:xfrm rot="0">
            <a:off x="1022032" y="7331393"/>
            <a:ext cx="2962275" cy="1000887"/>
            <a:chOff x="0" y="0"/>
            <a:chExt cx="3949700" cy="1334516"/>
          </a:xfrm>
        </p:grpSpPr>
        <p:sp>
          <p:nvSpPr>
            <p:cNvPr name="Freeform 82" id="82"/>
            <p:cNvSpPr/>
            <p:nvPr/>
          </p:nvSpPr>
          <p:spPr>
            <a:xfrm flipH="false" flipV="false" rot="0">
              <a:off x="8890" y="8890"/>
              <a:ext cx="3931920" cy="1316736"/>
            </a:xfrm>
            <a:custGeom>
              <a:avLst/>
              <a:gdLst/>
              <a:ahLst/>
              <a:cxnLst/>
              <a:rect r="r" b="b" t="t" l="l"/>
              <a:pathLst>
                <a:path h="1316736" w="3931920">
                  <a:moveTo>
                    <a:pt x="0" y="0"/>
                  </a:moveTo>
                  <a:lnTo>
                    <a:pt x="3931920" y="0"/>
                  </a:lnTo>
                  <a:lnTo>
                    <a:pt x="3931920" y="1316736"/>
                  </a:lnTo>
                  <a:lnTo>
                    <a:pt x="0" y="1316736"/>
                  </a:lnTo>
                  <a:close/>
                </a:path>
              </a:pathLst>
            </a:custGeom>
            <a:solidFill>
              <a:srgbClr val="F8F7F1"/>
            </a:solidFill>
          </p:spPr>
        </p:sp>
        <p:sp>
          <p:nvSpPr>
            <p:cNvPr name="Freeform 83" id="83"/>
            <p:cNvSpPr/>
            <p:nvPr/>
          </p:nvSpPr>
          <p:spPr>
            <a:xfrm flipH="false" flipV="false" rot="0">
              <a:off x="0" y="0"/>
              <a:ext cx="3949700" cy="1334516"/>
            </a:xfrm>
            <a:custGeom>
              <a:avLst/>
              <a:gdLst/>
              <a:ahLst/>
              <a:cxnLst/>
              <a:rect r="r" b="b" t="t" l="l"/>
              <a:pathLst>
                <a:path h="1334516" w="3949700">
                  <a:moveTo>
                    <a:pt x="8890" y="0"/>
                  </a:moveTo>
                  <a:lnTo>
                    <a:pt x="3940810" y="0"/>
                  </a:lnTo>
                  <a:cubicBezTo>
                    <a:pt x="3945763" y="0"/>
                    <a:pt x="3949700" y="3937"/>
                    <a:pt x="3949700" y="8890"/>
                  </a:cubicBezTo>
                  <a:lnTo>
                    <a:pt x="3949700" y="1325626"/>
                  </a:lnTo>
                  <a:cubicBezTo>
                    <a:pt x="3949700" y="1330579"/>
                    <a:pt x="3945763" y="1334516"/>
                    <a:pt x="39408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3940810" y="1316736"/>
                  </a:lnTo>
                  <a:lnTo>
                    <a:pt x="3940810" y="1325626"/>
                  </a:lnTo>
                  <a:lnTo>
                    <a:pt x="3931920" y="1325626"/>
                  </a:lnTo>
                  <a:lnTo>
                    <a:pt x="3931920" y="8890"/>
                  </a:lnTo>
                  <a:lnTo>
                    <a:pt x="3940810" y="8890"/>
                  </a:lnTo>
                  <a:lnTo>
                    <a:pt x="3940810" y="17780"/>
                  </a:lnTo>
                  <a:lnTo>
                    <a:pt x="8890" y="17780"/>
                  </a:lnTo>
                  <a:close/>
                </a:path>
              </a:pathLst>
            </a:custGeom>
            <a:solidFill>
              <a:srgbClr val="DDE8E1"/>
            </a:solidFill>
          </p:spPr>
        </p:sp>
        <p:sp>
          <p:nvSpPr>
            <p:cNvPr name="TextBox 84" id="84"/>
            <p:cNvSpPr txBox="true"/>
            <p:nvPr/>
          </p:nvSpPr>
          <p:spPr>
            <a:xfrm>
              <a:off x="0" y="-9525"/>
              <a:ext cx="394970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Đăng nhập/đăng ký</a:t>
              </a:r>
            </a:p>
          </p:txBody>
        </p:sp>
      </p:grpSp>
      <p:grpSp>
        <p:nvGrpSpPr>
          <p:cNvPr name="Group 85" id="85"/>
          <p:cNvGrpSpPr/>
          <p:nvPr/>
        </p:nvGrpSpPr>
        <p:grpSpPr>
          <a:xfrm rot="0">
            <a:off x="3998404" y="7331393"/>
            <a:ext cx="7077075" cy="1000887"/>
            <a:chOff x="0" y="0"/>
            <a:chExt cx="9436100" cy="1334516"/>
          </a:xfrm>
        </p:grpSpPr>
        <p:sp>
          <p:nvSpPr>
            <p:cNvPr name="Freeform 86" id="86"/>
            <p:cNvSpPr/>
            <p:nvPr/>
          </p:nvSpPr>
          <p:spPr>
            <a:xfrm flipH="false" flipV="false" rot="0">
              <a:off x="8890" y="8890"/>
              <a:ext cx="9418320" cy="1316736"/>
            </a:xfrm>
            <a:custGeom>
              <a:avLst/>
              <a:gdLst/>
              <a:ahLst/>
              <a:cxnLst/>
              <a:rect r="r" b="b" t="t" l="l"/>
              <a:pathLst>
                <a:path h="1316736" w="9418320">
                  <a:moveTo>
                    <a:pt x="0" y="0"/>
                  </a:moveTo>
                  <a:lnTo>
                    <a:pt x="9418320" y="0"/>
                  </a:lnTo>
                  <a:lnTo>
                    <a:pt x="9418320" y="1316736"/>
                  </a:lnTo>
                  <a:lnTo>
                    <a:pt x="0" y="1316736"/>
                  </a:lnTo>
                  <a:close/>
                </a:path>
              </a:pathLst>
            </a:custGeom>
            <a:solidFill>
              <a:srgbClr val="F8F7F1"/>
            </a:solidFill>
          </p:spPr>
        </p:sp>
        <p:sp>
          <p:nvSpPr>
            <p:cNvPr name="Freeform 87" id="87"/>
            <p:cNvSpPr/>
            <p:nvPr/>
          </p:nvSpPr>
          <p:spPr>
            <a:xfrm flipH="false" flipV="false" rot="0">
              <a:off x="0" y="0"/>
              <a:ext cx="9436100" cy="1334516"/>
            </a:xfrm>
            <a:custGeom>
              <a:avLst/>
              <a:gdLst/>
              <a:ahLst/>
              <a:cxnLst/>
              <a:rect r="r" b="b" t="t" l="l"/>
              <a:pathLst>
                <a:path h="1334516" w="9436100">
                  <a:moveTo>
                    <a:pt x="8890" y="0"/>
                  </a:moveTo>
                  <a:lnTo>
                    <a:pt x="9427210" y="0"/>
                  </a:lnTo>
                  <a:cubicBezTo>
                    <a:pt x="9432163" y="0"/>
                    <a:pt x="9436100" y="3937"/>
                    <a:pt x="9436100" y="8890"/>
                  </a:cubicBezTo>
                  <a:lnTo>
                    <a:pt x="9436100" y="1325626"/>
                  </a:lnTo>
                  <a:cubicBezTo>
                    <a:pt x="9436100" y="1330579"/>
                    <a:pt x="9432163" y="1334516"/>
                    <a:pt x="942721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9427210" y="1316736"/>
                  </a:lnTo>
                  <a:lnTo>
                    <a:pt x="9427210" y="1325626"/>
                  </a:lnTo>
                  <a:lnTo>
                    <a:pt x="9418320" y="1325626"/>
                  </a:lnTo>
                  <a:lnTo>
                    <a:pt x="9418320" y="8890"/>
                  </a:lnTo>
                  <a:lnTo>
                    <a:pt x="9427210" y="8890"/>
                  </a:lnTo>
                  <a:lnTo>
                    <a:pt x="9427210" y="17780"/>
                  </a:lnTo>
                  <a:lnTo>
                    <a:pt x="8890" y="17780"/>
                  </a:lnTo>
                  <a:close/>
                </a:path>
              </a:pathLst>
            </a:custGeom>
            <a:solidFill>
              <a:srgbClr val="DDE8E1"/>
            </a:solidFill>
          </p:spPr>
        </p:sp>
        <p:sp>
          <p:nvSpPr>
            <p:cNvPr name="TextBox 88" id="88"/>
            <p:cNvSpPr txBox="true"/>
            <p:nvPr/>
          </p:nvSpPr>
          <p:spPr>
            <a:xfrm>
              <a:off x="0" y="-9525"/>
              <a:ext cx="943610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Thử trường email, mật khẩu, xác nhận mật khẩu.</a:t>
              </a:r>
            </a:p>
          </p:txBody>
        </p:sp>
      </p:grpSp>
      <p:grpSp>
        <p:nvGrpSpPr>
          <p:cNvPr name="Group 89" id="89"/>
          <p:cNvGrpSpPr/>
          <p:nvPr/>
        </p:nvGrpSpPr>
        <p:grpSpPr>
          <a:xfrm rot="0">
            <a:off x="11089576" y="7331393"/>
            <a:ext cx="5979795" cy="1000887"/>
            <a:chOff x="0" y="0"/>
            <a:chExt cx="7973060" cy="1334516"/>
          </a:xfrm>
        </p:grpSpPr>
        <p:sp>
          <p:nvSpPr>
            <p:cNvPr name="Freeform 90" id="90"/>
            <p:cNvSpPr/>
            <p:nvPr/>
          </p:nvSpPr>
          <p:spPr>
            <a:xfrm flipH="false" flipV="false" rot="0">
              <a:off x="8890" y="8890"/>
              <a:ext cx="7955280" cy="1316736"/>
            </a:xfrm>
            <a:custGeom>
              <a:avLst/>
              <a:gdLst/>
              <a:ahLst/>
              <a:cxnLst/>
              <a:rect r="r" b="b" t="t" l="l"/>
              <a:pathLst>
                <a:path h="1316736" w="7955280">
                  <a:moveTo>
                    <a:pt x="0" y="0"/>
                  </a:moveTo>
                  <a:lnTo>
                    <a:pt x="7955280" y="0"/>
                  </a:lnTo>
                  <a:lnTo>
                    <a:pt x="7955280" y="1316736"/>
                  </a:lnTo>
                  <a:lnTo>
                    <a:pt x="0" y="1316736"/>
                  </a:lnTo>
                  <a:close/>
                </a:path>
              </a:pathLst>
            </a:custGeom>
            <a:solidFill>
              <a:srgbClr val="F8F7F1"/>
            </a:solidFill>
          </p:spPr>
        </p:sp>
        <p:sp>
          <p:nvSpPr>
            <p:cNvPr name="Freeform 91" id="91"/>
            <p:cNvSpPr/>
            <p:nvPr/>
          </p:nvSpPr>
          <p:spPr>
            <a:xfrm flipH="false" flipV="false" rot="0">
              <a:off x="0" y="0"/>
              <a:ext cx="7973060" cy="1334516"/>
            </a:xfrm>
            <a:custGeom>
              <a:avLst/>
              <a:gdLst/>
              <a:ahLst/>
              <a:cxnLst/>
              <a:rect r="r" b="b" t="t" l="l"/>
              <a:pathLst>
                <a:path h="1334516" w="7973060">
                  <a:moveTo>
                    <a:pt x="8890" y="0"/>
                  </a:moveTo>
                  <a:lnTo>
                    <a:pt x="7964170" y="0"/>
                  </a:lnTo>
                  <a:cubicBezTo>
                    <a:pt x="7969123" y="0"/>
                    <a:pt x="7973060" y="3937"/>
                    <a:pt x="7973060" y="8890"/>
                  </a:cubicBezTo>
                  <a:lnTo>
                    <a:pt x="7973060" y="1325626"/>
                  </a:lnTo>
                  <a:cubicBezTo>
                    <a:pt x="7973060" y="1330579"/>
                    <a:pt x="7969123" y="1334516"/>
                    <a:pt x="7964170" y="1334516"/>
                  </a:cubicBezTo>
                  <a:lnTo>
                    <a:pt x="8890" y="1334516"/>
                  </a:lnTo>
                  <a:cubicBezTo>
                    <a:pt x="3937" y="1334516"/>
                    <a:pt x="0" y="1330579"/>
                    <a:pt x="0" y="1325626"/>
                  </a:cubicBezTo>
                  <a:lnTo>
                    <a:pt x="0" y="8890"/>
                  </a:lnTo>
                  <a:cubicBezTo>
                    <a:pt x="0" y="3937"/>
                    <a:pt x="3937" y="0"/>
                    <a:pt x="8890" y="0"/>
                  </a:cubicBezTo>
                  <a:moveTo>
                    <a:pt x="8890" y="17780"/>
                  </a:moveTo>
                  <a:lnTo>
                    <a:pt x="8890" y="8890"/>
                  </a:lnTo>
                  <a:lnTo>
                    <a:pt x="17780" y="8890"/>
                  </a:lnTo>
                  <a:lnTo>
                    <a:pt x="17780" y="1325626"/>
                  </a:lnTo>
                  <a:lnTo>
                    <a:pt x="8890" y="1325626"/>
                  </a:lnTo>
                  <a:lnTo>
                    <a:pt x="8890" y="1316736"/>
                  </a:lnTo>
                  <a:lnTo>
                    <a:pt x="7964170" y="1316736"/>
                  </a:lnTo>
                  <a:lnTo>
                    <a:pt x="7964170" y="1325626"/>
                  </a:lnTo>
                  <a:lnTo>
                    <a:pt x="7955280" y="1325626"/>
                  </a:lnTo>
                  <a:lnTo>
                    <a:pt x="7955280" y="8890"/>
                  </a:lnTo>
                  <a:lnTo>
                    <a:pt x="7964170" y="8890"/>
                  </a:lnTo>
                  <a:lnTo>
                    <a:pt x="7964170" y="17780"/>
                  </a:lnTo>
                  <a:lnTo>
                    <a:pt x="8890" y="17780"/>
                  </a:lnTo>
                  <a:close/>
                </a:path>
              </a:pathLst>
            </a:custGeom>
            <a:solidFill>
              <a:srgbClr val="DDE8E1"/>
            </a:solidFill>
          </p:spPr>
        </p:sp>
        <p:sp>
          <p:nvSpPr>
            <p:cNvPr name="TextBox 92" id="92"/>
            <p:cNvSpPr txBox="true"/>
            <p:nvPr/>
          </p:nvSpPr>
          <p:spPr>
            <a:xfrm>
              <a:off x="0" y="-9525"/>
              <a:ext cx="7973060" cy="1344041"/>
            </a:xfrm>
            <a:prstGeom prst="rect">
              <a:avLst/>
            </a:prstGeom>
          </p:spPr>
          <p:txBody>
            <a:bodyPr anchor="ctr" rtlCol="false" tIns="50800" lIns="50800" bIns="50800" rIns="50800"/>
            <a:lstStyle/>
            <a:p>
              <a:pPr algn="l">
                <a:lnSpc>
                  <a:spcPts val="1997"/>
                </a:lnSpc>
              </a:pPr>
              <a:r>
                <a:rPr lang="en-US" sz="1664">
                  <a:solidFill>
                    <a:srgbClr val="283A33"/>
                  </a:solidFill>
                  <a:latin typeface="Arial"/>
                  <a:ea typeface="Arial"/>
                  <a:cs typeface="Arial"/>
                  <a:sym typeface="Arial"/>
                </a:rPr>
                <a:t>Form phản hồi theo dữ liệu nhập.</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5. Đánh giá</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Nhận xét của nhóm: ưu điểm và hạn chế</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15</a:t>
              </a:r>
            </a:p>
          </p:txBody>
        </p:sp>
      </p:grpSp>
      <p:grpSp>
        <p:nvGrpSpPr>
          <p:cNvPr name="Group 21" id="21"/>
          <p:cNvGrpSpPr/>
          <p:nvPr/>
        </p:nvGrpSpPr>
        <p:grpSpPr>
          <a:xfrm rot="0">
            <a:off x="1156335" y="2390775"/>
            <a:ext cx="7837170" cy="4956810"/>
            <a:chOff x="0" y="0"/>
            <a:chExt cx="10449560" cy="6609080"/>
          </a:xfrm>
        </p:grpSpPr>
        <p:sp>
          <p:nvSpPr>
            <p:cNvPr name="Freeform 22" id="22"/>
            <p:cNvSpPr/>
            <p:nvPr/>
          </p:nvSpPr>
          <p:spPr>
            <a:xfrm flipH="false" flipV="false" rot="0">
              <a:off x="12700" y="12700"/>
              <a:ext cx="10424160" cy="6583680"/>
            </a:xfrm>
            <a:custGeom>
              <a:avLst/>
              <a:gdLst/>
              <a:ahLst/>
              <a:cxnLst/>
              <a:rect r="r" b="b" t="t" l="l"/>
              <a:pathLst>
                <a:path h="6583680" w="10424160">
                  <a:moveTo>
                    <a:pt x="0" y="0"/>
                  </a:moveTo>
                  <a:lnTo>
                    <a:pt x="10424160" y="0"/>
                  </a:lnTo>
                  <a:lnTo>
                    <a:pt x="10424160" y="6583680"/>
                  </a:lnTo>
                  <a:lnTo>
                    <a:pt x="0" y="6583680"/>
                  </a:lnTo>
                  <a:close/>
                </a:path>
              </a:pathLst>
            </a:custGeom>
            <a:solidFill>
              <a:srgbClr val="E8F2EC"/>
            </a:solidFill>
          </p:spPr>
        </p:sp>
        <p:sp>
          <p:nvSpPr>
            <p:cNvPr name="Freeform 23" id="23"/>
            <p:cNvSpPr/>
            <p:nvPr/>
          </p:nvSpPr>
          <p:spPr>
            <a:xfrm flipH="false" flipV="false" rot="0">
              <a:off x="0" y="0"/>
              <a:ext cx="10449560" cy="6609080"/>
            </a:xfrm>
            <a:custGeom>
              <a:avLst/>
              <a:gdLst/>
              <a:ahLst/>
              <a:cxnLst/>
              <a:rect r="r" b="b" t="t" l="l"/>
              <a:pathLst>
                <a:path h="6609080" w="10449560">
                  <a:moveTo>
                    <a:pt x="12700" y="0"/>
                  </a:moveTo>
                  <a:lnTo>
                    <a:pt x="10436860" y="0"/>
                  </a:lnTo>
                  <a:cubicBezTo>
                    <a:pt x="10443845" y="0"/>
                    <a:pt x="10449560" y="5715"/>
                    <a:pt x="10449560" y="12700"/>
                  </a:cubicBezTo>
                  <a:lnTo>
                    <a:pt x="10449560" y="6596380"/>
                  </a:lnTo>
                  <a:cubicBezTo>
                    <a:pt x="10449560" y="6603365"/>
                    <a:pt x="10443845" y="6609080"/>
                    <a:pt x="10436860" y="6609080"/>
                  </a:cubicBezTo>
                  <a:lnTo>
                    <a:pt x="12700" y="6609080"/>
                  </a:lnTo>
                  <a:cubicBezTo>
                    <a:pt x="5715" y="6609080"/>
                    <a:pt x="0" y="6603365"/>
                    <a:pt x="0" y="6596380"/>
                  </a:cubicBezTo>
                  <a:lnTo>
                    <a:pt x="0" y="12700"/>
                  </a:lnTo>
                  <a:cubicBezTo>
                    <a:pt x="0" y="5715"/>
                    <a:pt x="5715" y="0"/>
                    <a:pt x="12700" y="0"/>
                  </a:cubicBezTo>
                  <a:moveTo>
                    <a:pt x="12700" y="25400"/>
                  </a:moveTo>
                  <a:lnTo>
                    <a:pt x="12700" y="12700"/>
                  </a:lnTo>
                  <a:lnTo>
                    <a:pt x="25400" y="12700"/>
                  </a:lnTo>
                  <a:lnTo>
                    <a:pt x="25400" y="6596380"/>
                  </a:lnTo>
                  <a:lnTo>
                    <a:pt x="12700" y="6596380"/>
                  </a:lnTo>
                  <a:lnTo>
                    <a:pt x="12700" y="6583680"/>
                  </a:lnTo>
                  <a:lnTo>
                    <a:pt x="10436860" y="6583680"/>
                  </a:lnTo>
                  <a:lnTo>
                    <a:pt x="10436860" y="6596380"/>
                  </a:lnTo>
                  <a:lnTo>
                    <a:pt x="10424160" y="6596380"/>
                  </a:lnTo>
                  <a:lnTo>
                    <a:pt x="10424160" y="12700"/>
                  </a:lnTo>
                  <a:lnTo>
                    <a:pt x="10436860" y="12700"/>
                  </a:lnTo>
                  <a:lnTo>
                    <a:pt x="10436860" y="25400"/>
                  </a:lnTo>
                  <a:lnTo>
                    <a:pt x="12700" y="25400"/>
                  </a:lnTo>
                  <a:close/>
                </a:path>
              </a:pathLst>
            </a:custGeom>
            <a:solidFill>
              <a:srgbClr val="DDE8E1"/>
            </a:solidFill>
          </p:spPr>
        </p:sp>
        <p:sp>
          <p:nvSpPr>
            <p:cNvPr name="TextBox 24" id="24"/>
            <p:cNvSpPr txBox="true"/>
            <p:nvPr/>
          </p:nvSpPr>
          <p:spPr>
            <a:xfrm>
              <a:off x="0" y="-19050"/>
              <a:ext cx="10449560" cy="6628130"/>
            </a:xfrm>
            <a:prstGeom prst="rect">
              <a:avLst/>
            </a:prstGeom>
          </p:spPr>
          <p:txBody>
            <a:bodyPr anchor="ctr" rtlCol="false" tIns="50800" lIns="50800" bIns="50800" rIns="50800"/>
            <a:lstStyle/>
            <a:p>
              <a:pPr algn="l">
                <a:lnSpc>
                  <a:spcPts val="3240"/>
                </a:lnSpc>
              </a:pPr>
              <a:r>
                <a:rPr lang="en-US" sz="2700" b="true">
                  <a:solidFill>
                    <a:srgbClr val="1B5F39"/>
                  </a:solidFill>
                  <a:latin typeface="Arial Bold"/>
                  <a:ea typeface="Arial Bold"/>
                  <a:cs typeface="Arial Bold"/>
                  <a:sym typeface="Arial Bold"/>
                </a:rPr>
                <a:t>Ưu điểm</a:t>
              </a:r>
            </a:p>
            <a:p>
              <a:pPr algn="l">
                <a:lnSpc>
                  <a:spcPts val="2376"/>
                </a:lnSpc>
              </a:pPr>
              <a:r>
                <a:rPr lang="en-US" sz="1980">
                  <a:solidFill>
                    <a:srgbClr val="283A33"/>
                  </a:solidFill>
                  <a:latin typeface="Arial"/>
                  <a:ea typeface="Arial"/>
                  <a:cs typeface="Arial"/>
                  <a:sym typeface="Arial"/>
                </a:rPr>
                <a:t>• Cấu trúc website rõ ràng, dễ đi theo luồng người dùng.</a:t>
              </a:r>
            </a:p>
            <a:p>
              <a:pPr algn="l">
                <a:lnSpc>
                  <a:spcPts val="2376"/>
                </a:lnSpc>
              </a:pPr>
              <a:r>
                <a:rPr lang="en-US" sz="1980">
                  <a:solidFill>
                    <a:srgbClr val="283A33"/>
                  </a:solidFill>
                  <a:latin typeface="Arial"/>
                  <a:ea typeface="Arial"/>
                  <a:cs typeface="Arial"/>
                  <a:sym typeface="Arial"/>
                </a:rPr>
                <a:t>• Màu sắc và nhận diện khá đồng bộ.</a:t>
              </a:r>
            </a:p>
            <a:p>
              <a:pPr algn="l">
                <a:lnSpc>
                  <a:spcPts val="2376"/>
                </a:lnSpc>
              </a:pPr>
              <a:r>
                <a:rPr lang="en-US" sz="1980">
                  <a:solidFill>
                    <a:srgbClr val="283A33"/>
                  </a:solidFill>
                  <a:latin typeface="Arial"/>
                  <a:ea typeface="Arial"/>
                  <a:cs typeface="Arial"/>
                  <a:sym typeface="Arial"/>
                </a:rPr>
                <a:t>• Có đủ các trang chính của một website bán hàng mô phỏng.</a:t>
              </a:r>
            </a:p>
            <a:p>
              <a:pPr algn="l">
                <a:lnSpc>
                  <a:spcPts val="2376"/>
                </a:lnSpc>
              </a:pPr>
              <a:r>
                <a:rPr lang="en-US" sz="1980">
                  <a:solidFill>
                    <a:srgbClr val="283A33"/>
                  </a:solidFill>
                  <a:latin typeface="Arial"/>
                  <a:ea typeface="Arial"/>
                  <a:cs typeface="Arial"/>
                  <a:sym typeface="Arial"/>
                </a:rPr>
                <a:t>• Nội dung sản phẩm phù hợp chủ đề thiết bị văn phòng.</a:t>
              </a:r>
            </a:p>
          </p:txBody>
        </p:sp>
      </p:grpSp>
      <p:grpSp>
        <p:nvGrpSpPr>
          <p:cNvPr name="Group 25" id="25"/>
          <p:cNvGrpSpPr/>
          <p:nvPr/>
        </p:nvGrpSpPr>
        <p:grpSpPr>
          <a:xfrm rot="0">
            <a:off x="9385935" y="2390775"/>
            <a:ext cx="7837170" cy="4956810"/>
            <a:chOff x="0" y="0"/>
            <a:chExt cx="10449560" cy="6609080"/>
          </a:xfrm>
        </p:grpSpPr>
        <p:sp>
          <p:nvSpPr>
            <p:cNvPr name="Freeform 26" id="26"/>
            <p:cNvSpPr/>
            <p:nvPr/>
          </p:nvSpPr>
          <p:spPr>
            <a:xfrm flipH="false" flipV="false" rot="0">
              <a:off x="12700" y="12700"/>
              <a:ext cx="10424160" cy="6583680"/>
            </a:xfrm>
            <a:custGeom>
              <a:avLst/>
              <a:gdLst/>
              <a:ahLst/>
              <a:cxnLst/>
              <a:rect r="r" b="b" t="t" l="l"/>
              <a:pathLst>
                <a:path h="6583680" w="10424160">
                  <a:moveTo>
                    <a:pt x="0" y="0"/>
                  </a:moveTo>
                  <a:lnTo>
                    <a:pt x="10424160" y="0"/>
                  </a:lnTo>
                  <a:lnTo>
                    <a:pt x="10424160" y="6583680"/>
                  </a:lnTo>
                  <a:lnTo>
                    <a:pt x="0" y="6583680"/>
                  </a:lnTo>
                  <a:close/>
                </a:path>
              </a:pathLst>
            </a:custGeom>
            <a:solidFill>
              <a:srgbClr val="FFFDF8"/>
            </a:solidFill>
          </p:spPr>
        </p:sp>
        <p:sp>
          <p:nvSpPr>
            <p:cNvPr name="Freeform 27" id="27"/>
            <p:cNvSpPr/>
            <p:nvPr/>
          </p:nvSpPr>
          <p:spPr>
            <a:xfrm flipH="false" flipV="false" rot="0">
              <a:off x="0" y="0"/>
              <a:ext cx="10449560" cy="6609080"/>
            </a:xfrm>
            <a:custGeom>
              <a:avLst/>
              <a:gdLst/>
              <a:ahLst/>
              <a:cxnLst/>
              <a:rect r="r" b="b" t="t" l="l"/>
              <a:pathLst>
                <a:path h="6609080" w="10449560">
                  <a:moveTo>
                    <a:pt x="12700" y="0"/>
                  </a:moveTo>
                  <a:lnTo>
                    <a:pt x="10436860" y="0"/>
                  </a:lnTo>
                  <a:cubicBezTo>
                    <a:pt x="10443845" y="0"/>
                    <a:pt x="10449560" y="5715"/>
                    <a:pt x="10449560" y="12700"/>
                  </a:cubicBezTo>
                  <a:lnTo>
                    <a:pt x="10449560" y="6596380"/>
                  </a:lnTo>
                  <a:cubicBezTo>
                    <a:pt x="10449560" y="6603365"/>
                    <a:pt x="10443845" y="6609080"/>
                    <a:pt x="10436860" y="6609080"/>
                  </a:cubicBezTo>
                  <a:lnTo>
                    <a:pt x="12700" y="6609080"/>
                  </a:lnTo>
                  <a:cubicBezTo>
                    <a:pt x="5715" y="6609080"/>
                    <a:pt x="0" y="6603365"/>
                    <a:pt x="0" y="6596380"/>
                  </a:cubicBezTo>
                  <a:lnTo>
                    <a:pt x="0" y="12700"/>
                  </a:lnTo>
                  <a:cubicBezTo>
                    <a:pt x="0" y="5715"/>
                    <a:pt x="5715" y="0"/>
                    <a:pt x="12700" y="0"/>
                  </a:cubicBezTo>
                  <a:moveTo>
                    <a:pt x="12700" y="25400"/>
                  </a:moveTo>
                  <a:lnTo>
                    <a:pt x="12700" y="12700"/>
                  </a:lnTo>
                  <a:lnTo>
                    <a:pt x="25400" y="12700"/>
                  </a:lnTo>
                  <a:lnTo>
                    <a:pt x="25400" y="6596380"/>
                  </a:lnTo>
                  <a:lnTo>
                    <a:pt x="12700" y="6596380"/>
                  </a:lnTo>
                  <a:lnTo>
                    <a:pt x="12700" y="6583680"/>
                  </a:lnTo>
                  <a:lnTo>
                    <a:pt x="10436860" y="6583680"/>
                  </a:lnTo>
                  <a:lnTo>
                    <a:pt x="10436860" y="6596380"/>
                  </a:lnTo>
                  <a:lnTo>
                    <a:pt x="10424160" y="6596380"/>
                  </a:lnTo>
                  <a:lnTo>
                    <a:pt x="10424160" y="12700"/>
                  </a:lnTo>
                  <a:lnTo>
                    <a:pt x="10436860" y="12700"/>
                  </a:lnTo>
                  <a:lnTo>
                    <a:pt x="10436860" y="25400"/>
                  </a:lnTo>
                  <a:lnTo>
                    <a:pt x="12700" y="25400"/>
                  </a:lnTo>
                  <a:close/>
                </a:path>
              </a:pathLst>
            </a:custGeom>
            <a:solidFill>
              <a:srgbClr val="DDE8E1"/>
            </a:solidFill>
          </p:spPr>
        </p:sp>
        <p:sp>
          <p:nvSpPr>
            <p:cNvPr name="TextBox 28" id="28"/>
            <p:cNvSpPr txBox="true"/>
            <p:nvPr/>
          </p:nvSpPr>
          <p:spPr>
            <a:xfrm>
              <a:off x="0" y="-19050"/>
              <a:ext cx="10449560" cy="6628130"/>
            </a:xfrm>
            <a:prstGeom prst="rect">
              <a:avLst/>
            </a:prstGeom>
          </p:spPr>
          <p:txBody>
            <a:bodyPr anchor="ctr" rtlCol="false" tIns="50800" lIns="50800" bIns="50800" rIns="50800"/>
            <a:lstStyle/>
            <a:p>
              <a:pPr algn="l">
                <a:lnSpc>
                  <a:spcPts val="3240"/>
                </a:lnSpc>
              </a:pPr>
              <a:r>
                <a:rPr lang="en-US" sz="2700" b="true">
                  <a:solidFill>
                    <a:srgbClr val="1B5F39"/>
                  </a:solidFill>
                  <a:latin typeface="Arial Bold"/>
                  <a:ea typeface="Arial Bold"/>
                  <a:cs typeface="Arial Bold"/>
                  <a:sym typeface="Arial Bold"/>
                </a:rPr>
                <a:t>Hạn chế</a:t>
              </a:r>
            </a:p>
            <a:p>
              <a:pPr algn="l">
                <a:lnSpc>
                  <a:spcPts val="2376"/>
                </a:lnSpc>
              </a:pPr>
              <a:r>
                <a:rPr lang="en-US" sz="1980">
                  <a:solidFill>
                    <a:srgbClr val="283A33"/>
                  </a:solidFill>
                  <a:latin typeface="Arial"/>
                  <a:ea typeface="Arial"/>
                  <a:cs typeface="Arial"/>
                  <a:sym typeface="Arial"/>
                </a:rPr>
                <a:t>• Chưa có backend và cơ sở dữ liệu thật.</a:t>
              </a:r>
            </a:p>
            <a:p>
              <a:pPr algn="l">
                <a:lnSpc>
                  <a:spcPts val="2376"/>
                </a:lnSpc>
              </a:pPr>
              <a:r>
                <a:rPr lang="en-US" sz="1980">
                  <a:solidFill>
                    <a:srgbClr val="283A33"/>
                  </a:solidFill>
                  <a:latin typeface="Arial"/>
                  <a:ea typeface="Arial"/>
                  <a:cs typeface="Arial"/>
                  <a:sym typeface="Arial"/>
                </a:rPr>
                <a:t>• Thanh toán mới dừng ở mức mô phỏng giao diện.</a:t>
              </a:r>
            </a:p>
            <a:p>
              <a:pPr algn="l">
                <a:lnSpc>
                  <a:spcPts val="2376"/>
                </a:lnSpc>
              </a:pPr>
              <a:r>
                <a:rPr lang="en-US" sz="1980">
                  <a:solidFill>
                    <a:srgbClr val="283A33"/>
                  </a:solidFill>
                  <a:latin typeface="Arial"/>
                  <a:ea typeface="Arial"/>
                  <a:cs typeface="Arial"/>
                  <a:sym typeface="Arial"/>
                </a:rPr>
                <a:t>• Một số ảnh và thông số sản phẩm cần chuẩn hóa hơn.</a:t>
              </a:r>
            </a:p>
            <a:p>
              <a:pPr algn="l">
                <a:lnSpc>
                  <a:spcPts val="2376"/>
                </a:lnSpc>
              </a:pPr>
              <a:r>
                <a:rPr lang="en-US" sz="1980">
                  <a:solidFill>
                    <a:srgbClr val="283A33"/>
                  </a:solidFill>
                  <a:latin typeface="Arial"/>
                  <a:ea typeface="Arial"/>
                  <a:cs typeface="Arial"/>
                  <a:sym typeface="Arial"/>
                </a:rPr>
                <a:t>• Cần tối ưu responsive và khoảng trắng để giao diện chuyên nghiệp hơn.</a:t>
              </a:r>
            </a:p>
          </p:txBody>
        </p:sp>
      </p:grpSp>
      <p:grpSp>
        <p:nvGrpSpPr>
          <p:cNvPr name="Group 29" id="29"/>
          <p:cNvGrpSpPr/>
          <p:nvPr/>
        </p:nvGrpSpPr>
        <p:grpSpPr>
          <a:xfrm rot="0">
            <a:off x="2263140" y="8023860"/>
            <a:ext cx="13716000" cy="466344"/>
            <a:chOff x="0" y="0"/>
            <a:chExt cx="18288000" cy="621792"/>
          </a:xfrm>
        </p:grpSpPr>
        <p:sp>
          <p:nvSpPr>
            <p:cNvPr name="Freeform 30" id="30"/>
            <p:cNvSpPr/>
            <p:nvPr/>
          </p:nvSpPr>
          <p:spPr>
            <a:xfrm flipH="false" flipV="false" rot="0">
              <a:off x="0" y="0"/>
              <a:ext cx="18288000" cy="621792"/>
            </a:xfrm>
            <a:custGeom>
              <a:avLst/>
              <a:gdLst/>
              <a:ahLst/>
              <a:cxnLst/>
              <a:rect r="r" b="b" t="t" l="l"/>
              <a:pathLst>
                <a:path h="621792" w="18288000">
                  <a:moveTo>
                    <a:pt x="0" y="0"/>
                  </a:moveTo>
                  <a:lnTo>
                    <a:pt x="18288000" y="0"/>
                  </a:lnTo>
                  <a:lnTo>
                    <a:pt x="18288000" y="621792"/>
                  </a:lnTo>
                  <a:lnTo>
                    <a:pt x="0" y="621792"/>
                  </a:lnTo>
                  <a:close/>
                </a:path>
              </a:pathLst>
            </a:custGeom>
            <a:solidFill>
              <a:srgbClr val="1B5F39"/>
            </a:solidFill>
          </p:spPr>
        </p:sp>
        <p:sp>
          <p:nvSpPr>
            <p:cNvPr name="TextBox 31" id="31"/>
            <p:cNvSpPr txBox="true"/>
            <p:nvPr/>
          </p:nvSpPr>
          <p:spPr>
            <a:xfrm>
              <a:off x="0" y="-9525"/>
              <a:ext cx="18288000" cy="631317"/>
            </a:xfrm>
            <a:prstGeom prst="rect">
              <a:avLst/>
            </a:prstGeom>
          </p:spPr>
          <p:txBody>
            <a:bodyPr anchor="ctr" rtlCol="false" tIns="50800" lIns="50800" bIns="50800" rIns="50800"/>
            <a:lstStyle/>
            <a:p>
              <a:pPr algn="ctr">
                <a:lnSpc>
                  <a:spcPts val="1889"/>
                </a:lnSpc>
              </a:pPr>
              <a:r>
                <a:rPr lang="en-US" sz="1575" b="true">
                  <a:solidFill>
                    <a:srgbClr val="FFFFFF"/>
                  </a:solidFill>
                  <a:latin typeface="Arial Bold"/>
                  <a:ea typeface="Arial Bold"/>
                  <a:cs typeface="Arial Bold"/>
                  <a:sym typeface="Arial Bold"/>
                </a:rPr>
                <a:t>Đánh giá trung thực giúp bài báo cáo đáng tin hơn và tránh trình bày quá mức so với phạm vi đã làm.</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9F4"/>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AF9F4"/>
            </a:solidFill>
          </p:spPr>
        </p:sp>
      </p:grpSp>
      <p:grpSp>
        <p:nvGrpSpPr>
          <p:cNvPr name="Group 4" id="4"/>
          <p:cNvGrpSpPr/>
          <p:nvPr/>
        </p:nvGrpSpPr>
        <p:grpSpPr>
          <a:xfrm rot="0">
            <a:off x="960120" y="493776"/>
            <a:ext cx="5212080" cy="572765"/>
            <a:chOff x="0" y="0"/>
            <a:chExt cx="6949440" cy="763687"/>
          </a:xfrm>
        </p:grpSpPr>
        <p:sp>
          <p:nvSpPr>
            <p:cNvPr name="Freeform 5" id="5"/>
            <p:cNvSpPr/>
            <p:nvPr/>
          </p:nvSpPr>
          <p:spPr>
            <a:xfrm flipH="false" flipV="false" rot="0">
              <a:off x="0" y="0"/>
              <a:ext cx="6949440" cy="763687"/>
            </a:xfrm>
            <a:custGeom>
              <a:avLst/>
              <a:gdLst/>
              <a:ahLst/>
              <a:cxnLst/>
              <a:rect r="r" b="b" t="t" l="l"/>
              <a:pathLst>
                <a:path h="763687" w="6949440">
                  <a:moveTo>
                    <a:pt x="0" y="0"/>
                  </a:moveTo>
                  <a:lnTo>
                    <a:pt x="6949440" y="0"/>
                  </a:lnTo>
                  <a:lnTo>
                    <a:pt x="6949440" y="763687"/>
                  </a:lnTo>
                  <a:lnTo>
                    <a:pt x="0" y="763687"/>
                  </a:lnTo>
                  <a:close/>
                </a:path>
              </a:pathLst>
            </a:custGeom>
            <a:blipFill>
              <a:blip r:embed="rId3">
                <a:alphaModFix amt="0"/>
              </a:blip>
              <a:stretch>
                <a:fillRect l="0" t="-153364" r="0" b="-101258"/>
              </a:stretch>
            </a:blipFill>
          </p:spPr>
        </p:sp>
        <p:sp>
          <p:nvSpPr>
            <p:cNvPr name="TextBox 6" id="6"/>
            <p:cNvSpPr txBox="true"/>
            <p:nvPr/>
          </p:nvSpPr>
          <p:spPr>
            <a:xfrm>
              <a:off x="0" y="-19050"/>
              <a:ext cx="6949440" cy="782737"/>
            </a:xfrm>
            <a:prstGeom prst="rect">
              <a:avLst/>
            </a:prstGeom>
          </p:spPr>
          <p:txBody>
            <a:bodyPr anchor="ctr" rtlCol="false" tIns="0" lIns="0" bIns="0" rIns="0"/>
            <a:lstStyle/>
            <a:p>
              <a:pPr algn="l">
                <a:lnSpc>
                  <a:spcPts val="3359"/>
                </a:lnSpc>
              </a:pPr>
              <a:r>
                <a:rPr lang="en-US" sz="2799" b="true">
                  <a:solidFill>
                    <a:srgbClr val="1B5F39"/>
                  </a:solidFill>
                  <a:latin typeface="Arial Bold"/>
                  <a:ea typeface="Arial Bold"/>
                  <a:cs typeface="Arial Bold"/>
                  <a:sym typeface="Arial Bold"/>
                </a:rPr>
                <a:t>6. Kết luận</a:t>
              </a:r>
            </a:p>
          </p:txBody>
        </p:sp>
      </p:grpSp>
      <p:grpSp>
        <p:nvGrpSpPr>
          <p:cNvPr name="Group 7" id="7"/>
          <p:cNvGrpSpPr/>
          <p:nvPr/>
        </p:nvGrpSpPr>
        <p:grpSpPr>
          <a:xfrm rot="0">
            <a:off x="932688" y="850392"/>
            <a:ext cx="16322040" cy="822960"/>
            <a:chOff x="0" y="0"/>
            <a:chExt cx="21762720" cy="1097280"/>
          </a:xfrm>
        </p:grpSpPr>
        <p:sp>
          <p:nvSpPr>
            <p:cNvPr name="Freeform 8" id="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3">
                <a:alphaModFix amt="0"/>
              </a:blip>
              <a:stretch>
                <a:fillRect l="0" t="-336453" r="0" b="-336453"/>
              </a:stretch>
            </a:blipFill>
          </p:spPr>
        </p:sp>
        <p:sp>
          <p:nvSpPr>
            <p:cNvPr name="TextBox 9" id="9"/>
            <p:cNvSpPr txBox="true"/>
            <p:nvPr/>
          </p:nvSpPr>
          <p:spPr>
            <a:xfrm>
              <a:off x="0" y="-19050"/>
              <a:ext cx="21762720" cy="1116330"/>
            </a:xfrm>
            <a:prstGeom prst="rect">
              <a:avLst/>
            </a:prstGeom>
          </p:spPr>
          <p:txBody>
            <a:bodyPr anchor="ctr" rtlCol="false" tIns="0" lIns="0" bIns="0" rIns="0"/>
            <a:lstStyle/>
            <a:p>
              <a:pPr algn="l">
                <a:lnSpc>
                  <a:spcPts val="5220"/>
                </a:lnSpc>
              </a:pPr>
              <a:r>
                <a:rPr lang="en-US" sz="4350" b="true">
                  <a:solidFill>
                    <a:srgbClr val="243E36"/>
                  </a:solidFill>
                  <a:latin typeface="Arial Bold"/>
                  <a:ea typeface="Arial Bold"/>
                  <a:cs typeface="Arial Bold"/>
                  <a:sym typeface="Arial Bold"/>
                </a:rPr>
                <a:t>Kết luận và hướng phát triển</a:t>
              </a:r>
            </a:p>
          </p:txBody>
        </p:sp>
      </p:grpSp>
      <p:grpSp>
        <p:nvGrpSpPr>
          <p:cNvPr name="Group 10" id="10"/>
          <p:cNvGrpSpPr/>
          <p:nvPr/>
        </p:nvGrpSpPr>
        <p:grpSpPr>
          <a:xfrm rot="0">
            <a:off x="931545" y="1740789"/>
            <a:ext cx="1565910" cy="57150"/>
            <a:chOff x="0" y="0"/>
            <a:chExt cx="2087880" cy="76200"/>
          </a:xfrm>
        </p:grpSpPr>
        <p:sp>
          <p:nvSpPr>
            <p:cNvPr name="Freeform 11" id="11"/>
            <p:cNvSpPr/>
            <p:nvPr/>
          </p:nvSpPr>
          <p:spPr>
            <a:xfrm flipH="false" flipV="false" rot="0">
              <a:off x="38100" y="0"/>
              <a:ext cx="2011680" cy="76200"/>
            </a:xfrm>
            <a:custGeom>
              <a:avLst/>
              <a:gdLst/>
              <a:ahLst/>
              <a:cxnLst/>
              <a:rect r="r" b="b" t="t" l="l"/>
              <a:pathLst>
                <a:path h="76200" w="2011680">
                  <a:moveTo>
                    <a:pt x="0" y="0"/>
                  </a:moveTo>
                  <a:lnTo>
                    <a:pt x="2011680" y="0"/>
                  </a:lnTo>
                  <a:lnTo>
                    <a:pt x="2011680" y="76200"/>
                  </a:lnTo>
                  <a:lnTo>
                    <a:pt x="0" y="76200"/>
                  </a:lnTo>
                  <a:close/>
                </a:path>
              </a:pathLst>
            </a:custGeom>
            <a:solidFill>
              <a:srgbClr val="1B5F39"/>
            </a:solidFill>
          </p:spPr>
        </p:sp>
      </p:grpSp>
      <p:grpSp>
        <p:nvGrpSpPr>
          <p:cNvPr name="Group 12" id="12"/>
          <p:cNvGrpSpPr/>
          <p:nvPr/>
        </p:nvGrpSpPr>
        <p:grpSpPr>
          <a:xfrm rot="0">
            <a:off x="882015" y="9660255"/>
            <a:ext cx="16341090" cy="19050"/>
            <a:chOff x="0" y="0"/>
            <a:chExt cx="21788120" cy="25400"/>
          </a:xfrm>
        </p:grpSpPr>
        <p:sp>
          <p:nvSpPr>
            <p:cNvPr name="Freeform 13" id="13"/>
            <p:cNvSpPr/>
            <p:nvPr/>
          </p:nvSpPr>
          <p:spPr>
            <a:xfrm flipH="false" flipV="false" rot="0">
              <a:off x="12700" y="0"/>
              <a:ext cx="21762720" cy="25400"/>
            </a:xfrm>
            <a:custGeom>
              <a:avLst/>
              <a:gdLst/>
              <a:ahLst/>
              <a:cxnLst/>
              <a:rect r="r" b="b" t="t" l="l"/>
              <a:pathLst>
                <a:path h="25400" w="21762720">
                  <a:moveTo>
                    <a:pt x="0" y="0"/>
                  </a:moveTo>
                  <a:lnTo>
                    <a:pt x="21762720" y="0"/>
                  </a:lnTo>
                  <a:lnTo>
                    <a:pt x="21762720" y="25400"/>
                  </a:lnTo>
                  <a:lnTo>
                    <a:pt x="0" y="25400"/>
                  </a:lnTo>
                  <a:close/>
                </a:path>
              </a:pathLst>
            </a:custGeom>
            <a:solidFill>
              <a:srgbClr val="DDE8E1"/>
            </a:solidFill>
          </p:spPr>
        </p:sp>
      </p:grpSp>
      <p:grpSp>
        <p:nvGrpSpPr>
          <p:cNvPr name="Group 14" id="14"/>
          <p:cNvGrpSpPr/>
          <p:nvPr/>
        </p:nvGrpSpPr>
        <p:grpSpPr>
          <a:xfrm rot="0">
            <a:off x="891540" y="9765792"/>
            <a:ext cx="8915400" cy="246888"/>
            <a:chOff x="0" y="0"/>
            <a:chExt cx="11887200" cy="329184"/>
          </a:xfrm>
        </p:grpSpPr>
        <p:sp>
          <p:nvSpPr>
            <p:cNvPr name="Freeform 15" id="15"/>
            <p:cNvSpPr/>
            <p:nvPr/>
          </p:nvSpPr>
          <p:spPr>
            <a:xfrm flipH="false" flipV="false" rot="0">
              <a:off x="0" y="0"/>
              <a:ext cx="11887200" cy="329184"/>
            </a:xfrm>
            <a:custGeom>
              <a:avLst/>
              <a:gdLst/>
              <a:ahLst/>
              <a:cxnLst/>
              <a:rect r="r" b="b" t="t" l="l"/>
              <a:pathLst>
                <a:path h="329184" w="11887200">
                  <a:moveTo>
                    <a:pt x="0" y="0"/>
                  </a:moveTo>
                  <a:lnTo>
                    <a:pt x="11887200" y="0"/>
                  </a:lnTo>
                  <a:lnTo>
                    <a:pt x="11887200" y="329184"/>
                  </a:lnTo>
                  <a:lnTo>
                    <a:pt x="0" y="329184"/>
                  </a:lnTo>
                  <a:close/>
                </a:path>
              </a:pathLst>
            </a:custGeom>
            <a:blipFill>
              <a:blip r:embed="rId3">
                <a:alphaModFix amt="0"/>
              </a:blip>
              <a:stretch>
                <a:fillRect l="0" t="-653626" r="0" b="-653626"/>
              </a:stretch>
            </a:blipFill>
          </p:spPr>
        </p:sp>
        <p:sp>
          <p:nvSpPr>
            <p:cNvPr name="TextBox 16" id="16"/>
            <p:cNvSpPr txBox="true"/>
            <p:nvPr/>
          </p:nvSpPr>
          <p:spPr>
            <a:xfrm>
              <a:off x="0" y="-19050"/>
              <a:ext cx="11887200" cy="348234"/>
            </a:xfrm>
            <a:prstGeom prst="rect">
              <a:avLst/>
            </a:prstGeom>
          </p:spPr>
          <p:txBody>
            <a:bodyPr anchor="ctr" rtlCol="false" tIns="0" lIns="0" bIns="0" rIns="0"/>
            <a:lstStyle/>
            <a:p>
              <a:pPr algn="l">
                <a:lnSpc>
                  <a:spcPts val="1530"/>
                </a:lnSpc>
              </a:pPr>
              <a:r>
                <a:rPr lang="en-US" sz="1275">
                  <a:solidFill>
                    <a:srgbClr val="66756D"/>
                  </a:solidFill>
                  <a:latin typeface="Arial"/>
                  <a:ea typeface="Arial"/>
                  <a:cs typeface="Arial"/>
                  <a:sym typeface="Arial"/>
                </a:rPr>
                <a:t>Báo cáo môn học · Website bán máy in, máy scan</a:t>
              </a:r>
            </a:p>
          </p:txBody>
        </p:sp>
      </p:grpSp>
      <p:grpSp>
        <p:nvGrpSpPr>
          <p:cNvPr name="Group 17" id="17"/>
          <p:cNvGrpSpPr/>
          <p:nvPr/>
        </p:nvGrpSpPr>
        <p:grpSpPr>
          <a:xfrm rot="0">
            <a:off x="16802100" y="9669780"/>
            <a:ext cx="617220" cy="384048"/>
            <a:chOff x="0" y="0"/>
            <a:chExt cx="822960" cy="512064"/>
          </a:xfrm>
        </p:grpSpPr>
        <p:sp>
          <p:nvSpPr>
            <p:cNvPr name="Freeform 18" id="18"/>
            <p:cNvSpPr/>
            <p:nvPr/>
          </p:nvSpPr>
          <p:spPr>
            <a:xfrm flipH="false" flipV="false" rot="0">
              <a:off x="0" y="0"/>
              <a:ext cx="822960" cy="512064"/>
            </a:xfrm>
            <a:custGeom>
              <a:avLst/>
              <a:gdLst/>
              <a:ahLst/>
              <a:cxnLst/>
              <a:rect r="r" b="b" t="t" l="l"/>
              <a:pathLst>
                <a:path h="512064" w="822960">
                  <a:moveTo>
                    <a:pt x="0" y="0"/>
                  </a:moveTo>
                  <a:lnTo>
                    <a:pt x="822960" y="0"/>
                  </a:lnTo>
                  <a:lnTo>
                    <a:pt x="822960" y="512064"/>
                  </a:lnTo>
                  <a:lnTo>
                    <a:pt x="0" y="512064"/>
                  </a:lnTo>
                  <a:close/>
                </a:path>
              </a:pathLst>
            </a:custGeom>
            <a:solidFill>
              <a:srgbClr val="1B5F39"/>
            </a:solidFill>
          </p:spPr>
        </p:sp>
        <p:sp>
          <p:nvSpPr>
            <p:cNvPr name="Freeform 19" id="19"/>
            <p:cNvSpPr/>
            <p:nvPr/>
          </p:nvSpPr>
          <p:spPr>
            <a:xfrm flipH="false" flipV="false" rot="0">
              <a:off x="-1524" y="-1524"/>
              <a:ext cx="826008" cy="515112"/>
            </a:xfrm>
            <a:custGeom>
              <a:avLst/>
              <a:gdLst/>
              <a:ahLst/>
              <a:cxnLst/>
              <a:rect r="r" b="b" t="t" l="l"/>
              <a:pathLst>
                <a:path h="515112" w="826008">
                  <a:moveTo>
                    <a:pt x="1524" y="0"/>
                  </a:moveTo>
                  <a:lnTo>
                    <a:pt x="824484" y="0"/>
                  </a:lnTo>
                  <a:cubicBezTo>
                    <a:pt x="825373" y="0"/>
                    <a:pt x="826008" y="762"/>
                    <a:pt x="826008" y="1524"/>
                  </a:cubicBezTo>
                  <a:lnTo>
                    <a:pt x="826008" y="513588"/>
                  </a:lnTo>
                  <a:cubicBezTo>
                    <a:pt x="826008" y="514477"/>
                    <a:pt x="825246" y="515112"/>
                    <a:pt x="824484" y="515112"/>
                  </a:cubicBezTo>
                  <a:lnTo>
                    <a:pt x="1524" y="515112"/>
                  </a:lnTo>
                  <a:cubicBezTo>
                    <a:pt x="635" y="515112"/>
                    <a:pt x="0" y="514350"/>
                    <a:pt x="0" y="513588"/>
                  </a:cubicBezTo>
                  <a:lnTo>
                    <a:pt x="0" y="1524"/>
                  </a:lnTo>
                  <a:cubicBezTo>
                    <a:pt x="0" y="635"/>
                    <a:pt x="762" y="0"/>
                    <a:pt x="1524" y="0"/>
                  </a:cubicBezTo>
                  <a:moveTo>
                    <a:pt x="1524" y="3048"/>
                  </a:moveTo>
                  <a:lnTo>
                    <a:pt x="1524" y="1524"/>
                  </a:lnTo>
                  <a:lnTo>
                    <a:pt x="3048" y="1524"/>
                  </a:lnTo>
                  <a:lnTo>
                    <a:pt x="3048" y="513588"/>
                  </a:lnTo>
                  <a:lnTo>
                    <a:pt x="1524" y="513588"/>
                  </a:lnTo>
                  <a:lnTo>
                    <a:pt x="1524" y="512064"/>
                  </a:lnTo>
                  <a:lnTo>
                    <a:pt x="824484" y="512064"/>
                  </a:lnTo>
                  <a:lnTo>
                    <a:pt x="824484" y="513588"/>
                  </a:lnTo>
                  <a:lnTo>
                    <a:pt x="822960" y="513588"/>
                  </a:lnTo>
                  <a:lnTo>
                    <a:pt x="822960" y="1524"/>
                  </a:lnTo>
                  <a:lnTo>
                    <a:pt x="824484" y="1524"/>
                  </a:lnTo>
                  <a:lnTo>
                    <a:pt x="824484" y="3048"/>
                  </a:lnTo>
                  <a:lnTo>
                    <a:pt x="1524" y="3048"/>
                  </a:lnTo>
                  <a:close/>
                </a:path>
              </a:pathLst>
            </a:custGeom>
            <a:solidFill>
              <a:srgbClr val="1B5F39"/>
            </a:solidFill>
          </p:spPr>
        </p:sp>
        <p:sp>
          <p:nvSpPr>
            <p:cNvPr name="TextBox 20" id="20"/>
            <p:cNvSpPr txBox="true"/>
            <p:nvPr/>
          </p:nvSpPr>
          <p:spPr>
            <a:xfrm>
              <a:off x="0" y="-19050"/>
              <a:ext cx="822960" cy="531114"/>
            </a:xfrm>
            <a:prstGeom prst="rect">
              <a:avLst/>
            </a:prstGeom>
          </p:spPr>
          <p:txBody>
            <a:bodyPr anchor="ctr" rtlCol="false" tIns="50800" lIns="50800" bIns="50800" rIns="50800"/>
            <a:lstStyle/>
            <a:p>
              <a:pPr algn="ctr">
                <a:lnSpc>
                  <a:spcPts val="1620"/>
                </a:lnSpc>
              </a:pPr>
              <a:r>
                <a:rPr lang="en-US" sz="1350" b="true">
                  <a:solidFill>
                    <a:srgbClr val="FFFFFF"/>
                  </a:solidFill>
                  <a:latin typeface="Arial Bold"/>
                  <a:ea typeface="Arial Bold"/>
                  <a:cs typeface="Arial Bold"/>
                  <a:sym typeface="Arial Bold"/>
                </a:rPr>
                <a:t>16</a:t>
              </a:r>
            </a:p>
          </p:txBody>
        </p:sp>
      </p:grpSp>
      <p:sp>
        <p:nvSpPr>
          <p:cNvPr name="TextBox 21" id="21"/>
          <p:cNvSpPr txBox="true"/>
          <p:nvPr/>
        </p:nvSpPr>
        <p:spPr>
          <a:xfrm rot="0">
            <a:off x="1166365" y="2340607"/>
            <a:ext cx="15909541" cy="1276350"/>
          </a:xfrm>
          <a:prstGeom prst="rect">
            <a:avLst/>
          </a:prstGeom>
        </p:spPr>
        <p:txBody>
          <a:bodyPr anchor="t" rtlCol="false" tIns="0" lIns="0" bIns="0" rIns="0">
            <a:spAutoFit/>
          </a:bodyPr>
          <a:lstStyle/>
          <a:p>
            <a:pPr algn="l">
              <a:lnSpc>
                <a:spcPts val="3329"/>
              </a:lnSpc>
            </a:pPr>
            <a:r>
              <a:rPr lang="en-US" sz="2775">
                <a:solidFill>
                  <a:srgbClr val="283A33"/>
                </a:solidFill>
                <a:latin typeface="Arial"/>
                <a:ea typeface="Arial"/>
                <a:cs typeface="Arial"/>
                <a:sym typeface="Arial"/>
              </a:rPr>
              <a:t>Qua đồ án, nhóm đã xây dựng được một website front-end mô phỏng quy trình bán máy in, máy scan và các dịch vụ liên quan. Website có các trang cốt lõi, luồng điều hướng tương đối rõ ràng và đủ cơ sở để trình bày.</a:t>
            </a:r>
          </a:p>
        </p:txBody>
      </p:sp>
      <p:grpSp>
        <p:nvGrpSpPr>
          <p:cNvPr name="Group 22" id="22"/>
          <p:cNvGrpSpPr/>
          <p:nvPr/>
        </p:nvGrpSpPr>
        <p:grpSpPr>
          <a:xfrm rot="0">
            <a:off x="1293495" y="4173855"/>
            <a:ext cx="4956810" cy="2213610"/>
            <a:chOff x="0" y="0"/>
            <a:chExt cx="6609080" cy="2951480"/>
          </a:xfrm>
        </p:grpSpPr>
        <p:sp>
          <p:nvSpPr>
            <p:cNvPr name="Freeform 23" id="23"/>
            <p:cNvSpPr/>
            <p:nvPr/>
          </p:nvSpPr>
          <p:spPr>
            <a:xfrm flipH="false" flipV="false" rot="0">
              <a:off x="12700" y="12700"/>
              <a:ext cx="6583680" cy="2926080"/>
            </a:xfrm>
            <a:custGeom>
              <a:avLst/>
              <a:gdLst/>
              <a:ahLst/>
              <a:cxnLst/>
              <a:rect r="r" b="b" t="t" l="l"/>
              <a:pathLst>
                <a:path h="2926080" w="6583680">
                  <a:moveTo>
                    <a:pt x="0" y="0"/>
                  </a:moveTo>
                  <a:lnTo>
                    <a:pt x="6583680" y="0"/>
                  </a:lnTo>
                  <a:lnTo>
                    <a:pt x="6583680" y="2926080"/>
                  </a:lnTo>
                  <a:lnTo>
                    <a:pt x="0" y="2926080"/>
                  </a:lnTo>
                  <a:close/>
                </a:path>
              </a:pathLst>
            </a:custGeom>
            <a:solidFill>
              <a:srgbClr val="E8F2EC"/>
            </a:solidFill>
          </p:spPr>
        </p:sp>
        <p:sp>
          <p:nvSpPr>
            <p:cNvPr name="Freeform 24" id="24"/>
            <p:cNvSpPr/>
            <p:nvPr/>
          </p:nvSpPr>
          <p:spPr>
            <a:xfrm flipH="false" flipV="false" rot="0">
              <a:off x="0" y="0"/>
              <a:ext cx="6609080" cy="2951480"/>
            </a:xfrm>
            <a:custGeom>
              <a:avLst/>
              <a:gdLst/>
              <a:ahLst/>
              <a:cxnLst/>
              <a:rect r="r" b="b" t="t" l="l"/>
              <a:pathLst>
                <a:path h="2951480" w="6609080">
                  <a:moveTo>
                    <a:pt x="12700" y="0"/>
                  </a:moveTo>
                  <a:lnTo>
                    <a:pt x="6596380" y="0"/>
                  </a:lnTo>
                  <a:cubicBezTo>
                    <a:pt x="6603365" y="0"/>
                    <a:pt x="6609080" y="5715"/>
                    <a:pt x="6609080" y="12700"/>
                  </a:cubicBezTo>
                  <a:lnTo>
                    <a:pt x="6609080" y="2938780"/>
                  </a:lnTo>
                  <a:cubicBezTo>
                    <a:pt x="6609080" y="2945765"/>
                    <a:pt x="6603365" y="2951480"/>
                    <a:pt x="6596380" y="2951480"/>
                  </a:cubicBezTo>
                  <a:lnTo>
                    <a:pt x="12700" y="2951480"/>
                  </a:lnTo>
                  <a:cubicBezTo>
                    <a:pt x="5715" y="2951480"/>
                    <a:pt x="0" y="2945765"/>
                    <a:pt x="0" y="2938780"/>
                  </a:cubicBezTo>
                  <a:lnTo>
                    <a:pt x="0" y="12700"/>
                  </a:lnTo>
                  <a:cubicBezTo>
                    <a:pt x="0" y="5715"/>
                    <a:pt x="5715" y="0"/>
                    <a:pt x="12700" y="0"/>
                  </a:cubicBezTo>
                  <a:moveTo>
                    <a:pt x="12700" y="25400"/>
                  </a:moveTo>
                  <a:lnTo>
                    <a:pt x="12700" y="12700"/>
                  </a:lnTo>
                  <a:lnTo>
                    <a:pt x="25400" y="12700"/>
                  </a:lnTo>
                  <a:lnTo>
                    <a:pt x="25400" y="2938780"/>
                  </a:lnTo>
                  <a:lnTo>
                    <a:pt x="12700" y="2938780"/>
                  </a:lnTo>
                  <a:lnTo>
                    <a:pt x="12700" y="2926080"/>
                  </a:lnTo>
                  <a:lnTo>
                    <a:pt x="6596380" y="2926080"/>
                  </a:lnTo>
                  <a:lnTo>
                    <a:pt x="6596380" y="2938780"/>
                  </a:lnTo>
                  <a:lnTo>
                    <a:pt x="6583680" y="2938780"/>
                  </a:lnTo>
                  <a:lnTo>
                    <a:pt x="6583680" y="12700"/>
                  </a:lnTo>
                  <a:lnTo>
                    <a:pt x="6596380" y="12700"/>
                  </a:lnTo>
                  <a:lnTo>
                    <a:pt x="6596380" y="25400"/>
                  </a:lnTo>
                  <a:lnTo>
                    <a:pt x="12700" y="25400"/>
                  </a:lnTo>
                  <a:close/>
                </a:path>
              </a:pathLst>
            </a:custGeom>
            <a:solidFill>
              <a:srgbClr val="DDE8E1"/>
            </a:solidFill>
          </p:spPr>
        </p:sp>
        <p:sp>
          <p:nvSpPr>
            <p:cNvPr name="TextBox 25" id="25"/>
            <p:cNvSpPr txBox="true"/>
            <p:nvPr/>
          </p:nvSpPr>
          <p:spPr>
            <a:xfrm>
              <a:off x="0" y="-9525"/>
              <a:ext cx="6609080" cy="296100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Kết quả đạt được</a:t>
              </a:r>
            </a:p>
            <a:p>
              <a:pPr algn="l">
                <a:lnSpc>
                  <a:spcPts val="2250"/>
                </a:lnSpc>
              </a:pPr>
              <a:r>
                <a:rPr lang="en-US" sz="1875">
                  <a:solidFill>
                    <a:srgbClr val="283A33"/>
                  </a:solidFill>
                  <a:latin typeface="Arial"/>
                  <a:ea typeface="Arial"/>
                  <a:cs typeface="Arial"/>
                  <a:sym typeface="Arial"/>
                </a:rPr>
                <a:t>Hoàn thiện giao diện trang chủ, danh mục, chi tiết, giỏ hàng, thanh toán, đăng nhập/đăng ký, giới thiệu và cho thuê.</a:t>
              </a:r>
            </a:p>
          </p:txBody>
        </p:sp>
      </p:grpSp>
      <p:grpSp>
        <p:nvGrpSpPr>
          <p:cNvPr name="Group 26" id="26"/>
          <p:cNvGrpSpPr/>
          <p:nvPr/>
        </p:nvGrpSpPr>
        <p:grpSpPr>
          <a:xfrm rot="0">
            <a:off x="6711315" y="4173855"/>
            <a:ext cx="4956810" cy="2213610"/>
            <a:chOff x="0" y="0"/>
            <a:chExt cx="6609080" cy="2951480"/>
          </a:xfrm>
        </p:grpSpPr>
        <p:sp>
          <p:nvSpPr>
            <p:cNvPr name="Freeform 27" id="27"/>
            <p:cNvSpPr/>
            <p:nvPr/>
          </p:nvSpPr>
          <p:spPr>
            <a:xfrm flipH="false" flipV="false" rot="0">
              <a:off x="12700" y="12700"/>
              <a:ext cx="6583680" cy="2926080"/>
            </a:xfrm>
            <a:custGeom>
              <a:avLst/>
              <a:gdLst/>
              <a:ahLst/>
              <a:cxnLst/>
              <a:rect r="r" b="b" t="t" l="l"/>
              <a:pathLst>
                <a:path h="2926080" w="6583680">
                  <a:moveTo>
                    <a:pt x="0" y="0"/>
                  </a:moveTo>
                  <a:lnTo>
                    <a:pt x="6583680" y="0"/>
                  </a:lnTo>
                  <a:lnTo>
                    <a:pt x="6583680" y="2926080"/>
                  </a:lnTo>
                  <a:lnTo>
                    <a:pt x="0" y="2926080"/>
                  </a:lnTo>
                  <a:close/>
                </a:path>
              </a:pathLst>
            </a:custGeom>
            <a:solidFill>
              <a:srgbClr val="FFFDF8"/>
            </a:solidFill>
          </p:spPr>
        </p:sp>
        <p:sp>
          <p:nvSpPr>
            <p:cNvPr name="Freeform 28" id="28"/>
            <p:cNvSpPr/>
            <p:nvPr/>
          </p:nvSpPr>
          <p:spPr>
            <a:xfrm flipH="false" flipV="false" rot="0">
              <a:off x="0" y="0"/>
              <a:ext cx="6609080" cy="2951480"/>
            </a:xfrm>
            <a:custGeom>
              <a:avLst/>
              <a:gdLst/>
              <a:ahLst/>
              <a:cxnLst/>
              <a:rect r="r" b="b" t="t" l="l"/>
              <a:pathLst>
                <a:path h="2951480" w="6609080">
                  <a:moveTo>
                    <a:pt x="12700" y="0"/>
                  </a:moveTo>
                  <a:lnTo>
                    <a:pt x="6596380" y="0"/>
                  </a:lnTo>
                  <a:cubicBezTo>
                    <a:pt x="6603365" y="0"/>
                    <a:pt x="6609080" y="5715"/>
                    <a:pt x="6609080" y="12700"/>
                  </a:cubicBezTo>
                  <a:lnTo>
                    <a:pt x="6609080" y="2938780"/>
                  </a:lnTo>
                  <a:cubicBezTo>
                    <a:pt x="6609080" y="2945765"/>
                    <a:pt x="6603365" y="2951480"/>
                    <a:pt x="6596380" y="2951480"/>
                  </a:cubicBezTo>
                  <a:lnTo>
                    <a:pt x="12700" y="2951480"/>
                  </a:lnTo>
                  <a:cubicBezTo>
                    <a:pt x="5715" y="2951480"/>
                    <a:pt x="0" y="2945765"/>
                    <a:pt x="0" y="2938780"/>
                  </a:cubicBezTo>
                  <a:lnTo>
                    <a:pt x="0" y="12700"/>
                  </a:lnTo>
                  <a:cubicBezTo>
                    <a:pt x="0" y="5715"/>
                    <a:pt x="5715" y="0"/>
                    <a:pt x="12700" y="0"/>
                  </a:cubicBezTo>
                  <a:moveTo>
                    <a:pt x="12700" y="25400"/>
                  </a:moveTo>
                  <a:lnTo>
                    <a:pt x="12700" y="12700"/>
                  </a:lnTo>
                  <a:lnTo>
                    <a:pt x="25400" y="12700"/>
                  </a:lnTo>
                  <a:lnTo>
                    <a:pt x="25400" y="2938780"/>
                  </a:lnTo>
                  <a:lnTo>
                    <a:pt x="12700" y="2938780"/>
                  </a:lnTo>
                  <a:lnTo>
                    <a:pt x="12700" y="2926080"/>
                  </a:lnTo>
                  <a:lnTo>
                    <a:pt x="6596380" y="2926080"/>
                  </a:lnTo>
                  <a:lnTo>
                    <a:pt x="6596380" y="2938780"/>
                  </a:lnTo>
                  <a:lnTo>
                    <a:pt x="6583680" y="2938780"/>
                  </a:lnTo>
                  <a:lnTo>
                    <a:pt x="6583680" y="12700"/>
                  </a:lnTo>
                  <a:lnTo>
                    <a:pt x="6596380" y="12700"/>
                  </a:lnTo>
                  <a:lnTo>
                    <a:pt x="6596380" y="25400"/>
                  </a:lnTo>
                  <a:lnTo>
                    <a:pt x="12700" y="25400"/>
                  </a:lnTo>
                  <a:close/>
                </a:path>
              </a:pathLst>
            </a:custGeom>
            <a:solidFill>
              <a:srgbClr val="DDE8E1"/>
            </a:solidFill>
          </p:spPr>
        </p:sp>
        <p:sp>
          <p:nvSpPr>
            <p:cNvPr name="TextBox 29" id="29"/>
            <p:cNvSpPr txBox="true"/>
            <p:nvPr/>
          </p:nvSpPr>
          <p:spPr>
            <a:xfrm>
              <a:off x="0" y="-9525"/>
              <a:ext cx="6609080" cy="296100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Hướng phát triển</a:t>
              </a:r>
            </a:p>
            <a:p>
              <a:pPr algn="l">
                <a:lnSpc>
                  <a:spcPts val="2250"/>
                </a:lnSpc>
              </a:pPr>
              <a:r>
                <a:rPr lang="en-US" sz="1875">
                  <a:solidFill>
                    <a:srgbClr val="283A33"/>
                  </a:solidFill>
                  <a:latin typeface="Arial"/>
                  <a:ea typeface="Arial"/>
                  <a:cs typeface="Arial"/>
                  <a:sym typeface="Arial"/>
                </a:rPr>
                <a:t>Kết nối backend, database, quản trị sản phẩm, xác thực người dùng, lưu đơn hàng, gửi email và tối ưu responsive.</a:t>
              </a:r>
            </a:p>
          </p:txBody>
        </p:sp>
      </p:grpSp>
      <p:grpSp>
        <p:nvGrpSpPr>
          <p:cNvPr name="Group 30" id="30"/>
          <p:cNvGrpSpPr/>
          <p:nvPr/>
        </p:nvGrpSpPr>
        <p:grpSpPr>
          <a:xfrm rot="0">
            <a:off x="12129135" y="4173855"/>
            <a:ext cx="4956810" cy="2213610"/>
            <a:chOff x="0" y="0"/>
            <a:chExt cx="6609080" cy="2951480"/>
          </a:xfrm>
        </p:grpSpPr>
        <p:sp>
          <p:nvSpPr>
            <p:cNvPr name="Freeform 31" id="31"/>
            <p:cNvSpPr/>
            <p:nvPr/>
          </p:nvSpPr>
          <p:spPr>
            <a:xfrm flipH="false" flipV="false" rot="0">
              <a:off x="12700" y="12700"/>
              <a:ext cx="6583680" cy="2926080"/>
            </a:xfrm>
            <a:custGeom>
              <a:avLst/>
              <a:gdLst/>
              <a:ahLst/>
              <a:cxnLst/>
              <a:rect r="r" b="b" t="t" l="l"/>
              <a:pathLst>
                <a:path h="2926080" w="6583680">
                  <a:moveTo>
                    <a:pt x="0" y="0"/>
                  </a:moveTo>
                  <a:lnTo>
                    <a:pt x="6583680" y="0"/>
                  </a:lnTo>
                  <a:lnTo>
                    <a:pt x="6583680" y="2926080"/>
                  </a:lnTo>
                  <a:lnTo>
                    <a:pt x="0" y="2926080"/>
                  </a:lnTo>
                  <a:close/>
                </a:path>
              </a:pathLst>
            </a:custGeom>
            <a:solidFill>
              <a:srgbClr val="FFFDF8"/>
            </a:solidFill>
          </p:spPr>
        </p:sp>
        <p:sp>
          <p:nvSpPr>
            <p:cNvPr name="Freeform 32" id="32"/>
            <p:cNvSpPr/>
            <p:nvPr/>
          </p:nvSpPr>
          <p:spPr>
            <a:xfrm flipH="false" flipV="false" rot="0">
              <a:off x="0" y="0"/>
              <a:ext cx="6609080" cy="2951480"/>
            </a:xfrm>
            <a:custGeom>
              <a:avLst/>
              <a:gdLst/>
              <a:ahLst/>
              <a:cxnLst/>
              <a:rect r="r" b="b" t="t" l="l"/>
              <a:pathLst>
                <a:path h="2951480" w="6609080">
                  <a:moveTo>
                    <a:pt x="12700" y="0"/>
                  </a:moveTo>
                  <a:lnTo>
                    <a:pt x="6596380" y="0"/>
                  </a:lnTo>
                  <a:cubicBezTo>
                    <a:pt x="6603365" y="0"/>
                    <a:pt x="6609080" y="5715"/>
                    <a:pt x="6609080" y="12700"/>
                  </a:cubicBezTo>
                  <a:lnTo>
                    <a:pt x="6609080" y="2938780"/>
                  </a:lnTo>
                  <a:cubicBezTo>
                    <a:pt x="6609080" y="2945765"/>
                    <a:pt x="6603365" y="2951480"/>
                    <a:pt x="6596380" y="2951480"/>
                  </a:cubicBezTo>
                  <a:lnTo>
                    <a:pt x="12700" y="2951480"/>
                  </a:lnTo>
                  <a:cubicBezTo>
                    <a:pt x="5715" y="2951480"/>
                    <a:pt x="0" y="2945765"/>
                    <a:pt x="0" y="2938780"/>
                  </a:cubicBezTo>
                  <a:lnTo>
                    <a:pt x="0" y="12700"/>
                  </a:lnTo>
                  <a:cubicBezTo>
                    <a:pt x="0" y="5715"/>
                    <a:pt x="5715" y="0"/>
                    <a:pt x="12700" y="0"/>
                  </a:cubicBezTo>
                  <a:moveTo>
                    <a:pt x="12700" y="25400"/>
                  </a:moveTo>
                  <a:lnTo>
                    <a:pt x="12700" y="12700"/>
                  </a:lnTo>
                  <a:lnTo>
                    <a:pt x="25400" y="12700"/>
                  </a:lnTo>
                  <a:lnTo>
                    <a:pt x="25400" y="2938780"/>
                  </a:lnTo>
                  <a:lnTo>
                    <a:pt x="12700" y="2938780"/>
                  </a:lnTo>
                  <a:lnTo>
                    <a:pt x="12700" y="2926080"/>
                  </a:lnTo>
                  <a:lnTo>
                    <a:pt x="6596380" y="2926080"/>
                  </a:lnTo>
                  <a:lnTo>
                    <a:pt x="6596380" y="2938780"/>
                  </a:lnTo>
                  <a:lnTo>
                    <a:pt x="6583680" y="2938780"/>
                  </a:lnTo>
                  <a:lnTo>
                    <a:pt x="6583680" y="12700"/>
                  </a:lnTo>
                  <a:lnTo>
                    <a:pt x="6596380" y="12700"/>
                  </a:lnTo>
                  <a:lnTo>
                    <a:pt x="6596380" y="25400"/>
                  </a:lnTo>
                  <a:lnTo>
                    <a:pt x="12700" y="25400"/>
                  </a:lnTo>
                  <a:close/>
                </a:path>
              </a:pathLst>
            </a:custGeom>
            <a:solidFill>
              <a:srgbClr val="DDE8E1"/>
            </a:solidFill>
          </p:spPr>
        </p:sp>
        <p:sp>
          <p:nvSpPr>
            <p:cNvPr name="TextBox 33" id="33"/>
            <p:cNvSpPr txBox="true"/>
            <p:nvPr/>
          </p:nvSpPr>
          <p:spPr>
            <a:xfrm>
              <a:off x="0" y="-9525"/>
              <a:ext cx="6609080" cy="2961005"/>
            </a:xfrm>
            <a:prstGeom prst="rect">
              <a:avLst/>
            </a:prstGeom>
          </p:spPr>
          <p:txBody>
            <a:bodyPr anchor="ctr" rtlCol="false" tIns="50800" lIns="50800" bIns="50800" rIns="50800"/>
            <a:lstStyle/>
            <a:p>
              <a:pPr algn="l">
                <a:lnSpc>
                  <a:spcPts val="2879"/>
                </a:lnSpc>
              </a:pPr>
              <a:r>
                <a:rPr lang="en-US" sz="2400" b="true">
                  <a:solidFill>
                    <a:srgbClr val="1B5F39"/>
                  </a:solidFill>
                  <a:latin typeface="Arial Bold"/>
                  <a:ea typeface="Arial Bold"/>
                  <a:cs typeface="Arial Bold"/>
                  <a:sym typeface="Arial Bold"/>
                </a:rPr>
                <a:t>Bài học rút ra</a:t>
              </a:r>
            </a:p>
            <a:p>
              <a:pPr algn="l">
                <a:lnSpc>
                  <a:spcPts val="2250"/>
                </a:lnSpc>
              </a:pPr>
              <a:r>
                <a:rPr lang="en-US" sz="1875">
                  <a:solidFill>
                    <a:srgbClr val="283A33"/>
                  </a:solidFill>
                  <a:latin typeface="Arial"/>
                  <a:ea typeface="Arial"/>
                  <a:cs typeface="Arial"/>
                  <a:sym typeface="Arial"/>
                </a:rPr>
                <a:t>Nhóm hiểu rõ hơn cách tổ chức giao diện website thương mại điện tử và cách trình bày sản phẩm theo hành trình người dùng.</a:t>
              </a:r>
            </a:p>
          </p:txBody>
        </p:sp>
      </p:grpSp>
      <p:grpSp>
        <p:nvGrpSpPr>
          <p:cNvPr name="Group 34" id="34"/>
          <p:cNvGrpSpPr/>
          <p:nvPr/>
        </p:nvGrpSpPr>
        <p:grpSpPr>
          <a:xfrm rot="0">
            <a:off x="2468880" y="7612380"/>
            <a:ext cx="13304520" cy="822960"/>
            <a:chOff x="0" y="0"/>
            <a:chExt cx="17739360" cy="1097280"/>
          </a:xfrm>
        </p:grpSpPr>
        <p:sp>
          <p:nvSpPr>
            <p:cNvPr name="Freeform 35" id="35"/>
            <p:cNvSpPr/>
            <p:nvPr/>
          </p:nvSpPr>
          <p:spPr>
            <a:xfrm flipH="false" flipV="false" rot="0">
              <a:off x="0" y="0"/>
              <a:ext cx="17739361" cy="1097280"/>
            </a:xfrm>
            <a:custGeom>
              <a:avLst/>
              <a:gdLst/>
              <a:ahLst/>
              <a:cxnLst/>
              <a:rect r="r" b="b" t="t" l="l"/>
              <a:pathLst>
                <a:path h="1097280" w="17739361">
                  <a:moveTo>
                    <a:pt x="0" y="0"/>
                  </a:moveTo>
                  <a:lnTo>
                    <a:pt x="17739361" y="0"/>
                  </a:lnTo>
                  <a:lnTo>
                    <a:pt x="17739361" y="1097280"/>
                  </a:lnTo>
                  <a:lnTo>
                    <a:pt x="0" y="1097280"/>
                  </a:lnTo>
                  <a:close/>
                </a:path>
              </a:pathLst>
            </a:custGeom>
            <a:blipFill>
              <a:blip r:embed="rId3">
                <a:alphaModFix amt="0"/>
              </a:blip>
              <a:stretch>
                <a:fillRect l="0" t="-265008" r="0" b="-265008"/>
              </a:stretch>
            </a:blipFill>
          </p:spPr>
        </p:sp>
        <p:sp>
          <p:nvSpPr>
            <p:cNvPr name="TextBox 36" id="36"/>
            <p:cNvSpPr txBox="true"/>
            <p:nvPr/>
          </p:nvSpPr>
          <p:spPr>
            <a:xfrm>
              <a:off x="0" y="-19050"/>
              <a:ext cx="17739360" cy="1116330"/>
            </a:xfrm>
            <a:prstGeom prst="rect">
              <a:avLst/>
            </a:prstGeom>
          </p:spPr>
          <p:txBody>
            <a:bodyPr anchor="ctr" rtlCol="false" tIns="0" lIns="0" bIns="0" rIns="0"/>
            <a:lstStyle/>
            <a:p>
              <a:pPr algn="ctr">
                <a:lnSpc>
                  <a:spcPts val="5040"/>
                </a:lnSpc>
              </a:pPr>
              <a:r>
                <a:rPr lang="en-US" sz="4200" b="true">
                  <a:solidFill>
                    <a:srgbClr val="1B5F39"/>
                  </a:solidFill>
                  <a:latin typeface="Arial Bold"/>
                  <a:ea typeface="Arial Bold"/>
                  <a:cs typeface="Arial Bold"/>
                  <a:sym typeface="Arial Bold"/>
                </a:rPr>
                <a:t>Cảm ơn thầy/cô và các bạn đã lắng nghe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DAHJaye1oKk</dc:identifier>
  <dcterms:modified xsi:type="dcterms:W3CDTF">2011-08-01T06:04:30Z</dcterms:modified>
  <cp:revision>1</cp:revision>
  <dc:title>23692421_NguyenMinhDat_SlideBaoCao.pptx</dc:title>
</cp:coreProperties>
</file>